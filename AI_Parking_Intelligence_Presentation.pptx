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4.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5.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Count</c:v>
                </c:pt>
              </c:strCache>
            </c:strRef>
          </c:tx>
          <c:spPr>
            <a:solidFill>
              <a:srgbClr val="00B4D8"/>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CAR</c:v>
                  </c:pt>
                  <c:pt idx="1">
                    <c:v>SCOOTER</c:v>
                  </c:pt>
                  <c:pt idx="2">
                    <c:v>TANKER</c:v>
                  </c:pt>
                  <c:pt idx="3">
                    <c:v>AUTO</c:v>
                  </c:pt>
                  <c:pt idx="4">
                    <c:v>BUS</c:v>
                  </c:pt>
                </c:lvl>
              </c:multiLvlStrCache>
            </c:multiLvlStrRef>
          </c:cat>
          <c:val>
            <c:numRef>
              <c:f>Sheet1!$B$2:$B$6</c:f>
              <c:numCache>
                <c:formatCode>General</c:formatCode>
                <c:ptCount val="5"/>
                <c:pt idx="0">
                  <c:v>180000</c:v>
                </c:pt>
                <c:pt idx="1">
                  <c:v>75000</c:v>
                </c:pt>
                <c:pt idx="2">
                  <c:v>22000</c:v>
                </c:pt>
                <c:pt idx="3">
                  <c:v>14000</c:v>
                </c:pt>
                <c:pt idx="4">
                  <c:v>7445</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Violations</c:v>
                </c:pt>
              </c:strCache>
            </c:strRef>
          </c:tx>
          <c:spPr>
            <a:solidFill>
              <a:srgbClr val="00B4D8"/>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Sheet1!$A$2:$A$25</c:f>
              <c:multiLvlStrCache>
                <c:ptCount val="24"/>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lvl>
              </c:multiLvlStrCache>
            </c:multiLvlStrRef>
          </c:cat>
          <c:val>
            <c:numRef>
              <c:f>Sheet1!$B$2:$B$25</c:f>
              <c:numCache>
                <c:formatCode>General</c:formatCode>
                <c:ptCount val="24"/>
                <c:pt idx="0">
                  <c:v>4200</c:v>
                </c:pt>
                <c:pt idx="1">
                  <c:v>3100</c:v>
                </c:pt>
                <c:pt idx="2">
                  <c:v>2400</c:v>
                </c:pt>
                <c:pt idx="3">
                  <c:v>2800</c:v>
                </c:pt>
                <c:pt idx="4">
                  <c:v>6900</c:v>
                </c:pt>
                <c:pt idx="5">
                  <c:v>9800</c:v>
                </c:pt>
                <c:pt idx="6">
                  <c:v>7200</c:v>
                </c:pt>
                <c:pt idx="7">
                  <c:v>6800</c:v>
                </c:pt>
                <c:pt idx="8">
                  <c:v>9100</c:v>
                </c:pt>
                <c:pt idx="9">
                  <c:v>8700</c:v>
                </c:pt>
                <c:pt idx="10">
                  <c:v>7600</c:v>
                </c:pt>
                <c:pt idx="11">
                  <c:v>8200</c:v>
                </c:pt>
                <c:pt idx="12">
                  <c:v>9400</c:v>
                </c:pt>
                <c:pt idx="13">
                  <c:v>8800</c:v>
                </c:pt>
                <c:pt idx="14">
                  <c:v>7900</c:v>
                </c:pt>
                <c:pt idx="15">
                  <c:v>8100</c:v>
                </c:pt>
                <c:pt idx="16">
                  <c:v>9200</c:v>
                </c:pt>
                <c:pt idx="17">
                  <c:v>9300</c:v>
                </c:pt>
                <c:pt idx="18">
                  <c:v>9000</c:v>
                </c:pt>
                <c:pt idx="19">
                  <c:v>8300</c:v>
                </c:pt>
                <c:pt idx="20">
                  <c:v>7100</c:v>
                </c:pt>
                <c:pt idx="21">
                  <c:v>6200</c:v>
                </c:pt>
                <c:pt idx="22">
                  <c:v>5100</c:v>
                </c:pt>
                <c:pt idx="23">
                  <c:v>4200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Violations</c:v>
                </c:pt>
              </c:strCache>
            </c:strRef>
          </c:tx>
          <c:spPr>
            <a:solidFill>
              <a:srgbClr val="7C3AE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Mon</c:v>
                  </c:pt>
                  <c:pt idx="1">
                    <c:v>Tue</c:v>
                  </c:pt>
                  <c:pt idx="2">
                    <c:v>Wed</c:v>
                  </c:pt>
                  <c:pt idx="3">
                    <c:v>Thu</c:v>
                  </c:pt>
                  <c:pt idx="4">
                    <c:v>Fri</c:v>
                  </c:pt>
                  <c:pt idx="5">
                    <c:v>Sat</c:v>
                  </c:pt>
                  <c:pt idx="6">
                    <c:v>Sun</c:v>
                  </c:pt>
                </c:lvl>
              </c:multiLvlStrCache>
            </c:multiLvlStrRef>
          </c:cat>
          <c:val>
            <c:numRef>
              <c:f>Sheet1!$B$2:$B$8</c:f>
              <c:numCache>
                <c:formatCode>General</c:formatCode>
                <c:ptCount val="7"/>
                <c:pt idx="0">
                  <c:v>38000</c:v>
                </c:pt>
                <c:pt idx="1">
                  <c:v>40000</c:v>
                </c:pt>
                <c:pt idx="2">
                  <c:v>41000</c:v>
                </c:pt>
                <c:pt idx="3">
                  <c:v>39000</c:v>
                </c:pt>
                <c:pt idx="4">
                  <c:v>43000</c:v>
                </c:pt>
                <c:pt idx="5">
                  <c:v>47000</c:v>
                </c:pt>
                <c:pt idx="6">
                  <c:v>50445</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Weight</c:v>
                </c:pt>
              </c:strCache>
            </c:strRef>
          </c:tx>
          <c:spPr>
            <a:solidFill>
              <a:schemeClr val="accent1"/>
            </a:solidFill>
            <a:ln w="9525" cap="flat">
              <a:solidFill>
                <a:srgbClr val="F9F9F9"/>
              </a:solidFill>
              <a:prstDash val="solid"/>
              <a:round/>
            </a:ln>
            <a:effectLst/>
          </c:spPr>
          <c:dPt>
            <c:idx val="0"/>
            <c:bubble3D val="0"/>
            <c:spPr>
              <a:solidFill>
                <a:srgbClr val="00B4D8"/>
              </a:solidFill>
              <a:effectLst/>
            </c:spPr>
          </c:dPt>
          <c:dPt>
            <c:idx val="1"/>
            <c:bubble3D val="0"/>
            <c:spPr>
              <a:solidFill>
                <a:srgbClr val="7C3AED"/>
              </a:solidFill>
              <a:effectLst/>
            </c:spPr>
          </c:dPt>
          <c:dPt>
            <c:idx val="2"/>
            <c:bubble3D val="0"/>
            <c:spPr>
              <a:solidFill>
                <a:srgbClr val="059669"/>
              </a:solidFill>
              <a:effectLst/>
            </c:spPr>
          </c:dPt>
          <c:dPt>
            <c:idx val="3"/>
            <c:bubble3D val="0"/>
            <c:spPr>
              <a:solidFill>
                <a:srgbClr val="F97316"/>
              </a:solidFill>
              <a:effectLst/>
            </c:spPr>
          </c:dPt>
          <c:dPt>
            <c:idx val="4"/>
            <c:bubble3D val="0"/>
            <c:spPr>
              <a:solidFill>
                <a:srgbClr val="EAB308"/>
              </a:solidFill>
              <a:effectLst/>
            </c:spPr>
          </c:dPt>
          <c:dLbls>
            <c:dLbl>
              <c:idx val="0"/>
              <c:numFmt formatCode="0%" sourceLinked="0"/>
              <c:spPr/>
              <c:txPr>
                <a:bodyPr/>
                <a:lstStyle/>
                <a:p>
                  <a:pPr>
                    <a:defRPr sz="1200" b="0" i="0" u="none" strike="noStrike">
                      <a:solidFill>
                        <a:srgbClr val="000000"/>
                      </a:solidFill>
                      <a:latin typeface="Arial"/>
                    </a:defRPr>
                  </a:pPr>
                </a:p>
              </c:txPr>
              <c:showLegendKey val="0"/>
              <c:showVal val="0"/>
              <c:showCatName val="0"/>
              <c:showSerName val="0"/>
              <c:showPercent val="1"/>
              <c:showBubbleSize val="0"/>
            </c:dLbl>
            <c:dLbl>
              <c:idx val="1"/>
              <c:numFmt formatCode="0%" sourceLinked="0"/>
              <c:spPr/>
              <c:txPr>
                <a:bodyPr/>
                <a:lstStyle/>
                <a:p>
                  <a:pPr>
                    <a:defRPr sz="1200" b="0" i="0" u="none" strike="noStrike">
                      <a:solidFill>
                        <a:srgbClr val="000000"/>
                      </a:solidFill>
                      <a:latin typeface="Arial"/>
                    </a:defRPr>
                  </a:pPr>
                </a:p>
              </c:txPr>
              <c:showLegendKey val="0"/>
              <c:showVal val="0"/>
              <c:showCatName val="0"/>
              <c:showSerName val="0"/>
              <c:showPercent val="1"/>
              <c:showBubbleSize val="0"/>
            </c:dLbl>
            <c:dLbl>
              <c:idx val="2"/>
              <c:numFmt formatCode="0%" sourceLinked="0"/>
              <c:spPr/>
              <c:txPr>
                <a:bodyPr/>
                <a:lstStyle/>
                <a:p>
                  <a:pPr>
                    <a:defRPr sz="1200" b="0" i="0" u="none" strike="noStrike">
                      <a:solidFill>
                        <a:srgbClr val="000000"/>
                      </a:solidFill>
                      <a:latin typeface="Arial"/>
                    </a:defRPr>
                  </a:pPr>
                </a:p>
              </c:txPr>
              <c:showLegendKey val="0"/>
              <c:showVal val="0"/>
              <c:showCatName val="0"/>
              <c:showSerName val="0"/>
              <c:showPercent val="1"/>
              <c:showBubbleSize val="0"/>
            </c:dLbl>
            <c:dLbl>
              <c:idx val="3"/>
              <c:numFmt formatCode="0%" sourceLinked="0"/>
              <c:spPr/>
              <c:txPr>
                <a:bodyPr/>
                <a:lstStyle/>
                <a:p>
                  <a:pPr>
                    <a:defRPr sz="1200" b="0" i="0" u="none" strike="noStrike">
                      <a:solidFill>
                        <a:srgbClr val="000000"/>
                      </a:solidFill>
                      <a:latin typeface="Arial"/>
                    </a:defRPr>
                  </a:pPr>
                </a:p>
              </c:txPr>
              <c:showLegendKey val="0"/>
              <c:showVal val="0"/>
              <c:showCatName val="0"/>
              <c:showSerName val="0"/>
              <c:showPercent val="1"/>
              <c:showBubbleSize val="0"/>
            </c:dLbl>
            <c:dLbl>
              <c:idx val="4"/>
              <c:numFmt formatCode="0%" sourceLinked="0"/>
              <c:spPr/>
              <c:txPr>
                <a:bodyPr/>
                <a:lstStyle/>
                <a:p>
                  <a:pPr>
                    <a:defRPr sz="1200" b="0" i="0" u="none" strike="noStrike">
                      <a:solidFill>
                        <a:srgbClr val="000000"/>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Sheet1!$A$2:$A$6</c:f>
              <c:strCache>
                <c:ptCount val="5"/>
                <c:pt idx="0">
                  <c:v>Violation Density (35%)</c:v>
                </c:pt>
                <c:pt idx="1">
                  <c:v>Peak Hour (25%)</c:v>
                </c:pt>
                <c:pt idx="2">
                  <c:v>Proximity (20%)</c:v>
                </c:pt>
                <c:pt idx="3">
                  <c:v>Recurrence (10%)</c:v>
                </c:pt>
                <c:pt idx="4">
                  <c:v>Weekend (10%)</c:v>
                </c:pt>
              </c:strCache>
            </c:strRef>
          </c:cat>
          <c:val>
            <c:numRef>
              <c:f>Sheet1!$B$2:$B$6</c:f>
              <c:numCache>
                <c:ptCount val="5"/>
                <c:pt idx="0">
                  <c:v>35</c:v>
                </c:pt>
                <c:pt idx="1">
                  <c:v>25</c:v>
                </c:pt>
                <c:pt idx="2">
                  <c:v>20</c:v>
                </c:pt>
                <c:pt idx="3">
                  <c:v>10</c:v>
                </c:pt>
                <c:pt idx="4">
                  <c:v>10</c:v>
                </c:pt>
              </c:numCache>
            </c:numRef>
          </c:val>
        </c:ser>
        <c:firstSliceAng val="0"/>
      </c:pieChart>
      <c:spPr>
        <a:noFill/>
        <a:ln>
          <a:noFill/>
        </a:ln>
        <a:effectLst/>
      </c:spPr>
    </c:plotArea>
    <c:legend>
      <c:legendPos val="r"/>
      <c:overlay val="0"/>
      <c:txPr>
        <a:bodyPr/>
        <a:lstStyle/>
        <a:p>
          <a:pPr>
            <a:defRPr sz="900">      </a:defRPr>
          </a:pPr>
          <a:endParaRPr lang="en-US"/>
        </a:p>
      </c:txPr>
    </c:legend>
    <c:plotVisOnly val="1"/>
    <c:dispBlanksAs val="span"/>
  </c:chart>
  <c:spPr>
    <a:solidFill>
      <a:srgbClr val="112240"/>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Importance</c:v>
                </c:pt>
              </c:strCache>
            </c:strRef>
          </c:tx>
          <c:spPr>
            <a:solidFill>
              <a:srgbClr val="00B4D8"/>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violation_density</c:v>
                  </c:pt>
                  <c:pt idx="1">
                    <c:v>dist_to_centre_km</c:v>
                  </c:pt>
                  <c:pt idx="2">
                    <c:v>peak_hour_frac</c:v>
                  </c:pt>
                  <c:pt idx="3">
                    <c:v>recurrence_score</c:v>
                  </c:pt>
                  <c:pt idx="4">
                    <c:v>spread_km</c:v>
                  </c:pt>
                  <c:pt idx="5">
                    <c:v>evening_peak_frac</c:v>
                  </c:pt>
                  <c:pt idx="6">
                    <c:v>weekend_frac</c:v>
                  </c:pt>
                </c:lvl>
              </c:multiLvlStrCache>
            </c:multiLvlStrRef>
          </c:cat>
          <c:val>
            <c:numRef>
              <c:f>Sheet1!$B$2:$B$8</c:f>
              <c:numCache>
                <c:formatCode>General</c:formatCode>
                <c:ptCount val="7"/>
                <c:pt idx="0">
                  <c:v>420</c:v>
                </c:pt>
                <c:pt idx="1">
                  <c:v>310</c:v>
                </c:pt>
                <c:pt idx="2">
                  <c:v>210</c:v>
                </c:pt>
                <c:pt idx="3">
                  <c:v>180</c:v>
                </c:pt>
                <c:pt idx="4">
                  <c:v>140</c:v>
                </c:pt>
                <c:pt idx="5">
                  <c:v>90</c:v>
                </c:pt>
                <c:pt idx="6">
                  <c:v>70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judges. This is a prototype submission for Theme 1 of Gridlock Hackathon 2.0 Round 2. We built an AI system that turns raw parking violation data into actionable enforcement intelligence for Bengaluru Traffic Police.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problem: enforcement is reactive and resource-constrained. A single illegally parked car at a key intersection during rush hour causes a cascading traffic jam, while many cars parked off the beaten track at night have zero impact. Current systems cannot distinguish between these scenarios.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solution has 5 stages: first we ingest the BTP violation data, then cluster violations geographically using DBSCAN to find hotspots, then we engineer features about time and location, then LightGBM scores each zone, and finally we output a priority map for dispatchers.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contains 298,445 real parking violation records from Bengaluru Traffic Police spanning 6 months. Key columns include GPS coordinates, timestamps, violation types, and vehicle categories. Cars dominate the violations, followed by scooters.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Temporal analysis shows violations peak at 5 AM and on Sundays. 17.5% happen during rush hours. We used cyclical sin/cos encoding so the model understands that 11 PM and midnight are adjacent times — not opposites on a linear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engineered 4 categories of features: cyclical time encoding (so the model understands time is circular), Haversine distance to city centre (closer = higher risk), peak hour binary flags, and zone-level aggregations from the DBSCAN clusters.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DBSCAN is ideal for this problem because it doesn't require specifying the number of clusters upfront and it handles noise naturally. We set a 300m radius and minimum 10 violations to form a cluster. 99.7% of all violations fell inside clusters — extremely clean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Congestion Risk Score combines 5 factors with domain-driven weights. Violation density carries the most weight at 35%, followed by peak hour timing at 25%. The score is then used as the training target for LightGBM. Our data produced 0 critical, 3 high, 81 medium, and 73 low zones.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LightGBM was chosen because it handles large datasets fast and uses leaf-wise tree growth that prioritises the biggest prediction errors — perfect for isolating the most severe congestion zones. R² of 0.862 means the model explains 86% of the variance in congestion risk, with an average error of just 3.39 points on a 0-100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output is a Folium interactive heatmap showing all 157 zones colour-coded by tier. Dispatchers see at a glance where to deploy units. The map is layered — heatmap shows violation density, markers show cluster centroids with popup details including CRS score, rank, and peak hour fraction.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ranked output table shows the top zones by Congestion Risk Score. The top 3 zones are flagged HIGH tier. Each row includes GPS coordinates (not shown here), violation count, peak hour fraction, and the tier label that tells dispatchers exactly what action to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key impacts: resource optimisation by directing limited patrol officers to maximum-impact zones, proactive deployment before gridlock forms, an immediately actionable colour-coded map, a self-improving system that retrains on new data, built on real BTP data, and deployable today without special infrastructure.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roadmap has three phases: current prototype with DBSCAN and LightGBM, then real-time integration in 3-6 months, and finally CCTV integration and predictive alerts in 6-12 months.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entire solution is built on open-source Python tools. LightGBM for the scoring model, DBSCAN from scikit-learn for clustering, Folium for the interactive map, and Pandas/NumPy for data processing. Runs on Kaggle Notebooks — no special infrastructure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Reinforce that this is production-ready, built on real data, and actionable. The Kaggle notebook link is the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6858000" y="-1097280"/>
            <a:ext cx="3657600" cy="3657600"/>
          </a:xfrm>
          <a:prstGeom prst="ellipse">
            <a:avLst/>
          </a:prstGeom>
          <a:solidFill>
            <a:srgbClr val="00B4D8">
              <a:alpha val="18000"/>
            </a:srgbClr>
          </a:solidFill>
          <a:ln w="12700">
            <a:solidFill>
              <a:srgbClr val="00B4D8">
                <a:alpha val="18000"/>
              </a:srgbClr>
            </a:solidFill>
            <a:prstDash val="solid"/>
          </a:ln>
        </p:spPr>
      </p:sp>
      <p:sp>
        <p:nvSpPr>
          <p:cNvPr id="3" name="Shape 1"/>
          <p:cNvSpPr/>
          <p:nvPr/>
        </p:nvSpPr>
        <p:spPr>
          <a:xfrm>
            <a:off x="7498080" y="-457200"/>
            <a:ext cx="2286000" cy="2286000"/>
          </a:xfrm>
          <a:prstGeom prst="ellipse">
            <a:avLst/>
          </a:prstGeom>
          <a:solidFill>
            <a:srgbClr val="00B4D8">
              <a:alpha val="30000"/>
            </a:srgbClr>
          </a:solidFill>
          <a:ln w="12700">
            <a:solidFill>
              <a:srgbClr val="00B4D8">
                <a:alpha val="30000"/>
              </a:srgbClr>
            </a:solidFill>
            <a:prstDash val="solid"/>
          </a:ln>
        </p:spPr>
      </p:sp>
      <p:sp>
        <p:nvSpPr>
          <p:cNvPr id="4" name="Shape 2"/>
          <p:cNvSpPr/>
          <p:nvPr/>
        </p:nvSpPr>
        <p:spPr>
          <a:xfrm>
            <a:off x="457200" y="411480"/>
            <a:ext cx="2926080" cy="347472"/>
          </a:xfrm>
          <a:prstGeom prst="roundRect">
            <a:avLst>
              <a:gd name="adj" fmla="val 13158"/>
            </a:avLst>
          </a:prstGeom>
          <a:solidFill>
            <a:srgbClr val="00B4D8"/>
          </a:solidFill>
          <a:ln/>
        </p:spPr>
      </p:sp>
      <p:sp>
        <p:nvSpPr>
          <p:cNvPr id="5" name="Text 3"/>
          <p:cNvSpPr/>
          <p:nvPr/>
        </p:nvSpPr>
        <p:spPr>
          <a:xfrm>
            <a:off x="457200" y="411480"/>
            <a:ext cx="2926080" cy="347472"/>
          </a:xfrm>
          <a:prstGeom prst="rect">
            <a:avLst/>
          </a:prstGeom>
          <a:noFill/>
          <a:ln/>
        </p:spPr>
        <p:txBody>
          <a:bodyPr wrap="square" lIns="0" tIns="0" rIns="0" bIns="0" rtlCol="0" anchor="ctr"/>
          <a:lstStyle/>
          <a:p>
            <a:pPr algn="ctr" indent="0" marL="0">
              <a:buNone/>
            </a:pPr>
            <a:r>
              <a:rPr lang="en-US" sz="900" b="1" dirty="0">
                <a:solidFill>
                  <a:srgbClr val="0A1628"/>
                </a:solidFill>
              </a:rPr>
              <a:t>GRIDLOCK HACKATHON 2.0 · ROUND 2</a:t>
            </a:r>
            <a:endParaRPr lang="en-US" sz="900" dirty="0"/>
          </a:p>
        </p:txBody>
      </p:sp>
      <p:sp>
        <p:nvSpPr>
          <p:cNvPr id="6" name="Text 4"/>
          <p:cNvSpPr/>
          <p:nvPr/>
        </p:nvSpPr>
        <p:spPr>
          <a:xfrm>
            <a:off x="457200" y="868680"/>
            <a:ext cx="7772400" cy="320040"/>
          </a:xfrm>
          <a:prstGeom prst="rect">
            <a:avLst/>
          </a:prstGeom>
          <a:noFill/>
          <a:ln/>
        </p:spPr>
        <p:txBody>
          <a:bodyPr wrap="square" lIns="0" tIns="0" rIns="0" bIns="0" rtlCol="0" anchor="ctr"/>
          <a:lstStyle/>
          <a:p>
            <a:pPr indent="0" marL="0">
              <a:buNone/>
            </a:pPr>
            <a:r>
              <a:rPr lang="en-US" sz="1100" i="1" dirty="0">
                <a:solidFill>
                  <a:srgbClr val="90E0EF"/>
                </a:solidFill>
              </a:rPr>
              <a:t>Theme 1: Poor Visibility on Parking-Induced Congestion</a:t>
            </a:r>
            <a:endParaRPr lang="en-US" sz="1100" dirty="0"/>
          </a:p>
        </p:txBody>
      </p:sp>
      <p:sp>
        <p:nvSpPr>
          <p:cNvPr id="7" name="Text 5"/>
          <p:cNvSpPr/>
          <p:nvPr/>
        </p:nvSpPr>
        <p:spPr>
          <a:xfrm>
            <a:off x="457200" y="1280160"/>
            <a:ext cx="7772400" cy="1737360"/>
          </a:xfrm>
          <a:prstGeom prst="rect">
            <a:avLst/>
          </a:prstGeom>
          <a:noFill/>
          <a:ln/>
        </p:spPr>
        <p:txBody>
          <a:bodyPr wrap="square" lIns="0" tIns="0" rIns="0" bIns="0" rtlCol="0" anchor="ctr"/>
          <a:lstStyle/>
          <a:p>
            <a:pPr indent="0" marL="0">
              <a:buNone/>
            </a:pPr>
            <a:r>
              <a:rPr lang="en-US" sz="4200" b="1" dirty="0">
                <a:solidFill>
                  <a:srgbClr val="FFFFFF"/>
                </a:solidFill>
              </a:rPr>
              <a:t>AI-Driven Parking</a:t>
            </a:r>
            <a:endParaRPr lang="en-US" sz="4200" dirty="0"/>
          </a:p>
          <a:p>
            <a:pPr indent="0" marL="0">
              <a:buNone/>
            </a:pPr>
            <a:r>
              <a:rPr lang="en-US" sz="4200" b="1" dirty="0">
                <a:solidFill>
                  <a:srgbClr val="FFFFFF"/>
                </a:solidFill>
              </a:rPr>
              <a:t>Intelligence Dashboard</a:t>
            </a:r>
            <a:endParaRPr lang="en-US" sz="4200" dirty="0"/>
          </a:p>
        </p:txBody>
      </p:sp>
      <p:sp>
        <p:nvSpPr>
          <p:cNvPr id="8" name="Text 6"/>
          <p:cNvSpPr/>
          <p:nvPr/>
        </p:nvSpPr>
        <p:spPr>
          <a:xfrm>
            <a:off x="457200" y="3063240"/>
            <a:ext cx="6400800" cy="822960"/>
          </a:xfrm>
          <a:prstGeom prst="rect">
            <a:avLst/>
          </a:prstGeom>
          <a:noFill/>
          <a:ln/>
        </p:spPr>
        <p:txBody>
          <a:bodyPr wrap="square" lIns="0" tIns="0" rIns="0" bIns="0" rtlCol="0" anchor="ctr"/>
          <a:lstStyle/>
          <a:p>
            <a:pPr indent="0" marL="0">
              <a:buNone/>
            </a:pPr>
            <a:r>
              <a:rPr lang="en-US" sz="1600" dirty="0">
                <a:solidFill>
                  <a:srgbClr val="90E0EF"/>
                </a:solidFill>
              </a:rPr>
              <a:t>Detecting Hotspots &amp; Quantifying Congestion Impact</a:t>
            </a:r>
            <a:endParaRPr lang="en-US" sz="1600" dirty="0"/>
          </a:p>
          <a:p>
            <a:pPr indent="0" marL="0">
              <a:buNone/>
            </a:pPr>
            <a:r>
              <a:rPr lang="en-US" sz="1600" dirty="0">
                <a:solidFill>
                  <a:srgbClr val="90E0EF"/>
                </a:solidFill>
              </a:rPr>
              <a:t>for Bengaluru Traffic Police</a:t>
            </a:r>
            <a:endParaRPr lang="en-US" sz="1600" dirty="0"/>
          </a:p>
        </p:txBody>
      </p:sp>
      <p:sp>
        <p:nvSpPr>
          <p:cNvPr id="9" name="Shape 7"/>
          <p:cNvSpPr/>
          <p:nvPr/>
        </p:nvSpPr>
        <p:spPr>
          <a:xfrm>
            <a:off x="457200" y="4114800"/>
            <a:ext cx="2011680" cy="822960"/>
          </a:xfrm>
          <a:prstGeom prst="roundRect">
            <a:avLst>
              <a:gd name="adj" fmla="val 8889"/>
            </a:avLst>
          </a:prstGeom>
          <a:solidFill>
            <a:srgbClr val="112240"/>
          </a:solidFill>
          <a:ln/>
          <a:effectLst>
            <a:outerShdw sx="100000" sy="100000" kx="0" ky="0" algn="bl" rotWithShape="0" blurRad="101600" dist="38100" dir="2700000">
              <a:srgbClr val="000000">
                <a:alpha val="12000"/>
              </a:srgbClr>
            </a:outerShdw>
          </a:effectLst>
        </p:spPr>
      </p:sp>
      <p:sp>
        <p:nvSpPr>
          <p:cNvPr id="10" name="Text 8"/>
          <p:cNvSpPr/>
          <p:nvPr/>
        </p:nvSpPr>
        <p:spPr>
          <a:xfrm>
            <a:off x="457200" y="4133088"/>
            <a:ext cx="2011680" cy="384048"/>
          </a:xfrm>
          <a:prstGeom prst="rect">
            <a:avLst/>
          </a:prstGeom>
          <a:noFill/>
          <a:ln/>
        </p:spPr>
        <p:txBody>
          <a:bodyPr wrap="square" lIns="0" tIns="0" rIns="0" bIns="0" rtlCol="0" anchor="ctr"/>
          <a:lstStyle/>
          <a:p>
            <a:pPr algn="ctr" indent="0" marL="0">
              <a:buNone/>
            </a:pPr>
            <a:r>
              <a:rPr lang="en-US" sz="1800" b="1" dirty="0">
                <a:solidFill>
                  <a:srgbClr val="00B4D8"/>
                </a:solidFill>
              </a:rPr>
              <a:t>298,445</a:t>
            </a:r>
            <a:endParaRPr lang="en-US" sz="1800" dirty="0"/>
          </a:p>
        </p:txBody>
      </p:sp>
      <p:sp>
        <p:nvSpPr>
          <p:cNvPr id="11" name="Text 9"/>
          <p:cNvSpPr/>
          <p:nvPr/>
        </p:nvSpPr>
        <p:spPr>
          <a:xfrm>
            <a:off x="457200" y="4498848"/>
            <a:ext cx="2011680" cy="274320"/>
          </a:xfrm>
          <a:prstGeom prst="rect">
            <a:avLst/>
          </a:prstGeom>
          <a:noFill/>
          <a:ln/>
        </p:spPr>
        <p:txBody>
          <a:bodyPr wrap="square" lIns="0" tIns="0" rIns="0" bIns="0" rtlCol="0" anchor="ctr"/>
          <a:lstStyle/>
          <a:p>
            <a:pPr algn="ctr" indent="0" marL="0">
              <a:buNone/>
            </a:pPr>
            <a:r>
              <a:rPr lang="en-US" sz="900" dirty="0">
                <a:solidFill>
                  <a:srgbClr val="8899AA"/>
                </a:solidFill>
              </a:rPr>
              <a:t>Violations Analysed</a:t>
            </a:r>
            <a:endParaRPr lang="en-US" sz="900" dirty="0"/>
          </a:p>
        </p:txBody>
      </p:sp>
      <p:sp>
        <p:nvSpPr>
          <p:cNvPr id="12" name="Shape 10"/>
          <p:cNvSpPr/>
          <p:nvPr/>
        </p:nvSpPr>
        <p:spPr>
          <a:xfrm>
            <a:off x="2560320" y="4114800"/>
            <a:ext cx="2011680" cy="822960"/>
          </a:xfrm>
          <a:prstGeom prst="roundRect">
            <a:avLst>
              <a:gd name="adj" fmla="val 8889"/>
            </a:avLst>
          </a:prstGeom>
          <a:solidFill>
            <a:srgbClr val="112240"/>
          </a:solidFill>
          <a:ln/>
          <a:effectLst>
            <a:outerShdw sx="100000" sy="100000" kx="0" ky="0" algn="bl" rotWithShape="0" blurRad="101600" dist="38100" dir="2700000">
              <a:srgbClr val="000000">
                <a:alpha val="12000"/>
              </a:srgbClr>
            </a:outerShdw>
          </a:effectLst>
        </p:spPr>
      </p:sp>
      <p:sp>
        <p:nvSpPr>
          <p:cNvPr id="13" name="Text 11"/>
          <p:cNvSpPr/>
          <p:nvPr/>
        </p:nvSpPr>
        <p:spPr>
          <a:xfrm>
            <a:off x="2560320" y="4133088"/>
            <a:ext cx="2011680" cy="384048"/>
          </a:xfrm>
          <a:prstGeom prst="rect">
            <a:avLst/>
          </a:prstGeom>
          <a:noFill/>
          <a:ln/>
        </p:spPr>
        <p:txBody>
          <a:bodyPr wrap="square" lIns="0" tIns="0" rIns="0" bIns="0" rtlCol="0" anchor="ctr"/>
          <a:lstStyle/>
          <a:p>
            <a:pPr algn="ctr" indent="0" marL="0">
              <a:buNone/>
            </a:pPr>
            <a:r>
              <a:rPr lang="en-US" sz="1800" b="1" dirty="0">
                <a:solidFill>
                  <a:srgbClr val="00B4D8"/>
                </a:solidFill>
              </a:rPr>
              <a:t>157</a:t>
            </a:r>
            <a:endParaRPr lang="en-US" sz="1800" dirty="0"/>
          </a:p>
        </p:txBody>
      </p:sp>
      <p:sp>
        <p:nvSpPr>
          <p:cNvPr id="14" name="Text 12"/>
          <p:cNvSpPr/>
          <p:nvPr/>
        </p:nvSpPr>
        <p:spPr>
          <a:xfrm>
            <a:off x="2560320" y="4498848"/>
            <a:ext cx="2011680" cy="274320"/>
          </a:xfrm>
          <a:prstGeom prst="rect">
            <a:avLst/>
          </a:prstGeom>
          <a:noFill/>
          <a:ln/>
        </p:spPr>
        <p:txBody>
          <a:bodyPr wrap="square" lIns="0" tIns="0" rIns="0" bIns="0" rtlCol="0" anchor="ctr"/>
          <a:lstStyle/>
          <a:p>
            <a:pPr algn="ctr" indent="0" marL="0">
              <a:buNone/>
            </a:pPr>
            <a:r>
              <a:rPr lang="en-US" sz="900" dirty="0">
                <a:solidFill>
                  <a:srgbClr val="8899AA"/>
                </a:solidFill>
              </a:rPr>
              <a:t>Hotspot Zones Found</a:t>
            </a:r>
            <a:endParaRPr lang="en-US" sz="900" dirty="0"/>
          </a:p>
        </p:txBody>
      </p:sp>
      <p:sp>
        <p:nvSpPr>
          <p:cNvPr id="15" name="Shape 13"/>
          <p:cNvSpPr/>
          <p:nvPr/>
        </p:nvSpPr>
        <p:spPr>
          <a:xfrm>
            <a:off x="4663440" y="4114800"/>
            <a:ext cx="2011680" cy="822960"/>
          </a:xfrm>
          <a:prstGeom prst="roundRect">
            <a:avLst>
              <a:gd name="adj" fmla="val 8889"/>
            </a:avLst>
          </a:prstGeom>
          <a:solidFill>
            <a:srgbClr val="112240"/>
          </a:solidFill>
          <a:ln/>
          <a:effectLst>
            <a:outerShdw sx="100000" sy="100000" kx="0" ky="0" algn="bl" rotWithShape="0" blurRad="101600" dist="38100" dir="2700000">
              <a:srgbClr val="000000">
                <a:alpha val="12000"/>
              </a:srgbClr>
            </a:outerShdw>
          </a:effectLst>
        </p:spPr>
      </p:sp>
      <p:sp>
        <p:nvSpPr>
          <p:cNvPr id="16" name="Text 14"/>
          <p:cNvSpPr/>
          <p:nvPr/>
        </p:nvSpPr>
        <p:spPr>
          <a:xfrm>
            <a:off x="4663440" y="4133088"/>
            <a:ext cx="2011680" cy="384048"/>
          </a:xfrm>
          <a:prstGeom prst="rect">
            <a:avLst/>
          </a:prstGeom>
          <a:noFill/>
          <a:ln/>
        </p:spPr>
        <p:txBody>
          <a:bodyPr wrap="square" lIns="0" tIns="0" rIns="0" bIns="0" rtlCol="0" anchor="ctr"/>
          <a:lstStyle/>
          <a:p>
            <a:pPr algn="ctr" indent="0" marL="0">
              <a:buNone/>
            </a:pPr>
            <a:r>
              <a:rPr lang="en-US" sz="1800" b="1" dirty="0">
                <a:solidFill>
                  <a:srgbClr val="00B4D8"/>
                </a:solidFill>
              </a:rPr>
              <a:t>R² 0.862</a:t>
            </a:r>
            <a:endParaRPr lang="en-US" sz="1800" dirty="0"/>
          </a:p>
        </p:txBody>
      </p:sp>
      <p:sp>
        <p:nvSpPr>
          <p:cNvPr id="17" name="Text 15"/>
          <p:cNvSpPr/>
          <p:nvPr/>
        </p:nvSpPr>
        <p:spPr>
          <a:xfrm>
            <a:off x="4663440" y="4498848"/>
            <a:ext cx="2011680" cy="274320"/>
          </a:xfrm>
          <a:prstGeom prst="rect">
            <a:avLst/>
          </a:prstGeom>
          <a:noFill/>
          <a:ln/>
        </p:spPr>
        <p:txBody>
          <a:bodyPr wrap="square" lIns="0" tIns="0" rIns="0" bIns="0" rtlCol="0" anchor="ctr"/>
          <a:lstStyle/>
          <a:p>
            <a:pPr algn="ctr" indent="0" marL="0">
              <a:buNone/>
            </a:pPr>
            <a:r>
              <a:rPr lang="en-US" sz="900" dirty="0">
                <a:solidFill>
                  <a:srgbClr val="8899AA"/>
                </a:solidFill>
              </a:rPr>
              <a:t>Model Accuracy</a:t>
            </a:r>
            <a:endParaRPr lang="en-US" sz="900" dirty="0"/>
          </a:p>
        </p:txBody>
      </p:sp>
      <p:sp>
        <p:nvSpPr>
          <p:cNvPr id="18" name="Shape 16"/>
          <p:cNvSpPr/>
          <p:nvPr/>
        </p:nvSpPr>
        <p:spPr>
          <a:xfrm>
            <a:off x="6766560" y="4114800"/>
            <a:ext cx="2011680" cy="822960"/>
          </a:xfrm>
          <a:prstGeom prst="roundRect">
            <a:avLst>
              <a:gd name="adj" fmla="val 8889"/>
            </a:avLst>
          </a:prstGeom>
          <a:solidFill>
            <a:srgbClr val="112240"/>
          </a:solidFill>
          <a:ln/>
          <a:effectLst>
            <a:outerShdw sx="100000" sy="100000" kx="0" ky="0" algn="bl" rotWithShape="0" blurRad="101600" dist="38100" dir="2700000">
              <a:srgbClr val="000000">
                <a:alpha val="12000"/>
              </a:srgbClr>
            </a:outerShdw>
          </a:effectLst>
        </p:spPr>
      </p:sp>
      <p:sp>
        <p:nvSpPr>
          <p:cNvPr id="19" name="Text 17"/>
          <p:cNvSpPr/>
          <p:nvPr/>
        </p:nvSpPr>
        <p:spPr>
          <a:xfrm>
            <a:off x="6766560" y="4133088"/>
            <a:ext cx="2011680" cy="384048"/>
          </a:xfrm>
          <a:prstGeom prst="rect">
            <a:avLst/>
          </a:prstGeom>
          <a:noFill/>
          <a:ln/>
        </p:spPr>
        <p:txBody>
          <a:bodyPr wrap="square" lIns="0" tIns="0" rIns="0" bIns="0" rtlCol="0" anchor="ctr"/>
          <a:lstStyle/>
          <a:p>
            <a:pPr algn="ctr" indent="0" marL="0">
              <a:buNone/>
            </a:pPr>
            <a:r>
              <a:rPr lang="en-US" sz="1800" b="1" dirty="0">
                <a:solidFill>
                  <a:srgbClr val="00B4D8"/>
                </a:solidFill>
              </a:rPr>
              <a:t>6 months</a:t>
            </a:r>
            <a:endParaRPr lang="en-US" sz="1800" dirty="0"/>
          </a:p>
        </p:txBody>
      </p:sp>
      <p:sp>
        <p:nvSpPr>
          <p:cNvPr id="20" name="Text 18"/>
          <p:cNvSpPr/>
          <p:nvPr/>
        </p:nvSpPr>
        <p:spPr>
          <a:xfrm>
            <a:off x="6766560" y="4498848"/>
            <a:ext cx="2011680" cy="274320"/>
          </a:xfrm>
          <a:prstGeom prst="rect">
            <a:avLst/>
          </a:prstGeom>
          <a:noFill/>
          <a:ln/>
        </p:spPr>
        <p:txBody>
          <a:bodyPr wrap="square" lIns="0" tIns="0" rIns="0" bIns="0" rtlCol="0" anchor="ctr"/>
          <a:lstStyle/>
          <a:p>
            <a:pPr algn="ctr" indent="0" marL="0">
              <a:buNone/>
            </a:pPr>
            <a:r>
              <a:rPr lang="en-US" sz="900" dirty="0">
                <a:solidFill>
                  <a:srgbClr val="8899AA"/>
                </a:solidFill>
              </a:rPr>
              <a:t>Data Coverage</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3200" b="1" dirty="0">
                <a:solidFill>
                  <a:srgbClr val="0A1628"/>
                </a:solidFill>
              </a:rPr>
              <a:t>The Problem Today</a:t>
            </a:r>
            <a:endParaRPr lang="en-US" sz="3200" dirty="0"/>
          </a:p>
        </p:txBody>
      </p:sp>
      <p:sp>
        <p:nvSpPr>
          <p:cNvPr id="3" name="Text 1"/>
          <p:cNvSpPr/>
          <p:nvPr/>
        </p:nvSpPr>
        <p:spPr>
          <a:xfrm>
            <a:off x="457200" y="868680"/>
            <a:ext cx="8229600" cy="365760"/>
          </a:xfrm>
          <a:prstGeom prst="rect">
            <a:avLst/>
          </a:prstGeom>
          <a:noFill/>
          <a:ln/>
        </p:spPr>
        <p:txBody>
          <a:bodyPr wrap="square" lIns="0" tIns="0" rIns="0" bIns="0" rtlCol="0" anchor="ctr"/>
          <a:lstStyle/>
          <a:p>
            <a:pPr indent="0" marL="0">
              <a:buNone/>
            </a:pPr>
            <a:r>
              <a:rPr lang="en-US" sz="1400" dirty="0">
                <a:solidFill>
                  <a:srgbClr val="8899AA"/>
                </a:solidFill>
              </a:rPr>
              <a:t>Traffic enforcement is entirely reactive — and not all parking violations are equal</a:t>
            </a:r>
            <a:endParaRPr lang="en-US" sz="1400" dirty="0"/>
          </a:p>
        </p:txBody>
      </p:sp>
      <p:sp>
        <p:nvSpPr>
          <p:cNvPr id="4" name="Shape 2"/>
          <p:cNvSpPr/>
          <p:nvPr/>
        </p:nvSpPr>
        <p:spPr>
          <a:xfrm>
            <a:off x="457200" y="1417320"/>
            <a:ext cx="4114800" cy="1188720"/>
          </a:xfrm>
          <a:prstGeom prst="roundRect">
            <a:avLst>
              <a:gd name="adj" fmla="val 7692"/>
            </a:avLst>
          </a:prstGeom>
          <a:solidFill>
            <a:srgbClr val="FFFFFF"/>
          </a:solidFill>
          <a:ln/>
          <a:effectLst>
            <a:outerShdw sx="100000" sy="100000" kx="0" ky="0" algn="bl" rotWithShape="0" blurRad="101600" dist="38100" dir="2700000">
              <a:srgbClr val="000000">
                <a:alpha val="12000"/>
              </a:srgbClr>
            </a:outerShdw>
          </a:effectLst>
        </p:spPr>
      </p:sp>
      <p:sp>
        <p:nvSpPr>
          <p:cNvPr id="5" name="Text 3"/>
          <p:cNvSpPr/>
          <p:nvPr/>
        </p:nvSpPr>
        <p:spPr>
          <a:xfrm>
            <a:off x="621792" y="1508760"/>
            <a:ext cx="3749040" cy="347472"/>
          </a:xfrm>
          <a:prstGeom prst="rect">
            <a:avLst/>
          </a:prstGeom>
          <a:noFill/>
          <a:ln/>
        </p:spPr>
        <p:txBody>
          <a:bodyPr wrap="square" lIns="0" tIns="0" rIns="0" bIns="0" rtlCol="0" anchor="ctr"/>
          <a:lstStyle/>
          <a:p>
            <a:pPr indent="0" marL="0">
              <a:buNone/>
            </a:pPr>
            <a:r>
              <a:rPr lang="en-US" sz="1300" b="1" dirty="0">
                <a:solidFill>
                  <a:srgbClr val="0A1628"/>
                </a:solidFill>
              </a:rPr>
              <a:t>🚔  Patrol-Based &amp; Reactive</a:t>
            </a:r>
            <a:endParaRPr lang="en-US" sz="1300" dirty="0"/>
          </a:p>
        </p:txBody>
      </p:sp>
      <p:sp>
        <p:nvSpPr>
          <p:cNvPr id="6" name="Text 4"/>
          <p:cNvSpPr/>
          <p:nvPr/>
        </p:nvSpPr>
        <p:spPr>
          <a:xfrm>
            <a:off x="621792" y="1856232"/>
            <a:ext cx="3749040" cy="658368"/>
          </a:xfrm>
          <a:prstGeom prst="rect">
            <a:avLst/>
          </a:prstGeom>
          <a:noFill/>
          <a:ln/>
        </p:spPr>
        <p:txBody>
          <a:bodyPr wrap="square" lIns="0" tIns="0" rIns="0" bIns="0" rtlCol="0" anchor="ctr"/>
          <a:lstStyle/>
          <a:p>
            <a:pPr indent="0" marL="0">
              <a:buNone/>
            </a:pPr>
            <a:r>
              <a:rPr lang="en-US" sz="1100" dirty="0">
                <a:solidFill>
                  <a:srgbClr val="8899AA"/>
                </a:solidFill>
              </a:rPr>
              <a:t>Officers chase individual cars as they see them. No system to predict where congestion will build.</a:t>
            </a:r>
            <a:endParaRPr lang="en-US" sz="1100" dirty="0"/>
          </a:p>
        </p:txBody>
      </p:sp>
      <p:sp>
        <p:nvSpPr>
          <p:cNvPr id="7" name="Shape 5"/>
          <p:cNvSpPr/>
          <p:nvPr/>
        </p:nvSpPr>
        <p:spPr>
          <a:xfrm>
            <a:off x="457200" y="2834640"/>
            <a:ext cx="4114800" cy="1188720"/>
          </a:xfrm>
          <a:prstGeom prst="roundRect">
            <a:avLst>
              <a:gd name="adj" fmla="val 7692"/>
            </a:avLst>
          </a:prstGeom>
          <a:solidFill>
            <a:srgbClr val="FFFFFF"/>
          </a:solidFill>
          <a:ln/>
          <a:effectLst>
            <a:outerShdw sx="100000" sy="100000" kx="0" ky="0" algn="bl" rotWithShape="0" blurRad="101600" dist="38100" dir="2700000">
              <a:srgbClr val="000000">
                <a:alpha val="12000"/>
              </a:srgbClr>
            </a:outerShdw>
          </a:effectLst>
        </p:spPr>
      </p:sp>
      <p:sp>
        <p:nvSpPr>
          <p:cNvPr id="8" name="Text 6"/>
          <p:cNvSpPr/>
          <p:nvPr/>
        </p:nvSpPr>
        <p:spPr>
          <a:xfrm>
            <a:off x="621792" y="2926080"/>
            <a:ext cx="3749040" cy="347472"/>
          </a:xfrm>
          <a:prstGeom prst="rect">
            <a:avLst/>
          </a:prstGeom>
          <a:noFill/>
          <a:ln/>
        </p:spPr>
        <p:txBody>
          <a:bodyPr wrap="square" lIns="0" tIns="0" rIns="0" bIns="0" rtlCol="0" anchor="ctr"/>
          <a:lstStyle/>
          <a:p>
            <a:pPr indent="0" marL="0">
              <a:buNone/>
            </a:pPr>
            <a:r>
              <a:rPr lang="en-US" sz="1300" b="1" dirty="0">
                <a:solidFill>
                  <a:srgbClr val="0A1628"/>
                </a:solidFill>
              </a:rPr>
              <a:t>📍  No Violation Heatmap</a:t>
            </a:r>
            <a:endParaRPr lang="en-US" sz="1300" dirty="0"/>
          </a:p>
        </p:txBody>
      </p:sp>
      <p:sp>
        <p:nvSpPr>
          <p:cNvPr id="9" name="Text 7"/>
          <p:cNvSpPr/>
          <p:nvPr/>
        </p:nvSpPr>
        <p:spPr>
          <a:xfrm>
            <a:off x="621792" y="3273552"/>
            <a:ext cx="3749040" cy="658368"/>
          </a:xfrm>
          <a:prstGeom prst="rect">
            <a:avLst/>
          </a:prstGeom>
          <a:noFill/>
          <a:ln/>
        </p:spPr>
        <p:txBody>
          <a:bodyPr wrap="square" lIns="0" tIns="0" rIns="0" bIns="0" rtlCol="0" anchor="ctr"/>
          <a:lstStyle/>
          <a:p>
            <a:pPr indent="0" marL="0">
              <a:buNone/>
            </a:pPr>
            <a:r>
              <a:rPr lang="en-US" sz="1100" dirty="0">
                <a:solidFill>
                  <a:srgbClr val="8899AA"/>
                </a:solidFill>
              </a:rPr>
              <a:t>Raw ticket data sits in databases with no spatial intelligence — no hotspot map, no priority zones.</a:t>
            </a:r>
            <a:endParaRPr lang="en-US" sz="1100" dirty="0"/>
          </a:p>
        </p:txBody>
      </p:sp>
      <p:sp>
        <p:nvSpPr>
          <p:cNvPr id="10" name="Shape 8"/>
          <p:cNvSpPr/>
          <p:nvPr/>
        </p:nvSpPr>
        <p:spPr>
          <a:xfrm>
            <a:off x="4800600" y="1417320"/>
            <a:ext cx="4114800" cy="1188720"/>
          </a:xfrm>
          <a:prstGeom prst="roundRect">
            <a:avLst>
              <a:gd name="adj" fmla="val 7692"/>
            </a:avLst>
          </a:prstGeom>
          <a:solidFill>
            <a:srgbClr val="FFFFFF"/>
          </a:solidFill>
          <a:ln/>
          <a:effectLst>
            <a:outerShdw sx="100000" sy="100000" kx="0" ky="0" algn="bl" rotWithShape="0" blurRad="101600" dist="38100" dir="2700000">
              <a:srgbClr val="000000">
                <a:alpha val="12000"/>
              </a:srgbClr>
            </a:outerShdw>
          </a:effectLst>
        </p:spPr>
      </p:sp>
      <p:sp>
        <p:nvSpPr>
          <p:cNvPr id="11" name="Text 9"/>
          <p:cNvSpPr/>
          <p:nvPr/>
        </p:nvSpPr>
        <p:spPr>
          <a:xfrm>
            <a:off x="4965192" y="1508760"/>
            <a:ext cx="3749040" cy="347472"/>
          </a:xfrm>
          <a:prstGeom prst="rect">
            <a:avLst/>
          </a:prstGeom>
          <a:noFill/>
          <a:ln/>
        </p:spPr>
        <p:txBody>
          <a:bodyPr wrap="square" lIns="0" tIns="0" rIns="0" bIns="0" rtlCol="0" anchor="ctr"/>
          <a:lstStyle/>
          <a:p>
            <a:pPr indent="0" marL="0">
              <a:buNone/>
            </a:pPr>
            <a:r>
              <a:rPr lang="en-US" sz="1300" b="1" dirty="0">
                <a:solidFill>
                  <a:srgbClr val="0A1628"/>
                </a:solidFill>
              </a:rPr>
              <a:t>⚖️  Not All Tickets Are Equal</a:t>
            </a:r>
            <a:endParaRPr lang="en-US" sz="1300" dirty="0"/>
          </a:p>
        </p:txBody>
      </p:sp>
      <p:sp>
        <p:nvSpPr>
          <p:cNvPr id="12" name="Text 10"/>
          <p:cNvSpPr/>
          <p:nvPr/>
        </p:nvSpPr>
        <p:spPr>
          <a:xfrm>
            <a:off x="4965192" y="1856232"/>
            <a:ext cx="3749040" cy="658368"/>
          </a:xfrm>
          <a:prstGeom prst="rect">
            <a:avLst/>
          </a:prstGeom>
          <a:noFill/>
          <a:ln/>
        </p:spPr>
        <p:txBody>
          <a:bodyPr wrap="square" lIns="0" tIns="0" rIns="0" bIns="0" rtlCol="0" anchor="ctr"/>
          <a:lstStyle/>
          <a:p>
            <a:pPr indent="0" marL="0">
              <a:buNone/>
            </a:pPr>
            <a:r>
              <a:rPr lang="en-US" sz="1100" dirty="0">
                <a:solidFill>
                  <a:srgbClr val="8899AA"/>
                </a:solidFill>
              </a:rPr>
              <a:t>1 car at a busy intersection at 9 AM causes gridlock. 10 cars on a quiet street at midnight cause nothing.</a:t>
            </a:r>
            <a:endParaRPr lang="en-US" sz="1100" dirty="0"/>
          </a:p>
        </p:txBody>
      </p:sp>
      <p:sp>
        <p:nvSpPr>
          <p:cNvPr id="13" name="Shape 11"/>
          <p:cNvSpPr/>
          <p:nvPr/>
        </p:nvSpPr>
        <p:spPr>
          <a:xfrm>
            <a:off x="4800600" y="2834640"/>
            <a:ext cx="4114800" cy="1188720"/>
          </a:xfrm>
          <a:prstGeom prst="roundRect">
            <a:avLst>
              <a:gd name="adj" fmla="val 7692"/>
            </a:avLst>
          </a:prstGeom>
          <a:solidFill>
            <a:srgbClr val="FFFFFF"/>
          </a:solidFill>
          <a:ln/>
          <a:effectLst>
            <a:outerShdw sx="100000" sy="100000" kx="0" ky="0" algn="bl" rotWithShape="0" blurRad="101600" dist="38100" dir="2700000">
              <a:srgbClr val="000000">
                <a:alpha val="12000"/>
              </a:srgbClr>
            </a:outerShdw>
          </a:effectLst>
        </p:spPr>
      </p:sp>
      <p:sp>
        <p:nvSpPr>
          <p:cNvPr id="14" name="Text 12"/>
          <p:cNvSpPr/>
          <p:nvPr/>
        </p:nvSpPr>
        <p:spPr>
          <a:xfrm>
            <a:off x="4965192" y="2926080"/>
            <a:ext cx="3749040" cy="347472"/>
          </a:xfrm>
          <a:prstGeom prst="rect">
            <a:avLst/>
          </a:prstGeom>
          <a:noFill/>
          <a:ln/>
        </p:spPr>
        <p:txBody>
          <a:bodyPr wrap="square" lIns="0" tIns="0" rIns="0" bIns="0" rtlCol="0" anchor="ctr"/>
          <a:lstStyle/>
          <a:p>
            <a:pPr indent="0" marL="0">
              <a:buNone/>
            </a:pPr>
            <a:r>
              <a:rPr lang="en-US" sz="1300" b="1" dirty="0">
                <a:solidFill>
                  <a:srgbClr val="0A1628"/>
                </a:solidFill>
              </a:rPr>
              <a:t>👮  Resource Misallocation</a:t>
            </a:r>
            <a:endParaRPr lang="en-US" sz="1300" dirty="0"/>
          </a:p>
        </p:txBody>
      </p:sp>
      <p:sp>
        <p:nvSpPr>
          <p:cNvPr id="15" name="Text 13"/>
          <p:cNvSpPr/>
          <p:nvPr/>
        </p:nvSpPr>
        <p:spPr>
          <a:xfrm>
            <a:off x="4965192" y="3273552"/>
            <a:ext cx="3749040" cy="658368"/>
          </a:xfrm>
          <a:prstGeom prst="rect">
            <a:avLst/>
          </a:prstGeom>
          <a:noFill/>
          <a:ln/>
        </p:spPr>
        <p:txBody>
          <a:bodyPr wrap="square" lIns="0" tIns="0" rIns="0" bIns="0" rtlCol="0" anchor="ctr"/>
          <a:lstStyle/>
          <a:p>
            <a:pPr indent="0" marL="0">
              <a:buNone/>
            </a:pPr>
            <a:r>
              <a:rPr lang="en-US" sz="1100" dirty="0">
                <a:solidFill>
                  <a:srgbClr val="8899AA"/>
                </a:solidFill>
              </a:rPr>
              <a:t>Limited patrol officers are deployed by experience, not data — leading to missed high-impact zones.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3200" b="1" dirty="0">
                <a:solidFill>
                  <a:srgbClr val="FFFFFF"/>
                </a:solidFill>
              </a:rPr>
              <a:t>Our Solution</a:t>
            </a:r>
            <a:endParaRPr lang="en-US" sz="3200" dirty="0"/>
          </a:p>
        </p:txBody>
      </p:sp>
      <p:sp>
        <p:nvSpPr>
          <p:cNvPr id="3" name="Text 1"/>
          <p:cNvSpPr/>
          <p:nvPr/>
        </p:nvSpPr>
        <p:spPr>
          <a:xfrm>
            <a:off x="457200" y="841248"/>
            <a:ext cx="8229600" cy="347472"/>
          </a:xfrm>
          <a:prstGeom prst="rect">
            <a:avLst/>
          </a:prstGeom>
          <a:noFill/>
          <a:ln/>
        </p:spPr>
        <p:txBody>
          <a:bodyPr wrap="square" lIns="0" tIns="0" rIns="0" bIns="0" rtlCol="0" anchor="ctr"/>
          <a:lstStyle/>
          <a:p>
            <a:pPr indent="0" marL="0">
              <a:buNone/>
            </a:pPr>
            <a:r>
              <a:rPr lang="en-US" sz="1300" dirty="0">
                <a:solidFill>
                  <a:srgbClr val="90E0EF"/>
                </a:solidFill>
              </a:rPr>
              <a:t>A 5-stage AI pipeline turning raw violation data into enforcement intelligence</a:t>
            </a:r>
            <a:endParaRPr lang="en-US" sz="1300" dirty="0"/>
          </a:p>
        </p:txBody>
      </p:sp>
      <p:sp>
        <p:nvSpPr>
          <p:cNvPr id="4" name="Shape 2"/>
          <p:cNvSpPr/>
          <p:nvPr/>
        </p:nvSpPr>
        <p:spPr>
          <a:xfrm>
            <a:off x="411480" y="1371600"/>
            <a:ext cx="1463040" cy="2560320"/>
          </a:xfrm>
          <a:prstGeom prst="roundRect">
            <a:avLst>
              <a:gd name="adj" fmla="val 7500"/>
            </a:avLst>
          </a:prstGeom>
          <a:solidFill>
            <a:srgbClr val="112240"/>
          </a:solidFill>
          <a:ln/>
          <a:effectLst>
            <a:outerShdw sx="100000" sy="100000" kx="0" ky="0" algn="bl" rotWithShape="0" blurRad="101600" dist="38100" dir="2700000">
              <a:srgbClr val="000000">
                <a:alpha val="12000"/>
              </a:srgbClr>
            </a:outerShdw>
          </a:effectLst>
        </p:spPr>
      </p:sp>
      <p:sp>
        <p:nvSpPr>
          <p:cNvPr id="5" name="Shape 3"/>
          <p:cNvSpPr/>
          <p:nvPr/>
        </p:nvSpPr>
        <p:spPr>
          <a:xfrm>
            <a:off x="914400" y="1508760"/>
            <a:ext cx="457200" cy="457200"/>
          </a:xfrm>
          <a:prstGeom prst="ellipse">
            <a:avLst/>
          </a:prstGeom>
          <a:solidFill>
            <a:srgbClr val="00B4D8"/>
          </a:solidFill>
          <a:ln w="12700">
            <a:solidFill>
              <a:srgbClr val="00B4D8"/>
            </a:solidFill>
            <a:prstDash val="solid"/>
          </a:ln>
        </p:spPr>
      </p:sp>
      <p:sp>
        <p:nvSpPr>
          <p:cNvPr id="6" name="Text 4"/>
          <p:cNvSpPr/>
          <p:nvPr/>
        </p:nvSpPr>
        <p:spPr>
          <a:xfrm>
            <a:off x="914400" y="1508760"/>
            <a:ext cx="457200" cy="457200"/>
          </a:xfrm>
          <a:prstGeom prst="rect">
            <a:avLst/>
          </a:prstGeom>
          <a:noFill/>
          <a:ln/>
        </p:spPr>
        <p:txBody>
          <a:bodyPr wrap="square" lIns="0" tIns="0" rIns="0" bIns="0" rtlCol="0" anchor="ctr"/>
          <a:lstStyle/>
          <a:p>
            <a:pPr algn="ctr" indent="0" marL="0">
              <a:buNone/>
            </a:pPr>
            <a:r>
              <a:rPr lang="en-US" sz="1400" b="1" dirty="0">
                <a:solidFill>
                  <a:srgbClr val="0A1628"/>
                </a:solidFill>
              </a:rPr>
              <a:t>1</a:t>
            </a:r>
            <a:endParaRPr lang="en-US" sz="1400" dirty="0"/>
          </a:p>
        </p:txBody>
      </p:sp>
      <p:sp>
        <p:nvSpPr>
          <p:cNvPr id="7" name="Text 5"/>
          <p:cNvSpPr/>
          <p:nvPr/>
        </p:nvSpPr>
        <p:spPr>
          <a:xfrm>
            <a:off x="411480" y="2103120"/>
            <a:ext cx="1463040" cy="365760"/>
          </a:xfrm>
          <a:prstGeom prst="rect">
            <a:avLst/>
          </a:prstGeom>
          <a:noFill/>
          <a:ln/>
        </p:spPr>
        <p:txBody>
          <a:bodyPr wrap="square" lIns="0" tIns="0" rIns="0" bIns="0" rtlCol="0" anchor="ctr"/>
          <a:lstStyle/>
          <a:p>
            <a:pPr algn="ctr" indent="0" marL="0">
              <a:buNone/>
            </a:pPr>
            <a:r>
              <a:rPr lang="en-US" sz="1300" b="1" dirty="0">
                <a:solidFill>
                  <a:srgbClr val="FFFFFF"/>
                </a:solidFill>
              </a:rPr>
              <a:t>Ingest</a:t>
            </a:r>
            <a:endParaRPr lang="en-US" sz="1300" dirty="0"/>
          </a:p>
        </p:txBody>
      </p:sp>
      <p:sp>
        <p:nvSpPr>
          <p:cNvPr id="8" name="Text 6"/>
          <p:cNvSpPr/>
          <p:nvPr/>
        </p:nvSpPr>
        <p:spPr>
          <a:xfrm>
            <a:off x="411480" y="2487168"/>
            <a:ext cx="1463040" cy="731520"/>
          </a:xfrm>
          <a:prstGeom prst="rect">
            <a:avLst/>
          </a:prstGeom>
          <a:noFill/>
          <a:ln/>
        </p:spPr>
        <p:txBody>
          <a:bodyPr wrap="square" lIns="0" tIns="0" rIns="0" bIns="0" rtlCol="0" anchor="ctr"/>
          <a:lstStyle/>
          <a:p>
            <a:pPr algn="ctr" indent="0" marL="0">
              <a:buNone/>
            </a:pPr>
            <a:r>
              <a:rPr lang="en-US" sz="1000" dirty="0">
                <a:solidFill>
                  <a:srgbClr val="90E0EF"/>
                </a:solidFill>
              </a:rPr>
              <a:t>298K+ BTP</a:t>
            </a:r>
            <a:endParaRPr lang="en-US" sz="1000" dirty="0"/>
          </a:p>
          <a:p>
            <a:pPr algn="ctr" indent="0" marL="0">
              <a:buNone/>
            </a:pPr>
            <a:r>
              <a:rPr lang="en-US" sz="1000" dirty="0">
                <a:solidFill>
                  <a:srgbClr val="90E0EF"/>
                </a:solidFill>
              </a:rPr>
              <a:t>violation records</a:t>
            </a:r>
            <a:endParaRPr lang="en-US" sz="1000" dirty="0"/>
          </a:p>
        </p:txBody>
      </p:sp>
      <p:sp>
        <p:nvSpPr>
          <p:cNvPr id="9" name="Shape 7"/>
          <p:cNvSpPr/>
          <p:nvPr/>
        </p:nvSpPr>
        <p:spPr>
          <a:xfrm>
            <a:off x="1883664" y="2651760"/>
            <a:ext cx="164592" cy="0"/>
          </a:xfrm>
          <a:prstGeom prst="line">
            <a:avLst/>
          </a:prstGeom>
          <a:noFill/>
          <a:ln w="31750">
            <a:solidFill>
              <a:srgbClr val="00B4D8"/>
            </a:solidFill>
            <a:prstDash val="solid"/>
            <a:tailEnd type="triangle"/>
          </a:ln>
        </p:spPr>
      </p:sp>
      <p:sp>
        <p:nvSpPr>
          <p:cNvPr id="10" name="Shape 8"/>
          <p:cNvSpPr/>
          <p:nvPr/>
        </p:nvSpPr>
        <p:spPr>
          <a:xfrm>
            <a:off x="2057400" y="1371600"/>
            <a:ext cx="1463040" cy="2560320"/>
          </a:xfrm>
          <a:prstGeom prst="roundRect">
            <a:avLst>
              <a:gd name="adj" fmla="val 7500"/>
            </a:avLst>
          </a:prstGeom>
          <a:solidFill>
            <a:srgbClr val="112240"/>
          </a:solidFill>
          <a:ln/>
          <a:effectLst>
            <a:outerShdw sx="100000" sy="100000" kx="0" ky="0" algn="bl" rotWithShape="0" blurRad="101600" dist="38100" dir="2700000">
              <a:srgbClr val="000000">
                <a:alpha val="12000"/>
              </a:srgbClr>
            </a:outerShdw>
          </a:effectLst>
        </p:spPr>
      </p:sp>
      <p:sp>
        <p:nvSpPr>
          <p:cNvPr id="11" name="Shape 9"/>
          <p:cNvSpPr/>
          <p:nvPr/>
        </p:nvSpPr>
        <p:spPr>
          <a:xfrm>
            <a:off x="2560320" y="1508760"/>
            <a:ext cx="457200" cy="457200"/>
          </a:xfrm>
          <a:prstGeom prst="ellipse">
            <a:avLst/>
          </a:prstGeom>
          <a:solidFill>
            <a:srgbClr val="00B4D8"/>
          </a:solidFill>
          <a:ln w="12700">
            <a:solidFill>
              <a:srgbClr val="00B4D8"/>
            </a:solidFill>
            <a:prstDash val="solid"/>
          </a:ln>
        </p:spPr>
      </p:sp>
      <p:sp>
        <p:nvSpPr>
          <p:cNvPr id="12" name="Text 10"/>
          <p:cNvSpPr/>
          <p:nvPr/>
        </p:nvSpPr>
        <p:spPr>
          <a:xfrm>
            <a:off x="2560320" y="1508760"/>
            <a:ext cx="457200" cy="457200"/>
          </a:xfrm>
          <a:prstGeom prst="rect">
            <a:avLst/>
          </a:prstGeom>
          <a:noFill/>
          <a:ln/>
        </p:spPr>
        <p:txBody>
          <a:bodyPr wrap="square" lIns="0" tIns="0" rIns="0" bIns="0" rtlCol="0" anchor="ctr"/>
          <a:lstStyle/>
          <a:p>
            <a:pPr algn="ctr" indent="0" marL="0">
              <a:buNone/>
            </a:pPr>
            <a:r>
              <a:rPr lang="en-US" sz="1400" b="1" dirty="0">
                <a:solidFill>
                  <a:srgbClr val="0A1628"/>
                </a:solidFill>
              </a:rPr>
              <a:t>2</a:t>
            </a:r>
            <a:endParaRPr lang="en-US" sz="1400" dirty="0"/>
          </a:p>
        </p:txBody>
      </p:sp>
      <p:sp>
        <p:nvSpPr>
          <p:cNvPr id="13" name="Text 11"/>
          <p:cNvSpPr/>
          <p:nvPr/>
        </p:nvSpPr>
        <p:spPr>
          <a:xfrm>
            <a:off x="2057400" y="2103120"/>
            <a:ext cx="1463040" cy="365760"/>
          </a:xfrm>
          <a:prstGeom prst="rect">
            <a:avLst/>
          </a:prstGeom>
          <a:noFill/>
          <a:ln/>
        </p:spPr>
        <p:txBody>
          <a:bodyPr wrap="square" lIns="0" tIns="0" rIns="0" bIns="0" rtlCol="0" anchor="ctr"/>
          <a:lstStyle/>
          <a:p>
            <a:pPr algn="ctr" indent="0" marL="0">
              <a:buNone/>
            </a:pPr>
            <a:r>
              <a:rPr lang="en-US" sz="1300" b="1" dirty="0">
                <a:solidFill>
                  <a:srgbClr val="FFFFFF"/>
                </a:solidFill>
              </a:rPr>
              <a:t>Cluster</a:t>
            </a:r>
            <a:endParaRPr lang="en-US" sz="1300" dirty="0"/>
          </a:p>
        </p:txBody>
      </p:sp>
      <p:sp>
        <p:nvSpPr>
          <p:cNvPr id="14" name="Text 12"/>
          <p:cNvSpPr/>
          <p:nvPr/>
        </p:nvSpPr>
        <p:spPr>
          <a:xfrm>
            <a:off x="2057400" y="2487168"/>
            <a:ext cx="1463040" cy="731520"/>
          </a:xfrm>
          <a:prstGeom prst="rect">
            <a:avLst/>
          </a:prstGeom>
          <a:noFill/>
          <a:ln/>
        </p:spPr>
        <p:txBody>
          <a:bodyPr wrap="square" lIns="0" tIns="0" rIns="0" bIns="0" rtlCol="0" anchor="ctr"/>
          <a:lstStyle/>
          <a:p>
            <a:pPr algn="ctr" indent="0" marL="0">
              <a:buNone/>
            </a:pPr>
            <a:r>
              <a:rPr lang="en-US" sz="1000" dirty="0">
                <a:solidFill>
                  <a:srgbClr val="90E0EF"/>
                </a:solidFill>
              </a:rPr>
              <a:t>DBSCAN finds</a:t>
            </a:r>
            <a:endParaRPr lang="en-US" sz="1000" dirty="0"/>
          </a:p>
          <a:p>
            <a:pPr algn="ctr" indent="0" marL="0">
              <a:buNone/>
            </a:pPr>
            <a:r>
              <a:rPr lang="en-US" sz="1000" dirty="0">
                <a:solidFill>
                  <a:srgbClr val="90E0EF"/>
                </a:solidFill>
              </a:rPr>
              <a:t>157 hotspot zones</a:t>
            </a:r>
            <a:endParaRPr lang="en-US" sz="1000" dirty="0"/>
          </a:p>
        </p:txBody>
      </p:sp>
      <p:sp>
        <p:nvSpPr>
          <p:cNvPr id="15" name="Shape 13"/>
          <p:cNvSpPr/>
          <p:nvPr/>
        </p:nvSpPr>
        <p:spPr>
          <a:xfrm>
            <a:off x="3529584" y="2651760"/>
            <a:ext cx="164592" cy="0"/>
          </a:xfrm>
          <a:prstGeom prst="line">
            <a:avLst/>
          </a:prstGeom>
          <a:noFill/>
          <a:ln w="31750">
            <a:solidFill>
              <a:srgbClr val="00B4D8"/>
            </a:solidFill>
            <a:prstDash val="solid"/>
            <a:tailEnd type="triangle"/>
          </a:ln>
        </p:spPr>
      </p:sp>
      <p:sp>
        <p:nvSpPr>
          <p:cNvPr id="16" name="Shape 14"/>
          <p:cNvSpPr/>
          <p:nvPr/>
        </p:nvSpPr>
        <p:spPr>
          <a:xfrm>
            <a:off x="3703320" y="1371600"/>
            <a:ext cx="1463040" cy="2560320"/>
          </a:xfrm>
          <a:prstGeom prst="roundRect">
            <a:avLst>
              <a:gd name="adj" fmla="val 7500"/>
            </a:avLst>
          </a:prstGeom>
          <a:solidFill>
            <a:srgbClr val="112240"/>
          </a:solidFill>
          <a:ln/>
          <a:effectLst>
            <a:outerShdw sx="100000" sy="100000" kx="0" ky="0" algn="bl" rotWithShape="0" blurRad="101600" dist="38100" dir="2700000">
              <a:srgbClr val="000000">
                <a:alpha val="12000"/>
              </a:srgbClr>
            </a:outerShdw>
          </a:effectLst>
        </p:spPr>
      </p:sp>
      <p:sp>
        <p:nvSpPr>
          <p:cNvPr id="17" name="Shape 15"/>
          <p:cNvSpPr/>
          <p:nvPr/>
        </p:nvSpPr>
        <p:spPr>
          <a:xfrm>
            <a:off x="4206240" y="1508760"/>
            <a:ext cx="457200" cy="457200"/>
          </a:xfrm>
          <a:prstGeom prst="ellipse">
            <a:avLst/>
          </a:prstGeom>
          <a:solidFill>
            <a:srgbClr val="00B4D8"/>
          </a:solidFill>
          <a:ln w="12700">
            <a:solidFill>
              <a:srgbClr val="00B4D8"/>
            </a:solidFill>
            <a:prstDash val="solid"/>
          </a:ln>
        </p:spPr>
      </p:sp>
      <p:sp>
        <p:nvSpPr>
          <p:cNvPr id="18" name="Text 16"/>
          <p:cNvSpPr/>
          <p:nvPr/>
        </p:nvSpPr>
        <p:spPr>
          <a:xfrm>
            <a:off x="4206240" y="1508760"/>
            <a:ext cx="457200" cy="457200"/>
          </a:xfrm>
          <a:prstGeom prst="rect">
            <a:avLst/>
          </a:prstGeom>
          <a:noFill/>
          <a:ln/>
        </p:spPr>
        <p:txBody>
          <a:bodyPr wrap="square" lIns="0" tIns="0" rIns="0" bIns="0" rtlCol="0" anchor="ctr"/>
          <a:lstStyle/>
          <a:p>
            <a:pPr algn="ctr" indent="0" marL="0">
              <a:buNone/>
            </a:pPr>
            <a:r>
              <a:rPr lang="en-US" sz="1400" b="1" dirty="0">
                <a:solidFill>
                  <a:srgbClr val="0A1628"/>
                </a:solidFill>
              </a:rPr>
              <a:t>3</a:t>
            </a:r>
            <a:endParaRPr lang="en-US" sz="1400" dirty="0"/>
          </a:p>
        </p:txBody>
      </p:sp>
      <p:sp>
        <p:nvSpPr>
          <p:cNvPr id="19" name="Text 17"/>
          <p:cNvSpPr/>
          <p:nvPr/>
        </p:nvSpPr>
        <p:spPr>
          <a:xfrm>
            <a:off x="3703320" y="2103120"/>
            <a:ext cx="1463040" cy="365760"/>
          </a:xfrm>
          <a:prstGeom prst="rect">
            <a:avLst/>
          </a:prstGeom>
          <a:noFill/>
          <a:ln/>
        </p:spPr>
        <p:txBody>
          <a:bodyPr wrap="square" lIns="0" tIns="0" rIns="0" bIns="0" rtlCol="0" anchor="ctr"/>
          <a:lstStyle/>
          <a:p>
            <a:pPr algn="ctr" indent="0" marL="0">
              <a:buNone/>
            </a:pPr>
            <a:r>
              <a:rPr lang="en-US" sz="1300" b="1" dirty="0">
                <a:solidFill>
                  <a:srgbClr val="FFFFFF"/>
                </a:solidFill>
              </a:rPr>
              <a:t>Engineer</a:t>
            </a:r>
            <a:endParaRPr lang="en-US" sz="1300" dirty="0"/>
          </a:p>
        </p:txBody>
      </p:sp>
      <p:sp>
        <p:nvSpPr>
          <p:cNvPr id="20" name="Text 18"/>
          <p:cNvSpPr/>
          <p:nvPr/>
        </p:nvSpPr>
        <p:spPr>
          <a:xfrm>
            <a:off x="3703320" y="2487168"/>
            <a:ext cx="1463040" cy="731520"/>
          </a:xfrm>
          <a:prstGeom prst="rect">
            <a:avLst/>
          </a:prstGeom>
          <a:noFill/>
          <a:ln/>
        </p:spPr>
        <p:txBody>
          <a:bodyPr wrap="square" lIns="0" tIns="0" rIns="0" bIns="0" rtlCol="0" anchor="ctr"/>
          <a:lstStyle/>
          <a:p>
            <a:pPr algn="ctr" indent="0" marL="0">
              <a:buNone/>
            </a:pPr>
            <a:r>
              <a:rPr lang="en-US" sz="1000" dirty="0">
                <a:solidFill>
                  <a:srgbClr val="90E0EF"/>
                </a:solidFill>
              </a:rPr>
              <a:t>Time, space &amp;</a:t>
            </a:r>
            <a:endParaRPr lang="en-US" sz="1000" dirty="0"/>
          </a:p>
          <a:p>
            <a:pPr algn="ctr" indent="0" marL="0">
              <a:buNone/>
            </a:pPr>
            <a:r>
              <a:rPr lang="en-US" sz="1000" dirty="0">
                <a:solidFill>
                  <a:srgbClr val="90E0EF"/>
                </a:solidFill>
              </a:rPr>
              <a:t>density features</a:t>
            </a:r>
            <a:endParaRPr lang="en-US" sz="1000" dirty="0"/>
          </a:p>
        </p:txBody>
      </p:sp>
      <p:sp>
        <p:nvSpPr>
          <p:cNvPr id="21" name="Shape 19"/>
          <p:cNvSpPr/>
          <p:nvPr/>
        </p:nvSpPr>
        <p:spPr>
          <a:xfrm>
            <a:off x="5175504" y="2651760"/>
            <a:ext cx="164592" cy="0"/>
          </a:xfrm>
          <a:prstGeom prst="line">
            <a:avLst/>
          </a:prstGeom>
          <a:noFill/>
          <a:ln w="31750">
            <a:solidFill>
              <a:srgbClr val="00B4D8"/>
            </a:solidFill>
            <a:prstDash val="solid"/>
            <a:tailEnd type="triangle"/>
          </a:ln>
        </p:spPr>
      </p:sp>
      <p:sp>
        <p:nvSpPr>
          <p:cNvPr id="22" name="Shape 20"/>
          <p:cNvSpPr/>
          <p:nvPr/>
        </p:nvSpPr>
        <p:spPr>
          <a:xfrm>
            <a:off x="5349240" y="1371600"/>
            <a:ext cx="1463040" cy="2560320"/>
          </a:xfrm>
          <a:prstGeom prst="roundRect">
            <a:avLst>
              <a:gd name="adj" fmla="val 7500"/>
            </a:avLst>
          </a:prstGeom>
          <a:solidFill>
            <a:srgbClr val="112240"/>
          </a:solidFill>
          <a:ln/>
          <a:effectLst>
            <a:outerShdw sx="100000" sy="100000" kx="0" ky="0" algn="bl" rotWithShape="0" blurRad="101600" dist="38100" dir="2700000">
              <a:srgbClr val="000000">
                <a:alpha val="12000"/>
              </a:srgbClr>
            </a:outerShdw>
          </a:effectLst>
        </p:spPr>
      </p:sp>
      <p:sp>
        <p:nvSpPr>
          <p:cNvPr id="23" name="Shape 21"/>
          <p:cNvSpPr/>
          <p:nvPr/>
        </p:nvSpPr>
        <p:spPr>
          <a:xfrm>
            <a:off x="5852160" y="1508760"/>
            <a:ext cx="457200" cy="457200"/>
          </a:xfrm>
          <a:prstGeom prst="ellipse">
            <a:avLst/>
          </a:prstGeom>
          <a:solidFill>
            <a:srgbClr val="00B4D8"/>
          </a:solidFill>
          <a:ln w="12700">
            <a:solidFill>
              <a:srgbClr val="00B4D8"/>
            </a:solidFill>
            <a:prstDash val="solid"/>
          </a:ln>
        </p:spPr>
      </p:sp>
      <p:sp>
        <p:nvSpPr>
          <p:cNvPr id="24" name="Text 22"/>
          <p:cNvSpPr/>
          <p:nvPr/>
        </p:nvSpPr>
        <p:spPr>
          <a:xfrm>
            <a:off x="5852160" y="1508760"/>
            <a:ext cx="457200" cy="457200"/>
          </a:xfrm>
          <a:prstGeom prst="rect">
            <a:avLst/>
          </a:prstGeom>
          <a:noFill/>
          <a:ln/>
        </p:spPr>
        <p:txBody>
          <a:bodyPr wrap="square" lIns="0" tIns="0" rIns="0" bIns="0" rtlCol="0" anchor="ctr"/>
          <a:lstStyle/>
          <a:p>
            <a:pPr algn="ctr" indent="0" marL="0">
              <a:buNone/>
            </a:pPr>
            <a:r>
              <a:rPr lang="en-US" sz="1400" b="1" dirty="0">
                <a:solidFill>
                  <a:srgbClr val="0A1628"/>
                </a:solidFill>
              </a:rPr>
              <a:t>4</a:t>
            </a:r>
            <a:endParaRPr lang="en-US" sz="1400" dirty="0"/>
          </a:p>
        </p:txBody>
      </p:sp>
      <p:sp>
        <p:nvSpPr>
          <p:cNvPr id="25" name="Text 23"/>
          <p:cNvSpPr/>
          <p:nvPr/>
        </p:nvSpPr>
        <p:spPr>
          <a:xfrm>
            <a:off x="5349240" y="2103120"/>
            <a:ext cx="1463040" cy="365760"/>
          </a:xfrm>
          <a:prstGeom prst="rect">
            <a:avLst/>
          </a:prstGeom>
          <a:noFill/>
          <a:ln/>
        </p:spPr>
        <p:txBody>
          <a:bodyPr wrap="square" lIns="0" tIns="0" rIns="0" bIns="0" rtlCol="0" anchor="ctr"/>
          <a:lstStyle/>
          <a:p>
            <a:pPr algn="ctr" indent="0" marL="0">
              <a:buNone/>
            </a:pPr>
            <a:r>
              <a:rPr lang="en-US" sz="1300" b="1" dirty="0">
                <a:solidFill>
                  <a:srgbClr val="FFFFFF"/>
                </a:solidFill>
              </a:rPr>
              <a:t>Score</a:t>
            </a:r>
            <a:endParaRPr lang="en-US" sz="1300" dirty="0"/>
          </a:p>
        </p:txBody>
      </p:sp>
      <p:sp>
        <p:nvSpPr>
          <p:cNvPr id="26" name="Text 24"/>
          <p:cNvSpPr/>
          <p:nvPr/>
        </p:nvSpPr>
        <p:spPr>
          <a:xfrm>
            <a:off x="5349240" y="2487168"/>
            <a:ext cx="1463040" cy="731520"/>
          </a:xfrm>
          <a:prstGeom prst="rect">
            <a:avLst/>
          </a:prstGeom>
          <a:noFill/>
          <a:ln/>
        </p:spPr>
        <p:txBody>
          <a:bodyPr wrap="square" lIns="0" tIns="0" rIns="0" bIns="0" rtlCol="0" anchor="ctr"/>
          <a:lstStyle/>
          <a:p>
            <a:pPr algn="ctr" indent="0" marL="0">
              <a:buNone/>
            </a:pPr>
            <a:r>
              <a:rPr lang="en-US" sz="1000" dirty="0">
                <a:solidFill>
                  <a:srgbClr val="90E0EF"/>
                </a:solidFill>
              </a:rPr>
              <a:t>LightGBM</a:t>
            </a:r>
            <a:endParaRPr lang="en-US" sz="1000" dirty="0"/>
          </a:p>
          <a:p>
            <a:pPr algn="ctr" indent="0" marL="0">
              <a:buNone/>
            </a:pPr>
            <a:r>
              <a:rPr lang="en-US" sz="1000" dirty="0">
                <a:solidFill>
                  <a:srgbClr val="90E0EF"/>
                </a:solidFill>
              </a:rPr>
              <a:t>Congestion Risk 0–100</a:t>
            </a:r>
            <a:endParaRPr lang="en-US" sz="1000" dirty="0"/>
          </a:p>
        </p:txBody>
      </p:sp>
      <p:sp>
        <p:nvSpPr>
          <p:cNvPr id="27" name="Shape 25"/>
          <p:cNvSpPr/>
          <p:nvPr/>
        </p:nvSpPr>
        <p:spPr>
          <a:xfrm>
            <a:off x="6821424" y="2651760"/>
            <a:ext cx="164592" cy="0"/>
          </a:xfrm>
          <a:prstGeom prst="line">
            <a:avLst/>
          </a:prstGeom>
          <a:noFill/>
          <a:ln w="31750">
            <a:solidFill>
              <a:srgbClr val="00B4D8"/>
            </a:solidFill>
            <a:prstDash val="solid"/>
            <a:tailEnd type="triangle"/>
          </a:ln>
        </p:spPr>
      </p:sp>
      <p:sp>
        <p:nvSpPr>
          <p:cNvPr id="28" name="Shape 26"/>
          <p:cNvSpPr/>
          <p:nvPr/>
        </p:nvSpPr>
        <p:spPr>
          <a:xfrm>
            <a:off x="6995160" y="1371600"/>
            <a:ext cx="1463040" cy="2560320"/>
          </a:xfrm>
          <a:prstGeom prst="roundRect">
            <a:avLst>
              <a:gd name="adj" fmla="val 7500"/>
            </a:avLst>
          </a:prstGeom>
          <a:solidFill>
            <a:srgbClr val="112240"/>
          </a:solidFill>
          <a:ln/>
          <a:effectLst>
            <a:outerShdw sx="100000" sy="100000" kx="0" ky="0" algn="bl" rotWithShape="0" blurRad="101600" dist="38100" dir="2700000">
              <a:srgbClr val="000000">
                <a:alpha val="12000"/>
              </a:srgbClr>
            </a:outerShdw>
          </a:effectLst>
        </p:spPr>
      </p:sp>
      <p:sp>
        <p:nvSpPr>
          <p:cNvPr id="29" name="Shape 27"/>
          <p:cNvSpPr/>
          <p:nvPr/>
        </p:nvSpPr>
        <p:spPr>
          <a:xfrm>
            <a:off x="7498080" y="1508760"/>
            <a:ext cx="457200" cy="457200"/>
          </a:xfrm>
          <a:prstGeom prst="ellipse">
            <a:avLst/>
          </a:prstGeom>
          <a:solidFill>
            <a:srgbClr val="00B4D8"/>
          </a:solidFill>
          <a:ln w="12700">
            <a:solidFill>
              <a:srgbClr val="00B4D8"/>
            </a:solidFill>
            <a:prstDash val="solid"/>
          </a:ln>
        </p:spPr>
      </p:sp>
      <p:sp>
        <p:nvSpPr>
          <p:cNvPr id="30" name="Text 28"/>
          <p:cNvSpPr/>
          <p:nvPr/>
        </p:nvSpPr>
        <p:spPr>
          <a:xfrm>
            <a:off x="7498080" y="1508760"/>
            <a:ext cx="457200" cy="457200"/>
          </a:xfrm>
          <a:prstGeom prst="rect">
            <a:avLst/>
          </a:prstGeom>
          <a:noFill/>
          <a:ln/>
        </p:spPr>
        <p:txBody>
          <a:bodyPr wrap="square" lIns="0" tIns="0" rIns="0" bIns="0" rtlCol="0" anchor="ctr"/>
          <a:lstStyle/>
          <a:p>
            <a:pPr algn="ctr" indent="0" marL="0">
              <a:buNone/>
            </a:pPr>
            <a:r>
              <a:rPr lang="en-US" sz="1400" b="1" dirty="0">
                <a:solidFill>
                  <a:srgbClr val="0A1628"/>
                </a:solidFill>
              </a:rPr>
              <a:t>5</a:t>
            </a:r>
            <a:endParaRPr lang="en-US" sz="1400" dirty="0"/>
          </a:p>
        </p:txBody>
      </p:sp>
      <p:sp>
        <p:nvSpPr>
          <p:cNvPr id="31" name="Text 29"/>
          <p:cNvSpPr/>
          <p:nvPr/>
        </p:nvSpPr>
        <p:spPr>
          <a:xfrm>
            <a:off x="6995160" y="2103120"/>
            <a:ext cx="1463040" cy="365760"/>
          </a:xfrm>
          <a:prstGeom prst="rect">
            <a:avLst/>
          </a:prstGeom>
          <a:noFill/>
          <a:ln/>
        </p:spPr>
        <p:txBody>
          <a:bodyPr wrap="square" lIns="0" tIns="0" rIns="0" bIns="0" rtlCol="0" anchor="ctr"/>
          <a:lstStyle/>
          <a:p>
            <a:pPr algn="ctr" indent="0" marL="0">
              <a:buNone/>
            </a:pPr>
            <a:r>
              <a:rPr lang="en-US" sz="1300" b="1" dirty="0">
                <a:solidFill>
                  <a:srgbClr val="FFFFFF"/>
                </a:solidFill>
              </a:rPr>
              <a:t>Deploy</a:t>
            </a:r>
            <a:endParaRPr lang="en-US" sz="1300" dirty="0"/>
          </a:p>
        </p:txBody>
      </p:sp>
      <p:sp>
        <p:nvSpPr>
          <p:cNvPr id="32" name="Text 30"/>
          <p:cNvSpPr/>
          <p:nvPr/>
        </p:nvSpPr>
        <p:spPr>
          <a:xfrm>
            <a:off x="6995160" y="2487168"/>
            <a:ext cx="1463040" cy="731520"/>
          </a:xfrm>
          <a:prstGeom prst="rect">
            <a:avLst/>
          </a:prstGeom>
          <a:noFill/>
          <a:ln/>
        </p:spPr>
        <p:txBody>
          <a:bodyPr wrap="square" lIns="0" tIns="0" rIns="0" bIns="0" rtlCol="0" anchor="ctr"/>
          <a:lstStyle/>
          <a:p>
            <a:pPr algn="ctr" indent="0" marL="0">
              <a:buNone/>
            </a:pPr>
            <a:r>
              <a:rPr lang="en-US" sz="1000" dirty="0">
                <a:solidFill>
                  <a:srgbClr val="90E0EF"/>
                </a:solidFill>
              </a:rPr>
              <a:t>Ranked map for</a:t>
            </a:r>
            <a:endParaRPr lang="en-US" sz="1000" dirty="0"/>
          </a:p>
          <a:p>
            <a:pPr algn="ctr" indent="0" marL="0">
              <a:buNone/>
            </a:pPr>
            <a:r>
              <a:rPr lang="en-US" sz="1000" dirty="0">
                <a:solidFill>
                  <a:srgbClr val="90E0EF"/>
                </a:solidFill>
              </a:rPr>
              <a:t>patrol dispatch</a:t>
            </a:r>
            <a:endParaRPr lang="en-US" sz="1000" dirty="0"/>
          </a:p>
        </p:txBody>
      </p:sp>
      <p:sp>
        <p:nvSpPr>
          <p:cNvPr id="33" name="Shape 31"/>
          <p:cNvSpPr/>
          <p:nvPr/>
        </p:nvSpPr>
        <p:spPr>
          <a:xfrm>
            <a:off x="457200" y="4114800"/>
            <a:ext cx="8229600" cy="777240"/>
          </a:xfrm>
          <a:prstGeom prst="roundRect">
            <a:avLst>
              <a:gd name="adj" fmla="val 11765"/>
            </a:avLst>
          </a:prstGeom>
          <a:solidFill>
            <a:srgbClr val="00B4D8">
              <a:alpha val="15000"/>
            </a:srgbClr>
          </a:solidFill>
          <a:ln/>
        </p:spPr>
      </p:sp>
      <p:sp>
        <p:nvSpPr>
          <p:cNvPr id="34" name="Text 32"/>
          <p:cNvSpPr/>
          <p:nvPr/>
        </p:nvSpPr>
        <p:spPr>
          <a:xfrm>
            <a:off x="548640" y="4160520"/>
            <a:ext cx="8046720" cy="685800"/>
          </a:xfrm>
          <a:prstGeom prst="rect">
            <a:avLst/>
          </a:prstGeom>
          <a:noFill/>
          <a:ln/>
        </p:spPr>
        <p:txBody>
          <a:bodyPr wrap="square" lIns="0" tIns="0" rIns="0" bIns="0" rtlCol="0" anchor="ctr"/>
          <a:lstStyle/>
          <a:p>
            <a:pPr indent="0" marL="0">
              <a:buNone/>
            </a:pPr>
            <a:r>
              <a:rPr lang="en-US" sz="1200" dirty="0">
                <a:solidFill>
                  <a:srgbClr val="FFFFFF"/>
                </a:solidFill>
              </a:rPr>
              <a:t>🎯  Output: A live Red / Orange / Yellow / Green map showing where to deploy patrol units RIGHT NOW to prevent gridlock</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3200" b="1" dirty="0">
                <a:solidFill>
                  <a:srgbClr val="0A1628"/>
                </a:solidFill>
              </a:rPr>
              <a:t>Dataset Overview</a:t>
            </a:r>
            <a:endParaRPr lang="en-US" sz="3200" dirty="0"/>
          </a:p>
        </p:txBody>
      </p:sp>
      <p:sp>
        <p:nvSpPr>
          <p:cNvPr id="3" name="Text 1"/>
          <p:cNvSpPr/>
          <p:nvPr/>
        </p:nvSpPr>
        <p:spPr>
          <a:xfrm>
            <a:off x="457200" y="841248"/>
            <a:ext cx="8229600" cy="347472"/>
          </a:xfrm>
          <a:prstGeom prst="rect">
            <a:avLst/>
          </a:prstGeom>
          <a:noFill/>
          <a:ln/>
        </p:spPr>
        <p:txBody>
          <a:bodyPr wrap="square" lIns="0" tIns="0" rIns="0" bIns="0" rtlCol="0" anchor="ctr"/>
          <a:lstStyle/>
          <a:p>
            <a:pPr indent="0" marL="0">
              <a:buNone/>
            </a:pPr>
            <a:r>
              <a:rPr lang="en-US" sz="1300" dirty="0">
                <a:solidFill>
                  <a:srgbClr val="8899AA"/>
                </a:solidFill>
              </a:rPr>
              <a:t>Real Bengaluru Traffic Police violation records — Nov 2023 to Apr 2024</a:t>
            </a:r>
            <a:endParaRPr lang="en-US" sz="1300" dirty="0"/>
          </a:p>
        </p:txBody>
      </p:sp>
      <p:sp>
        <p:nvSpPr>
          <p:cNvPr id="4" name="Shape 2"/>
          <p:cNvSpPr/>
          <p:nvPr/>
        </p:nvSpPr>
        <p:spPr>
          <a:xfrm>
            <a:off x="457200" y="1371600"/>
            <a:ext cx="1920240" cy="1188720"/>
          </a:xfrm>
          <a:prstGeom prst="roundRect">
            <a:avLst>
              <a:gd name="adj" fmla="val 7692"/>
            </a:avLst>
          </a:prstGeom>
          <a:solidFill>
            <a:srgbClr val="FFFFFF"/>
          </a:solidFill>
          <a:ln/>
          <a:effectLst>
            <a:outerShdw sx="100000" sy="100000" kx="0" ky="0" algn="bl" rotWithShape="0" blurRad="101600" dist="38100" dir="2700000">
              <a:srgbClr val="000000">
                <a:alpha val="12000"/>
              </a:srgbClr>
            </a:outerShdw>
          </a:effectLst>
        </p:spPr>
      </p:sp>
      <p:sp>
        <p:nvSpPr>
          <p:cNvPr id="5" name="Text 3"/>
          <p:cNvSpPr/>
          <p:nvPr/>
        </p:nvSpPr>
        <p:spPr>
          <a:xfrm>
            <a:off x="457200" y="1463040"/>
            <a:ext cx="1920240" cy="502920"/>
          </a:xfrm>
          <a:prstGeom prst="rect">
            <a:avLst/>
          </a:prstGeom>
          <a:noFill/>
          <a:ln/>
        </p:spPr>
        <p:txBody>
          <a:bodyPr wrap="square" lIns="0" tIns="0" rIns="0" bIns="0" rtlCol="0" anchor="ctr"/>
          <a:lstStyle/>
          <a:p>
            <a:pPr algn="ctr" indent="0" marL="0">
              <a:buNone/>
            </a:pPr>
            <a:r>
              <a:rPr lang="en-US" sz="2000" b="1" dirty="0">
                <a:solidFill>
                  <a:srgbClr val="00B4D8"/>
                </a:solidFill>
              </a:rPr>
              <a:t>298,445</a:t>
            </a:r>
            <a:endParaRPr lang="en-US" sz="2000" dirty="0"/>
          </a:p>
        </p:txBody>
      </p:sp>
      <p:sp>
        <p:nvSpPr>
          <p:cNvPr id="6" name="Text 4"/>
          <p:cNvSpPr/>
          <p:nvPr/>
        </p:nvSpPr>
        <p:spPr>
          <a:xfrm>
            <a:off x="457200" y="1993392"/>
            <a:ext cx="1920240" cy="320040"/>
          </a:xfrm>
          <a:prstGeom prst="rect">
            <a:avLst/>
          </a:prstGeom>
          <a:noFill/>
          <a:ln/>
        </p:spPr>
        <p:txBody>
          <a:bodyPr wrap="square" lIns="0" tIns="0" rIns="0" bIns="0" rtlCol="0" anchor="ctr"/>
          <a:lstStyle/>
          <a:p>
            <a:pPr algn="ctr" indent="0" marL="0">
              <a:buNone/>
            </a:pPr>
            <a:r>
              <a:rPr lang="en-US" sz="1100" dirty="0">
                <a:solidFill>
                  <a:srgbClr val="8899AA"/>
                </a:solidFill>
              </a:rPr>
              <a:t>Total Violations</a:t>
            </a:r>
            <a:endParaRPr lang="en-US" sz="1100" dirty="0"/>
          </a:p>
        </p:txBody>
      </p:sp>
      <p:sp>
        <p:nvSpPr>
          <p:cNvPr id="7" name="Shape 5"/>
          <p:cNvSpPr/>
          <p:nvPr/>
        </p:nvSpPr>
        <p:spPr>
          <a:xfrm>
            <a:off x="2606040" y="1371600"/>
            <a:ext cx="1920240" cy="1188720"/>
          </a:xfrm>
          <a:prstGeom prst="roundRect">
            <a:avLst>
              <a:gd name="adj" fmla="val 7692"/>
            </a:avLst>
          </a:prstGeom>
          <a:solidFill>
            <a:srgbClr val="FFFFFF"/>
          </a:solidFill>
          <a:ln/>
          <a:effectLst>
            <a:outerShdw sx="100000" sy="100000" kx="0" ky="0" algn="bl" rotWithShape="0" blurRad="101600" dist="38100" dir="2700000">
              <a:srgbClr val="000000">
                <a:alpha val="12000"/>
              </a:srgbClr>
            </a:outerShdw>
          </a:effectLst>
        </p:spPr>
      </p:sp>
      <p:sp>
        <p:nvSpPr>
          <p:cNvPr id="8" name="Text 6"/>
          <p:cNvSpPr/>
          <p:nvPr/>
        </p:nvSpPr>
        <p:spPr>
          <a:xfrm>
            <a:off x="2606040" y="1463040"/>
            <a:ext cx="1920240" cy="502920"/>
          </a:xfrm>
          <a:prstGeom prst="rect">
            <a:avLst/>
          </a:prstGeom>
          <a:noFill/>
          <a:ln/>
        </p:spPr>
        <p:txBody>
          <a:bodyPr wrap="square" lIns="0" tIns="0" rIns="0" bIns="0" rtlCol="0" anchor="ctr"/>
          <a:lstStyle/>
          <a:p>
            <a:pPr algn="ctr" indent="0" marL="0">
              <a:buNone/>
            </a:pPr>
            <a:r>
              <a:rPr lang="en-US" sz="2000" b="1" dirty="0">
                <a:solidFill>
                  <a:srgbClr val="7C3AED"/>
                </a:solidFill>
              </a:rPr>
              <a:t>6 Months</a:t>
            </a:r>
            <a:endParaRPr lang="en-US" sz="2000" dirty="0"/>
          </a:p>
        </p:txBody>
      </p:sp>
      <p:sp>
        <p:nvSpPr>
          <p:cNvPr id="9" name="Text 7"/>
          <p:cNvSpPr/>
          <p:nvPr/>
        </p:nvSpPr>
        <p:spPr>
          <a:xfrm>
            <a:off x="2606040" y="1993392"/>
            <a:ext cx="1920240" cy="320040"/>
          </a:xfrm>
          <a:prstGeom prst="rect">
            <a:avLst/>
          </a:prstGeom>
          <a:noFill/>
          <a:ln/>
        </p:spPr>
        <p:txBody>
          <a:bodyPr wrap="square" lIns="0" tIns="0" rIns="0" bIns="0" rtlCol="0" anchor="ctr"/>
          <a:lstStyle/>
          <a:p>
            <a:pPr algn="ctr" indent="0" marL="0">
              <a:buNone/>
            </a:pPr>
            <a:r>
              <a:rPr lang="en-US" sz="1100" dirty="0">
                <a:solidFill>
                  <a:srgbClr val="8899AA"/>
                </a:solidFill>
              </a:rPr>
              <a:t>Date Range</a:t>
            </a:r>
            <a:endParaRPr lang="en-US" sz="1100" dirty="0"/>
          </a:p>
        </p:txBody>
      </p:sp>
      <p:sp>
        <p:nvSpPr>
          <p:cNvPr id="10" name="Shape 8"/>
          <p:cNvSpPr/>
          <p:nvPr/>
        </p:nvSpPr>
        <p:spPr>
          <a:xfrm>
            <a:off x="4754880" y="1371600"/>
            <a:ext cx="1920240" cy="1188720"/>
          </a:xfrm>
          <a:prstGeom prst="roundRect">
            <a:avLst>
              <a:gd name="adj" fmla="val 7692"/>
            </a:avLst>
          </a:prstGeom>
          <a:solidFill>
            <a:srgbClr val="FFFFFF"/>
          </a:solidFill>
          <a:ln/>
          <a:effectLst>
            <a:outerShdw sx="100000" sy="100000" kx="0" ky="0" algn="bl" rotWithShape="0" blurRad="101600" dist="38100" dir="2700000">
              <a:srgbClr val="000000">
                <a:alpha val="12000"/>
              </a:srgbClr>
            </a:outerShdw>
          </a:effectLst>
        </p:spPr>
      </p:sp>
      <p:sp>
        <p:nvSpPr>
          <p:cNvPr id="11" name="Text 9"/>
          <p:cNvSpPr/>
          <p:nvPr/>
        </p:nvSpPr>
        <p:spPr>
          <a:xfrm>
            <a:off x="4754880" y="1463040"/>
            <a:ext cx="1920240" cy="502920"/>
          </a:xfrm>
          <a:prstGeom prst="rect">
            <a:avLst/>
          </a:prstGeom>
          <a:noFill/>
          <a:ln/>
        </p:spPr>
        <p:txBody>
          <a:bodyPr wrap="square" lIns="0" tIns="0" rIns="0" bIns="0" rtlCol="0" anchor="ctr"/>
          <a:lstStyle/>
          <a:p>
            <a:pPr algn="ctr" indent="0" marL="0">
              <a:buNone/>
            </a:pPr>
            <a:r>
              <a:rPr lang="en-US" sz="2000" b="1" dirty="0">
                <a:solidFill>
                  <a:srgbClr val="0891B2"/>
                </a:solidFill>
              </a:rPr>
              <a:t>24</a:t>
            </a:r>
            <a:endParaRPr lang="en-US" sz="2000" dirty="0"/>
          </a:p>
        </p:txBody>
      </p:sp>
      <p:sp>
        <p:nvSpPr>
          <p:cNvPr id="12" name="Text 10"/>
          <p:cNvSpPr/>
          <p:nvPr/>
        </p:nvSpPr>
        <p:spPr>
          <a:xfrm>
            <a:off x="4754880" y="1993392"/>
            <a:ext cx="1920240" cy="320040"/>
          </a:xfrm>
          <a:prstGeom prst="rect">
            <a:avLst/>
          </a:prstGeom>
          <a:noFill/>
          <a:ln/>
        </p:spPr>
        <p:txBody>
          <a:bodyPr wrap="square" lIns="0" tIns="0" rIns="0" bIns="0" rtlCol="0" anchor="ctr"/>
          <a:lstStyle/>
          <a:p>
            <a:pPr algn="ctr" indent="0" marL="0">
              <a:buNone/>
            </a:pPr>
            <a:r>
              <a:rPr lang="en-US" sz="1100" dirty="0">
                <a:solidFill>
                  <a:srgbClr val="8899AA"/>
                </a:solidFill>
              </a:rPr>
              <a:t>Data Columns</a:t>
            </a:r>
            <a:endParaRPr lang="en-US" sz="1100" dirty="0"/>
          </a:p>
        </p:txBody>
      </p:sp>
      <p:sp>
        <p:nvSpPr>
          <p:cNvPr id="13" name="Shape 11"/>
          <p:cNvSpPr/>
          <p:nvPr/>
        </p:nvSpPr>
        <p:spPr>
          <a:xfrm>
            <a:off x="6903720" y="1371600"/>
            <a:ext cx="1920240" cy="1188720"/>
          </a:xfrm>
          <a:prstGeom prst="roundRect">
            <a:avLst>
              <a:gd name="adj" fmla="val 7692"/>
            </a:avLst>
          </a:prstGeom>
          <a:solidFill>
            <a:srgbClr val="FFFFFF"/>
          </a:solidFill>
          <a:ln/>
          <a:effectLst>
            <a:outerShdw sx="100000" sy="100000" kx="0" ky="0" algn="bl" rotWithShape="0" blurRad="101600" dist="38100" dir="2700000">
              <a:srgbClr val="000000">
                <a:alpha val="12000"/>
              </a:srgbClr>
            </a:outerShdw>
          </a:effectLst>
        </p:spPr>
      </p:sp>
      <p:sp>
        <p:nvSpPr>
          <p:cNvPr id="14" name="Text 12"/>
          <p:cNvSpPr/>
          <p:nvPr/>
        </p:nvSpPr>
        <p:spPr>
          <a:xfrm>
            <a:off x="6903720" y="1463040"/>
            <a:ext cx="1920240" cy="502920"/>
          </a:xfrm>
          <a:prstGeom prst="rect">
            <a:avLst/>
          </a:prstGeom>
          <a:noFill/>
          <a:ln/>
        </p:spPr>
        <p:txBody>
          <a:bodyPr wrap="square" lIns="0" tIns="0" rIns="0" bIns="0" rtlCol="0" anchor="ctr"/>
          <a:lstStyle/>
          <a:p>
            <a:pPr algn="ctr" indent="0" marL="0">
              <a:buNone/>
            </a:pPr>
            <a:r>
              <a:rPr lang="en-US" sz="2000" b="1" dirty="0">
                <a:solidFill>
                  <a:srgbClr val="059669"/>
                </a:solidFill>
              </a:rPr>
              <a:t>Bengaluru</a:t>
            </a:r>
            <a:endParaRPr lang="en-US" sz="2000" dirty="0"/>
          </a:p>
        </p:txBody>
      </p:sp>
      <p:sp>
        <p:nvSpPr>
          <p:cNvPr id="15" name="Text 13"/>
          <p:cNvSpPr/>
          <p:nvPr/>
        </p:nvSpPr>
        <p:spPr>
          <a:xfrm>
            <a:off x="6903720" y="1993392"/>
            <a:ext cx="1920240" cy="320040"/>
          </a:xfrm>
          <a:prstGeom prst="rect">
            <a:avLst/>
          </a:prstGeom>
          <a:noFill/>
          <a:ln/>
        </p:spPr>
        <p:txBody>
          <a:bodyPr wrap="square" lIns="0" tIns="0" rIns="0" bIns="0" rtlCol="0" anchor="ctr"/>
          <a:lstStyle/>
          <a:p>
            <a:pPr algn="ctr" indent="0" marL="0">
              <a:buNone/>
            </a:pPr>
            <a:r>
              <a:rPr lang="en-US" sz="1100" dirty="0">
                <a:solidFill>
                  <a:srgbClr val="8899AA"/>
                </a:solidFill>
              </a:rPr>
              <a:t>City Coverage</a:t>
            </a:r>
            <a:endParaRPr lang="en-US" sz="1100" dirty="0"/>
          </a:p>
        </p:txBody>
      </p:sp>
      <p:sp>
        <p:nvSpPr>
          <p:cNvPr id="16" name="Text 14"/>
          <p:cNvSpPr/>
          <p:nvPr/>
        </p:nvSpPr>
        <p:spPr>
          <a:xfrm>
            <a:off x="457200" y="2743200"/>
            <a:ext cx="3931920" cy="347472"/>
          </a:xfrm>
          <a:prstGeom prst="rect">
            <a:avLst/>
          </a:prstGeom>
          <a:noFill/>
          <a:ln/>
        </p:spPr>
        <p:txBody>
          <a:bodyPr wrap="square" lIns="0" tIns="0" rIns="0" bIns="0" rtlCol="0" anchor="ctr"/>
          <a:lstStyle/>
          <a:p>
            <a:pPr indent="0" marL="0">
              <a:buNone/>
            </a:pPr>
            <a:r>
              <a:rPr lang="en-US" sz="1500" b="1" dirty="0">
                <a:solidFill>
                  <a:srgbClr val="0A1628"/>
                </a:solidFill>
              </a:rPr>
              <a:t>Key Columns Used</a:t>
            </a:r>
            <a:endParaRPr lang="en-US" sz="1500" dirty="0"/>
          </a:p>
        </p:txBody>
      </p:sp>
      <p:sp>
        <p:nvSpPr>
          <p:cNvPr id="17" name="Text 15"/>
          <p:cNvSpPr/>
          <p:nvPr/>
        </p:nvSpPr>
        <p:spPr>
          <a:xfrm>
            <a:off x="457200" y="3154680"/>
            <a:ext cx="3931920" cy="1737360"/>
          </a:xfrm>
          <a:prstGeom prst="rect">
            <a:avLst/>
          </a:prstGeom>
          <a:noFill/>
          <a:ln/>
        </p:spPr>
        <p:txBody>
          <a:bodyPr wrap="square" lIns="0" tIns="0" rIns="0" bIns="0" rtlCol="0" anchor="ctr"/>
          <a:lstStyle/>
          <a:p>
            <a:pPr marL="342900" indent="-342900">
              <a:buSzPct val="100000"/>
              <a:buChar char="•"/>
            </a:pPr>
            <a:r>
              <a:rPr lang="en-US" sz="1200" dirty="0">
                <a:solidFill>
                  <a:srgbClr val="8899AA"/>
                </a:solidFill>
              </a:rPr>
              <a:t>latitude / longitude — GPS coordinates of each violation</a:t>
            </a:r>
            <a:endParaRPr lang="en-US" sz="1200" dirty="0"/>
          </a:p>
          <a:p>
            <a:pPr marL="342900" indent="-342900">
              <a:buSzPct val="100000"/>
              <a:buChar char="•"/>
            </a:pPr>
            <a:r>
              <a:rPr lang="en-US" sz="1200" dirty="0">
                <a:solidFill>
                  <a:srgbClr val="8899AA"/>
                </a:solidFill>
              </a:rPr>
              <a:t>created_datetime — timestamp for temporal analysis</a:t>
            </a:r>
            <a:endParaRPr lang="en-US" sz="1200" dirty="0"/>
          </a:p>
          <a:p>
            <a:pPr marL="342900" indent="-342900">
              <a:buSzPct val="100000"/>
              <a:buChar char="•"/>
            </a:pPr>
            <a:r>
              <a:rPr lang="en-US" sz="1200" dirty="0">
                <a:solidFill>
                  <a:srgbClr val="8899AA"/>
                </a:solidFill>
              </a:rPr>
              <a:t>violation_type — type of parking offence</a:t>
            </a:r>
            <a:endParaRPr lang="en-US" sz="1200" dirty="0"/>
          </a:p>
          <a:p>
            <a:pPr marL="342900" indent="-342900">
              <a:buSzPct val="100000"/>
              <a:buChar char="•"/>
            </a:pPr>
            <a:r>
              <a:rPr lang="en-US" sz="1200" dirty="0">
                <a:solidFill>
                  <a:srgbClr val="8899AA"/>
                </a:solidFill>
              </a:rPr>
              <a:t>location — street / area name</a:t>
            </a:r>
            <a:endParaRPr lang="en-US" sz="1200" dirty="0"/>
          </a:p>
          <a:p>
            <a:pPr marL="342900" indent="-342900">
              <a:buSzPct val="100000"/>
              <a:buChar char="•"/>
            </a:pPr>
            <a:r>
              <a:rPr lang="en-US" sz="1200" dirty="0">
                <a:solidFill>
                  <a:srgbClr val="8899AA"/>
                </a:solidFill>
              </a:rPr>
              <a:t>vehicle_type — CAR, SCOOTER, TANKER etc.</a:t>
            </a:r>
            <a:endParaRPr lang="en-US" sz="1200" dirty="0"/>
          </a:p>
        </p:txBody>
      </p:sp>
      <p:sp>
        <p:nvSpPr>
          <p:cNvPr id="18" name="Text 16"/>
          <p:cNvSpPr/>
          <p:nvPr/>
        </p:nvSpPr>
        <p:spPr>
          <a:xfrm>
            <a:off x="4572000" y="2743200"/>
            <a:ext cx="4114800" cy="347472"/>
          </a:xfrm>
          <a:prstGeom prst="rect">
            <a:avLst/>
          </a:prstGeom>
          <a:noFill/>
          <a:ln/>
        </p:spPr>
        <p:txBody>
          <a:bodyPr wrap="square" lIns="0" tIns="0" rIns="0" bIns="0" rtlCol="0" anchor="ctr"/>
          <a:lstStyle/>
          <a:p>
            <a:pPr indent="0" marL="0">
              <a:buNone/>
            </a:pPr>
            <a:r>
              <a:rPr lang="en-US" sz="1500" b="1" dirty="0">
                <a:solidFill>
                  <a:srgbClr val="0A1628"/>
                </a:solidFill>
              </a:rPr>
              <a:t>Top Vehicle Types in Violations</a:t>
            </a:r>
            <a:endParaRPr lang="en-US" sz="1500" dirty="0"/>
          </a:p>
        </p:txBody>
      </p:sp>
      <p:graphicFrame>
        <p:nvGraphicFramePr>
          <p:cNvPr id="19" name="Chart 0" descr=""/>
          <p:cNvGraphicFramePr/>
          <p:nvPr/>
        </p:nvGraphicFramePr>
        <p:xfrm>
          <a:off x="4480560" y="3127248"/>
          <a:ext cx="4206240" cy="178308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3200" b="1" dirty="0">
                <a:solidFill>
                  <a:srgbClr val="0A1628"/>
                </a:solidFill>
              </a:rPr>
              <a:t>When Do Violations Peak?</a:t>
            </a:r>
            <a:endParaRPr lang="en-US" sz="3200" dirty="0"/>
          </a:p>
        </p:txBody>
      </p:sp>
      <p:sp>
        <p:nvSpPr>
          <p:cNvPr id="3" name="Text 1"/>
          <p:cNvSpPr/>
          <p:nvPr/>
        </p:nvSpPr>
        <p:spPr>
          <a:xfrm>
            <a:off x="457200" y="841248"/>
            <a:ext cx="8229600" cy="347472"/>
          </a:xfrm>
          <a:prstGeom prst="rect">
            <a:avLst/>
          </a:prstGeom>
          <a:noFill/>
          <a:ln/>
        </p:spPr>
        <p:txBody>
          <a:bodyPr wrap="square" lIns="0" tIns="0" rIns="0" bIns="0" rtlCol="0" anchor="ctr"/>
          <a:lstStyle/>
          <a:p>
            <a:pPr indent="0" marL="0">
              <a:buNone/>
            </a:pPr>
            <a:r>
              <a:rPr lang="en-US" sz="1300" dirty="0">
                <a:solidFill>
                  <a:srgbClr val="8899AA"/>
                </a:solidFill>
              </a:rPr>
              <a:t>Temporal analysis reveals when enforcement resources are most needed</a:t>
            </a:r>
            <a:endParaRPr lang="en-US" sz="1300" dirty="0"/>
          </a:p>
        </p:txBody>
      </p:sp>
      <p:sp>
        <p:nvSpPr>
          <p:cNvPr id="4" name="Text 2"/>
          <p:cNvSpPr/>
          <p:nvPr/>
        </p:nvSpPr>
        <p:spPr>
          <a:xfrm>
            <a:off x="457200" y="1280160"/>
            <a:ext cx="4114800" cy="320040"/>
          </a:xfrm>
          <a:prstGeom prst="rect">
            <a:avLst/>
          </a:prstGeom>
          <a:noFill/>
          <a:ln/>
        </p:spPr>
        <p:txBody>
          <a:bodyPr wrap="square" lIns="0" tIns="0" rIns="0" bIns="0" rtlCol="0" anchor="ctr"/>
          <a:lstStyle/>
          <a:p>
            <a:pPr indent="0" marL="0">
              <a:buNone/>
            </a:pPr>
            <a:r>
              <a:rPr lang="en-US" sz="1300" b="1" dirty="0">
                <a:solidFill>
                  <a:srgbClr val="0A1628"/>
                </a:solidFill>
              </a:rPr>
              <a:t>Violations by Hour of Day</a:t>
            </a:r>
            <a:endParaRPr lang="en-US" sz="1300" dirty="0"/>
          </a:p>
        </p:txBody>
      </p:sp>
      <p:graphicFrame>
        <p:nvGraphicFramePr>
          <p:cNvPr id="5" name="Chart 0" descr=""/>
          <p:cNvGraphicFramePr/>
          <p:nvPr/>
        </p:nvGraphicFramePr>
        <p:xfrm>
          <a:off x="457200" y="1645920"/>
          <a:ext cx="4114800" cy="219456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4754880" y="1280160"/>
            <a:ext cx="3931920" cy="320040"/>
          </a:xfrm>
          <a:prstGeom prst="rect">
            <a:avLst/>
          </a:prstGeom>
          <a:noFill/>
          <a:ln/>
        </p:spPr>
        <p:txBody>
          <a:bodyPr wrap="square" lIns="0" tIns="0" rIns="0" bIns="0" rtlCol="0" anchor="ctr"/>
          <a:lstStyle/>
          <a:p>
            <a:pPr indent="0" marL="0">
              <a:buNone/>
            </a:pPr>
            <a:r>
              <a:rPr lang="en-US" sz="1300" b="1" dirty="0">
                <a:solidFill>
                  <a:srgbClr val="0A1628"/>
                </a:solidFill>
              </a:rPr>
              <a:t>Violations by Day of Week</a:t>
            </a:r>
            <a:endParaRPr lang="en-US" sz="1300" dirty="0"/>
          </a:p>
        </p:txBody>
      </p:sp>
      <p:graphicFrame>
        <p:nvGraphicFramePr>
          <p:cNvPr id="7" name="Chart 1" descr=""/>
          <p:cNvGraphicFramePr/>
          <p:nvPr/>
        </p:nvGraphicFramePr>
        <p:xfrm>
          <a:off x="4754880" y="1645920"/>
          <a:ext cx="3931920" cy="2194560"/>
        </p:xfrm>
        <a:graphic xmlns:a="http://schemas.openxmlformats.org/drawingml/2006/main">
          <a:graphicData uri="http://schemas.openxmlformats.org/drawingml/2006/chart">
            <c:chart xmlns:c="http://schemas.openxmlformats.org/drawingml/2006/chart" r:id="rId2"/>
          </a:graphicData>
        </a:graphic>
      </p:graphicFrame>
      <p:sp>
        <p:nvSpPr>
          <p:cNvPr id="8" name="Text 4"/>
          <p:cNvSpPr/>
          <p:nvPr/>
        </p:nvSpPr>
        <p:spPr>
          <a:xfrm>
            <a:off x="457200" y="3977640"/>
            <a:ext cx="3931920" cy="411480"/>
          </a:xfrm>
          <a:prstGeom prst="rect">
            <a:avLst/>
          </a:prstGeom>
          <a:noFill/>
          <a:ln/>
        </p:spPr>
        <p:txBody>
          <a:bodyPr wrap="square" lIns="0" tIns="0" rIns="0" bIns="0" rtlCol="0" anchor="ctr"/>
          <a:lstStyle/>
          <a:p>
            <a:pPr indent="0" marL="0">
              <a:buNone/>
            </a:pPr>
            <a:r>
              <a:rPr lang="en-US" sz="1100" dirty="0">
                <a:solidFill>
                  <a:srgbClr val="0A1628"/>
                </a:solidFill>
              </a:rPr>
              <a:t>🕐  Peak hour: 5:00 AM — early morning no-parking zones most violated</a:t>
            </a:r>
            <a:endParaRPr lang="en-US" sz="1100" dirty="0"/>
          </a:p>
        </p:txBody>
      </p:sp>
      <p:sp>
        <p:nvSpPr>
          <p:cNvPr id="9" name="Text 5"/>
          <p:cNvSpPr/>
          <p:nvPr/>
        </p:nvSpPr>
        <p:spPr>
          <a:xfrm>
            <a:off x="457200" y="4480560"/>
            <a:ext cx="3931920" cy="411480"/>
          </a:xfrm>
          <a:prstGeom prst="rect">
            <a:avLst/>
          </a:prstGeom>
          <a:noFill/>
          <a:ln/>
        </p:spPr>
        <p:txBody>
          <a:bodyPr wrap="square" lIns="0" tIns="0" rIns="0" bIns="0" rtlCol="0" anchor="ctr"/>
          <a:lstStyle/>
          <a:p>
            <a:pPr indent="0" marL="0">
              <a:buNone/>
            </a:pPr>
            <a:r>
              <a:rPr lang="en-US" sz="1100" dirty="0">
                <a:solidFill>
                  <a:srgbClr val="0A1628"/>
                </a:solidFill>
              </a:rPr>
              <a:t>📅  Peak day: Sunday — weekend commercial activity drives violations</a:t>
            </a:r>
            <a:endParaRPr lang="en-US" sz="1100" dirty="0"/>
          </a:p>
        </p:txBody>
      </p:sp>
      <p:sp>
        <p:nvSpPr>
          <p:cNvPr id="10" name="Text 6"/>
          <p:cNvSpPr/>
          <p:nvPr/>
        </p:nvSpPr>
        <p:spPr>
          <a:xfrm>
            <a:off x="4754880" y="3977640"/>
            <a:ext cx="3931920" cy="411480"/>
          </a:xfrm>
          <a:prstGeom prst="rect">
            <a:avLst/>
          </a:prstGeom>
          <a:noFill/>
          <a:ln/>
        </p:spPr>
        <p:txBody>
          <a:bodyPr wrap="square" lIns="0" tIns="0" rIns="0" bIns="0" rtlCol="0" anchor="ctr"/>
          <a:lstStyle/>
          <a:p>
            <a:pPr indent="0" marL="0">
              <a:buNone/>
            </a:pPr>
            <a:r>
              <a:rPr lang="en-US" sz="1100" dirty="0">
                <a:solidFill>
                  <a:srgbClr val="0A1628"/>
                </a:solidFill>
              </a:rPr>
              <a:t>⚡  17.5% of all violations happen during peak traffic hours</a:t>
            </a:r>
            <a:endParaRPr lang="en-US" sz="1100" dirty="0"/>
          </a:p>
        </p:txBody>
      </p:sp>
      <p:sp>
        <p:nvSpPr>
          <p:cNvPr id="11" name="Text 7"/>
          <p:cNvSpPr/>
          <p:nvPr/>
        </p:nvSpPr>
        <p:spPr>
          <a:xfrm>
            <a:off x="4754880" y="4480560"/>
            <a:ext cx="3931920" cy="411480"/>
          </a:xfrm>
          <a:prstGeom prst="rect">
            <a:avLst/>
          </a:prstGeom>
          <a:noFill/>
          <a:ln/>
        </p:spPr>
        <p:txBody>
          <a:bodyPr wrap="square" lIns="0" tIns="0" rIns="0" bIns="0" rtlCol="0" anchor="ctr"/>
          <a:lstStyle/>
          <a:p>
            <a:pPr indent="0" marL="0">
              <a:buNone/>
            </a:pPr>
            <a:r>
              <a:rPr lang="en-US" sz="1100" dirty="0">
                <a:solidFill>
                  <a:srgbClr val="0A1628"/>
                </a:solidFill>
              </a:rPr>
              <a:t>🔁  Cyclical encoding captures the time-of-day ring structure for the model</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3200" b="1" dirty="0">
                <a:solidFill>
                  <a:srgbClr val="FFFFFF"/>
                </a:solidFill>
              </a:rPr>
              <a:t>Feature Engineering</a:t>
            </a:r>
            <a:endParaRPr lang="en-US" sz="3200" dirty="0"/>
          </a:p>
        </p:txBody>
      </p:sp>
      <p:sp>
        <p:nvSpPr>
          <p:cNvPr id="3" name="Text 1"/>
          <p:cNvSpPr/>
          <p:nvPr/>
        </p:nvSpPr>
        <p:spPr>
          <a:xfrm>
            <a:off x="457200" y="841248"/>
            <a:ext cx="8229600" cy="347472"/>
          </a:xfrm>
          <a:prstGeom prst="rect">
            <a:avLst/>
          </a:prstGeom>
          <a:noFill/>
          <a:ln/>
        </p:spPr>
        <p:txBody>
          <a:bodyPr wrap="square" lIns="0" tIns="0" rIns="0" bIns="0" rtlCol="0" anchor="ctr"/>
          <a:lstStyle/>
          <a:p>
            <a:pPr indent="0" marL="0">
              <a:buNone/>
            </a:pPr>
            <a:r>
              <a:rPr lang="en-US" sz="1300" dirty="0">
                <a:solidFill>
                  <a:srgbClr val="90E0EF"/>
                </a:solidFill>
              </a:rPr>
              <a:t>Teaching the AI about time cycles and geography</a:t>
            </a:r>
            <a:endParaRPr lang="en-US" sz="1300" dirty="0"/>
          </a:p>
        </p:txBody>
      </p:sp>
      <p:sp>
        <p:nvSpPr>
          <p:cNvPr id="4" name="Shape 2"/>
          <p:cNvSpPr/>
          <p:nvPr/>
        </p:nvSpPr>
        <p:spPr>
          <a:xfrm>
            <a:off x="457200" y="1325880"/>
            <a:ext cx="4114800" cy="1554480"/>
          </a:xfrm>
          <a:prstGeom prst="roundRect">
            <a:avLst>
              <a:gd name="adj" fmla="val 7059"/>
            </a:avLst>
          </a:prstGeom>
          <a:solidFill>
            <a:srgbClr val="112240"/>
          </a:solidFill>
          <a:ln/>
          <a:effectLst>
            <a:outerShdw sx="100000" sy="100000" kx="0" ky="0" algn="bl" rotWithShape="0" blurRad="101600" dist="38100" dir="2700000">
              <a:srgbClr val="000000">
                <a:alpha val="12000"/>
              </a:srgbClr>
            </a:outerShdw>
          </a:effectLst>
        </p:spPr>
      </p:sp>
      <p:sp>
        <p:nvSpPr>
          <p:cNvPr id="5" name="Shape 3"/>
          <p:cNvSpPr/>
          <p:nvPr/>
        </p:nvSpPr>
        <p:spPr>
          <a:xfrm>
            <a:off x="621792" y="1463040"/>
            <a:ext cx="1371600" cy="256032"/>
          </a:xfrm>
          <a:prstGeom prst="roundRect">
            <a:avLst>
              <a:gd name="adj" fmla="val 14286"/>
            </a:avLst>
          </a:prstGeom>
          <a:solidFill>
            <a:srgbClr val="00B4D8">
              <a:alpha val="25000"/>
            </a:srgbClr>
          </a:solidFill>
          <a:ln/>
        </p:spPr>
      </p:sp>
      <p:sp>
        <p:nvSpPr>
          <p:cNvPr id="6" name="Text 4"/>
          <p:cNvSpPr/>
          <p:nvPr/>
        </p:nvSpPr>
        <p:spPr>
          <a:xfrm>
            <a:off x="621792" y="1463040"/>
            <a:ext cx="1371600" cy="256032"/>
          </a:xfrm>
          <a:prstGeom prst="rect">
            <a:avLst/>
          </a:prstGeom>
          <a:noFill/>
          <a:ln/>
        </p:spPr>
        <p:txBody>
          <a:bodyPr wrap="square" lIns="0" tIns="0" rIns="0" bIns="0" rtlCol="0" anchor="ctr"/>
          <a:lstStyle/>
          <a:p>
            <a:pPr algn="ctr" indent="0" marL="0">
              <a:buNone/>
            </a:pPr>
            <a:r>
              <a:rPr lang="en-US" sz="800" b="1" dirty="0">
                <a:solidFill>
                  <a:srgbClr val="00B4D8"/>
                </a:solidFill>
              </a:rPr>
              <a:t>Geotab Winning Technique</a:t>
            </a:r>
            <a:endParaRPr lang="en-US" sz="800" dirty="0"/>
          </a:p>
        </p:txBody>
      </p:sp>
      <p:sp>
        <p:nvSpPr>
          <p:cNvPr id="7" name="Text 5"/>
          <p:cNvSpPr/>
          <p:nvPr/>
        </p:nvSpPr>
        <p:spPr>
          <a:xfrm>
            <a:off x="621792" y="1764792"/>
            <a:ext cx="3749040" cy="320040"/>
          </a:xfrm>
          <a:prstGeom prst="rect">
            <a:avLst/>
          </a:prstGeom>
          <a:noFill/>
          <a:ln/>
        </p:spPr>
        <p:txBody>
          <a:bodyPr wrap="square" lIns="0" tIns="0" rIns="0" bIns="0" rtlCol="0" anchor="ctr"/>
          <a:lstStyle/>
          <a:p>
            <a:pPr indent="0" marL="0">
              <a:buNone/>
            </a:pPr>
            <a:r>
              <a:rPr lang="en-US" sz="1300" b="1" dirty="0">
                <a:solidFill>
                  <a:srgbClr val="FFFFFF"/>
                </a:solidFill>
              </a:rPr>
              <a:t>🕐 Cyclical Time Encoding</a:t>
            </a:r>
            <a:endParaRPr lang="en-US" sz="1300" dirty="0"/>
          </a:p>
        </p:txBody>
      </p:sp>
      <p:sp>
        <p:nvSpPr>
          <p:cNvPr id="8" name="Text 6"/>
          <p:cNvSpPr/>
          <p:nvPr/>
        </p:nvSpPr>
        <p:spPr>
          <a:xfrm>
            <a:off x="621792" y="2103120"/>
            <a:ext cx="3749040" cy="685800"/>
          </a:xfrm>
          <a:prstGeom prst="rect">
            <a:avLst/>
          </a:prstGeom>
          <a:noFill/>
          <a:ln/>
        </p:spPr>
        <p:txBody>
          <a:bodyPr wrap="square" lIns="0" tIns="0" rIns="0" bIns="0" rtlCol="0" anchor="ctr"/>
          <a:lstStyle/>
          <a:p>
            <a:pPr indent="0" marL="0">
              <a:buNone/>
            </a:pPr>
            <a:r>
              <a:rPr lang="en-US" sz="950" dirty="0">
                <a:solidFill>
                  <a:srgbClr val="90E0EF"/>
                </a:solidFill>
              </a:rPr>
              <a:t>Hours and days are periodic — 23:00 and 00:00 are neighbours, not opposites. We encode them as (sin, cos) pairs so the model grasps this circular structure.</a:t>
            </a:r>
            <a:endParaRPr lang="en-US" sz="950" dirty="0"/>
          </a:p>
          <a:p>
            <a:pPr indent="0" marL="0">
              <a:buNone/>
            </a:pPr>
            <a:endParaRPr lang="en-US" sz="950" dirty="0"/>
          </a:p>
          <a:p>
            <a:pPr indent="0" marL="0">
              <a:buNone/>
            </a:pPr>
            <a:r>
              <a:rPr lang="en-US" sz="950" dirty="0">
                <a:solidFill>
                  <a:srgbClr val="90E0EF"/>
                </a:solidFill>
              </a:rPr>
              <a:t>hour_sin = sin(2π × hour / 24)</a:t>
            </a:r>
            <a:endParaRPr lang="en-US" sz="950" dirty="0"/>
          </a:p>
          <a:p>
            <a:pPr indent="0" marL="0">
              <a:buNone/>
            </a:pPr>
            <a:r>
              <a:rPr lang="en-US" sz="950" dirty="0">
                <a:solidFill>
                  <a:srgbClr val="90E0EF"/>
                </a:solidFill>
              </a:rPr>
              <a:t>hour_cos = cos(2π × hour / 24)</a:t>
            </a:r>
            <a:endParaRPr lang="en-US" sz="950" dirty="0"/>
          </a:p>
        </p:txBody>
      </p:sp>
      <p:sp>
        <p:nvSpPr>
          <p:cNvPr id="9" name="Shape 7"/>
          <p:cNvSpPr/>
          <p:nvPr/>
        </p:nvSpPr>
        <p:spPr>
          <a:xfrm>
            <a:off x="4800600" y="1325880"/>
            <a:ext cx="4114800" cy="1554480"/>
          </a:xfrm>
          <a:prstGeom prst="roundRect">
            <a:avLst>
              <a:gd name="adj" fmla="val 7059"/>
            </a:avLst>
          </a:prstGeom>
          <a:solidFill>
            <a:srgbClr val="112240"/>
          </a:solidFill>
          <a:ln/>
          <a:effectLst>
            <a:outerShdw sx="100000" sy="100000" kx="0" ky="0" algn="bl" rotWithShape="0" blurRad="101600" dist="38100" dir="2700000">
              <a:srgbClr val="000000">
                <a:alpha val="12000"/>
              </a:srgbClr>
            </a:outerShdw>
          </a:effectLst>
        </p:spPr>
      </p:sp>
      <p:sp>
        <p:nvSpPr>
          <p:cNvPr id="10" name="Shape 8"/>
          <p:cNvSpPr/>
          <p:nvPr/>
        </p:nvSpPr>
        <p:spPr>
          <a:xfrm>
            <a:off x="4965192" y="1463040"/>
            <a:ext cx="1371600" cy="256032"/>
          </a:xfrm>
          <a:prstGeom prst="roundRect">
            <a:avLst>
              <a:gd name="adj" fmla="val 14286"/>
            </a:avLst>
          </a:prstGeom>
          <a:solidFill>
            <a:srgbClr val="7C3AED">
              <a:alpha val="25000"/>
            </a:srgbClr>
          </a:solidFill>
          <a:ln/>
        </p:spPr>
      </p:sp>
      <p:sp>
        <p:nvSpPr>
          <p:cNvPr id="11" name="Text 9"/>
          <p:cNvSpPr/>
          <p:nvPr/>
        </p:nvSpPr>
        <p:spPr>
          <a:xfrm>
            <a:off x="4965192" y="1463040"/>
            <a:ext cx="1371600" cy="256032"/>
          </a:xfrm>
          <a:prstGeom prst="rect">
            <a:avLst/>
          </a:prstGeom>
          <a:noFill/>
          <a:ln/>
        </p:spPr>
        <p:txBody>
          <a:bodyPr wrap="square" lIns="0" tIns="0" rIns="0" bIns="0" rtlCol="0" anchor="ctr"/>
          <a:lstStyle/>
          <a:p>
            <a:pPr algn="ctr" indent="0" marL="0">
              <a:buNone/>
            </a:pPr>
            <a:r>
              <a:rPr lang="en-US" sz="800" b="1" dirty="0">
                <a:solidFill>
                  <a:srgbClr val="7C3AED"/>
                </a:solidFill>
              </a:rPr>
              <a:t>Haversine Spatial Feature</a:t>
            </a:r>
            <a:endParaRPr lang="en-US" sz="800" dirty="0"/>
          </a:p>
        </p:txBody>
      </p:sp>
      <p:sp>
        <p:nvSpPr>
          <p:cNvPr id="12" name="Text 10"/>
          <p:cNvSpPr/>
          <p:nvPr/>
        </p:nvSpPr>
        <p:spPr>
          <a:xfrm>
            <a:off x="4965192" y="1764792"/>
            <a:ext cx="3749040" cy="320040"/>
          </a:xfrm>
          <a:prstGeom prst="rect">
            <a:avLst/>
          </a:prstGeom>
          <a:noFill/>
          <a:ln/>
        </p:spPr>
        <p:txBody>
          <a:bodyPr wrap="square" lIns="0" tIns="0" rIns="0" bIns="0" rtlCol="0" anchor="ctr"/>
          <a:lstStyle/>
          <a:p>
            <a:pPr indent="0" marL="0">
              <a:buNone/>
            </a:pPr>
            <a:r>
              <a:rPr lang="en-US" sz="1300" b="1" dirty="0">
                <a:solidFill>
                  <a:srgbClr val="FFFFFF"/>
                </a:solidFill>
              </a:rPr>
              <a:t>📍 Distance to City Centre</a:t>
            </a:r>
            <a:endParaRPr lang="en-US" sz="1300" dirty="0"/>
          </a:p>
        </p:txBody>
      </p:sp>
      <p:sp>
        <p:nvSpPr>
          <p:cNvPr id="13" name="Text 11"/>
          <p:cNvSpPr/>
          <p:nvPr/>
        </p:nvSpPr>
        <p:spPr>
          <a:xfrm>
            <a:off x="4965192" y="2103120"/>
            <a:ext cx="3749040" cy="685800"/>
          </a:xfrm>
          <a:prstGeom prst="rect">
            <a:avLst/>
          </a:prstGeom>
          <a:noFill/>
          <a:ln/>
        </p:spPr>
        <p:txBody>
          <a:bodyPr wrap="square" lIns="0" tIns="0" rIns="0" bIns="0" rtlCol="0" anchor="ctr"/>
          <a:lstStyle/>
          <a:p>
            <a:pPr indent="0" marL="0">
              <a:buNone/>
            </a:pPr>
            <a:r>
              <a:rPr lang="en-US" sz="950" dirty="0">
                <a:solidFill>
                  <a:srgbClr val="90E0EF"/>
                </a:solidFill>
              </a:rPr>
              <a:t>A blocked road downtown causes a much bigger ripple than one in the outskirts. We compute Haversine distance to the violation centroid (proxy for commercial hub) and bin into 5 ring zones: Core / 1km / 2km / 5km / Outer.</a:t>
            </a:r>
            <a:endParaRPr lang="en-US" sz="950" dirty="0"/>
          </a:p>
        </p:txBody>
      </p:sp>
      <p:sp>
        <p:nvSpPr>
          <p:cNvPr id="14" name="Shape 12"/>
          <p:cNvSpPr/>
          <p:nvPr/>
        </p:nvSpPr>
        <p:spPr>
          <a:xfrm>
            <a:off x="457200" y="3063240"/>
            <a:ext cx="4114800" cy="1554480"/>
          </a:xfrm>
          <a:prstGeom prst="roundRect">
            <a:avLst>
              <a:gd name="adj" fmla="val 7059"/>
            </a:avLst>
          </a:prstGeom>
          <a:solidFill>
            <a:srgbClr val="112240"/>
          </a:solidFill>
          <a:ln/>
          <a:effectLst>
            <a:outerShdw sx="100000" sy="100000" kx="0" ky="0" algn="bl" rotWithShape="0" blurRad="101600" dist="38100" dir="2700000">
              <a:srgbClr val="000000">
                <a:alpha val="12000"/>
              </a:srgbClr>
            </a:outerShdw>
          </a:effectLst>
        </p:spPr>
      </p:sp>
      <p:sp>
        <p:nvSpPr>
          <p:cNvPr id="15" name="Shape 13"/>
          <p:cNvSpPr/>
          <p:nvPr/>
        </p:nvSpPr>
        <p:spPr>
          <a:xfrm>
            <a:off x="621792" y="3200400"/>
            <a:ext cx="1371600" cy="256032"/>
          </a:xfrm>
          <a:prstGeom prst="roundRect">
            <a:avLst>
              <a:gd name="adj" fmla="val 14286"/>
            </a:avLst>
          </a:prstGeom>
          <a:solidFill>
            <a:srgbClr val="059669">
              <a:alpha val="25000"/>
            </a:srgbClr>
          </a:solidFill>
          <a:ln/>
        </p:spPr>
      </p:sp>
      <p:sp>
        <p:nvSpPr>
          <p:cNvPr id="16" name="Text 14"/>
          <p:cNvSpPr/>
          <p:nvPr/>
        </p:nvSpPr>
        <p:spPr>
          <a:xfrm>
            <a:off x="621792" y="3200400"/>
            <a:ext cx="1371600" cy="256032"/>
          </a:xfrm>
          <a:prstGeom prst="rect">
            <a:avLst/>
          </a:prstGeom>
          <a:noFill/>
          <a:ln/>
        </p:spPr>
        <p:txBody>
          <a:bodyPr wrap="square" lIns="0" tIns="0" rIns="0" bIns="0" rtlCol="0" anchor="ctr"/>
          <a:lstStyle/>
          <a:p>
            <a:pPr algn="ctr" indent="0" marL="0">
              <a:buNone/>
            </a:pPr>
            <a:r>
              <a:rPr lang="en-US" sz="800" b="1" dirty="0">
                <a:solidFill>
                  <a:srgbClr val="059669"/>
                </a:solidFill>
              </a:rPr>
              <a:t>Domain-Driven Binary Features</a:t>
            </a:r>
            <a:endParaRPr lang="en-US" sz="800" dirty="0"/>
          </a:p>
        </p:txBody>
      </p:sp>
      <p:sp>
        <p:nvSpPr>
          <p:cNvPr id="17" name="Text 15"/>
          <p:cNvSpPr/>
          <p:nvPr/>
        </p:nvSpPr>
        <p:spPr>
          <a:xfrm>
            <a:off x="621792" y="3502152"/>
            <a:ext cx="3749040" cy="320040"/>
          </a:xfrm>
          <a:prstGeom prst="rect">
            <a:avLst/>
          </a:prstGeom>
          <a:noFill/>
          <a:ln/>
        </p:spPr>
        <p:txBody>
          <a:bodyPr wrap="square" lIns="0" tIns="0" rIns="0" bIns="0" rtlCol="0" anchor="ctr"/>
          <a:lstStyle/>
          <a:p>
            <a:pPr indent="0" marL="0">
              <a:buNone/>
            </a:pPr>
            <a:r>
              <a:rPr lang="en-US" sz="1300" b="1" dirty="0">
                <a:solidFill>
                  <a:srgbClr val="FFFFFF"/>
                </a:solidFill>
              </a:rPr>
              <a:t>⚡ Peak Hour Flags</a:t>
            </a:r>
            <a:endParaRPr lang="en-US" sz="1300" dirty="0"/>
          </a:p>
        </p:txBody>
      </p:sp>
      <p:sp>
        <p:nvSpPr>
          <p:cNvPr id="18" name="Text 16"/>
          <p:cNvSpPr/>
          <p:nvPr/>
        </p:nvSpPr>
        <p:spPr>
          <a:xfrm>
            <a:off x="621792" y="3840480"/>
            <a:ext cx="3749040" cy="685800"/>
          </a:xfrm>
          <a:prstGeom prst="rect">
            <a:avLst/>
          </a:prstGeom>
          <a:noFill/>
          <a:ln/>
        </p:spPr>
        <p:txBody>
          <a:bodyPr wrap="square" lIns="0" tIns="0" rIns="0" bIns="0" rtlCol="0" anchor="ctr"/>
          <a:lstStyle/>
          <a:p>
            <a:pPr indent="0" marL="0">
              <a:buNone/>
            </a:pPr>
            <a:r>
              <a:rPr lang="en-US" sz="950" dirty="0">
                <a:solidFill>
                  <a:srgbClr val="90E0EF"/>
                </a:solidFill>
              </a:rPr>
              <a:t>Morning peak: 7–10 AM</a:t>
            </a:r>
            <a:endParaRPr lang="en-US" sz="950" dirty="0"/>
          </a:p>
          <a:p>
            <a:pPr indent="0" marL="0">
              <a:buNone/>
            </a:pPr>
            <a:r>
              <a:rPr lang="en-US" sz="950" dirty="0">
                <a:solidFill>
                  <a:srgbClr val="90E0EF"/>
                </a:solidFill>
              </a:rPr>
              <a:t>Evening peak: 5–8 PM</a:t>
            </a:r>
            <a:endParaRPr lang="en-US" sz="950" dirty="0"/>
          </a:p>
          <a:p>
            <a:pPr indent="0" marL="0">
              <a:buNone/>
            </a:pPr>
            <a:endParaRPr lang="en-US" sz="950" dirty="0"/>
          </a:p>
          <a:p>
            <a:pPr indent="0" marL="0">
              <a:buNone/>
            </a:pPr>
            <a:r>
              <a:rPr lang="en-US" sz="950" dirty="0">
                <a:solidFill>
                  <a:srgbClr val="90E0EF"/>
                </a:solidFill>
              </a:rPr>
              <a:t>is_peak_hour = 1 if violation falls in either window — used as a direct feature and in the CRS formula weight.</a:t>
            </a:r>
            <a:endParaRPr lang="en-US" sz="950" dirty="0"/>
          </a:p>
        </p:txBody>
      </p:sp>
      <p:sp>
        <p:nvSpPr>
          <p:cNvPr id="19" name="Shape 17"/>
          <p:cNvSpPr/>
          <p:nvPr/>
        </p:nvSpPr>
        <p:spPr>
          <a:xfrm>
            <a:off x="4800600" y="3063240"/>
            <a:ext cx="4114800" cy="1554480"/>
          </a:xfrm>
          <a:prstGeom prst="roundRect">
            <a:avLst>
              <a:gd name="adj" fmla="val 7059"/>
            </a:avLst>
          </a:prstGeom>
          <a:solidFill>
            <a:srgbClr val="112240"/>
          </a:solidFill>
          <a:ln/>
          <a:effectLst>
            <a:outerShdw sx="100000" sy="100000" kx="0" ky="0" algn="bl" rotWithShape="0" blurRad="101600" dist="38100" dir="2700000">
              <a:srgbClr val="000000">
                <a:alpha val="12000"/>
              </a:srgbClr>
            </a:outerShdw>
          </a:effectLst>
        </p:spPr>
      </p:sp>
      <p:sp>
        <p:nvSpPr>
          <p:cNvPr id="20" name="Shape 18"/>
          <p:cNvSpPr/>
          <p:nvPr/>
        </p:nvSpPr>
        <p:spPr>
          <a:xfrm>
            <a:off x="4965192" y="3200400"/>
            <a:ext cx="1371600" cy="256032"/>
          </a:xfrm>
          <a:prstGeom prst="roundRect">
            <a:avLst>
              <a:gd name="adj" fmla="val 14286"/>
            </a:avLst>
          </a:prstGeom>
          <a:solidFill>
            <a:srgbClr val="F97316">
              <a:alpha val="25000"/>
            </a:srgbClr>
          </a:solidFill>
          <a:ln/>
        </p:spPr>
      </p:sp>
      <p:sp>
        <p:nvSpPr>
          <p:cNvPr id="21" name="Text 19"/>
          <p:cNvSpPr/>
          <p:nvPr/>
        </p:nvSpPr>
        <p:spPr>
          <a:xfrm>
            <a:off x="4965192" y="3200400"/>
            <a:ext cx="1371600" cy="256032"/>
          </a:xfrm>
          <a:prstGeom prst="rect">
            <a:avLst/>
          </a:prstGeom>
          <a:noFill/>
          <a:ln/>
        </p:spPr>
        <p:txBody>
          <a:bodyPr wrap="square" lIns="0" tIns="0" rIns="0" bIns="0" rtlCol="0" anchor="ctr"/>
          <a:lstStyle/>
          <a:p>
            <a:pPr algn="ctr" indent="0" marL="0">
              <a:buNone/>
            </a:pPr>
            <a:r>
              <a:rPr lang="en-US" sz="800" b="1" dirty="0">
                <a:solidFill>
                  <a:srgbClr val="F97316"/>
                </a:solidFill>
              </a:rPr>
              <a:t>Cluster-Level Statistics</a:t>
            </a:r>
            <a:endParaRPr lang="en-US" sz="800" dirty="0"/>
          </a:p>
        </p:txBody>
      </p:sp>
      <p:sp>
        <p:nvSpPr>
          <p:cNvPr id="22" name="Text 20"/>
          <p:cNvSpPr/>
          <p:nvPr/>
        </p:nvSpPr>
        <p:spPr>
          <a:xfrm>
            <a:off x="4965192" y="3502152"/>
            <a:ext cx="3749040" cy="320040"/>
          </a:xfrm>
          <a:prstGeom prst="rect">
            <a:avLst/>
          </a:prstGeom>
          <a:noFill/>
          <a:ln/>
        </p:spPr>
        <p:txBody>
          <a:bodyPr wrap="square" lIns="0" tIns="0" rIns="0" bIns="0" rtlCol="0" anchor="ctr"/>
          <a:lstStyle/>
          <a:p>
            <a:pPr indent="0" marL="0">
              <a:buNone/>
            </a:pPr>
            <a:r>
              <a:rPr lang="en-US" sz="1300" b="1" dirty="0">
                <a:solidFill>
                  <a:srgbClr val="FFFFFF"/>
                </a:solidFill>
              </a:rPr>
              <a:t>📊 Zone-Level Aggregation</a:t>
            </a:r>
            <a:endParaRPr lang="en-US" sz="1300" dirty="0"/>
          </a:p>
        </p:txBody>
      </p:sp>
      <p:sp>
        <p:nvSpPr>
          <p:cNvPr id="23" name="Text 21"/>
          <p:cNvSpPr/>
          <p:nvPr/>
        </p:nvSpPr>
        <p:spPr>
          <a:xfrm>
            <a:off x="4965192" y="3840480"/>
            <a:ext cx="3749040" cy="685800"/>
          </a:xfrm>
          <a:prstGeom prst="rect">
            <a:avLst/>
          </a:prstGeom>
          <a:noFill/>
          <a:ln/>
        </p:spPr>
        <p:txBody>
          <a:bodyPr wrap="square" lIns="0" tIns="0" rIns="0" bIns="0" rtlCol="0" anchor="ctr"/>
          <a:lstStyle/>
          <a:p>
            <a:pPr indent="0" marL="0">
              <a:buNone/>
            </a:pPr>
            <a:r>
              <a:rPr lang="en-US" sz="950" dirty="0">
                <a:solidFill>
                  <a:srgbClr val="90E0EF"/>
                </a:solidFill>
              </a:rPr>
              <a:t>After DBSCAN, we aggregate all violations per cluster: count, density, peak_hour_fraction, weekend_fraction, unique days active — building a rich zone profile for LightGBM.</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3200" b="1" dirty="0">
                <a:solidFill>
                  <a:srgbClr val="0A1628"/>
                </a:solidFill>
              </a:rPr>
              <a:t>DBSCAN Hotspot Detection</a:t>
            </a:r>
            <a:endParaRPr lang="en-US" sz="3200" dirty="0"/>
          </a:p>
        </p:txBody>
      </p:sp>
      <p:sp>
        <p:nvSpPr>
          <p:cNvPr id="3" name="Text 1"/>
          <p:cNvSpPr/>
          <p:nvPr/>
        </p:nvSpPr>
        <p:spPr>
          <a:xfrm>
            <a:off x="457200" y="841248"/>
            <a:ext cx="8229600" cy="347472"/>
          </a:xfrm>
          <a:prstGeom prst="rect">
            <a:avLst/>
          </a:prstGeom>
          <a:noFill/>
          <a:ln/>
        </p:spPr>
        <p:txBody>
          <a:bodyPr wrap="square" lIns="0" tIns="0" rIns="0" bIns="0" rtlCol="0" anchor="ctr"/>
          <a:lstStyle/>
          <a:p>
            <a:pPr indent="0" marL="0">
              <a:buNone/>
            </a:pPr>
            <a:r>
              <a:rPr lang="en-US" sz="1300" dirty="0">
                <a:solidFill>
                  <a:srgbClr val="8899AA"/>
                </a:solidFill>
              </a:rPr>
              <a:t>Grouping 298K violations into 157 physical enforcement zones</a:t>
            </a:r>
            <a:endParaRPr lang="en-US" sz="1300" dirty="0"/>
          </a:p>
        </p:txBody>
      </p:sp>
      <p:sp>
        <p:nvSpPr>
          <p:cNvPr id="4" name="Text 2"/>
          <p:cNvSpPr/>
          <p:nvPr/>
        </p:nvSpPr>
        <p:spPr>
          <a:xfrm>
            <a:off x="457200" y="1325880"/>
            <a:ext cx="4114800" cy="347472"/>
          </a:xfrm>
          <a:prstGeom prst="rect">
            <a:avLst/>
          </a:prstGeom>
          <a:noFill/>
          <a:ln/>
        </p:spPr>
        <p:txBody>
          <a:bodyPr wrap="square" lIns="0" tIns="0" rIns="0" bIns="0" rtlCol="0" anchor="ctr"/>
          <a:lstStyle/>
          <a:p>
            <a:pPr indent="0" marL="0">
              <a:buNone/>
            </a:pPr>
            <a:r>
              <a:rPr lang="en-US" sz="1500" b="1" dirty="0">
                <a:solidFill>
                  <a:srgbClr val="0A1628"/>
                </a:solidFill>
              </a:rPr>
              <a:t>How It Works</a:t>
            </a:r>
            <a:endParaRPr lang="en-US" sz="1500" dirty="0"/>
          </a:p>
        </p:txBody>
      </p:sp>
      <p:sp>
        <p:nvSpPr>
          <p:cNvPr id="5" name="Shape 3"/>
          <p:cNvSpPr/>
          <p:nvPr/>
        </p:nvSpPr>
        <p:spPr>
          <a:xfrm>
            <a:off x="457200" y="1783080"/>
            <a:ext cx="292608" cy="292608"/>
          </a:xfrm>
          <a:prstGeom prst="ellipse">
            <a:avLst/>
          </a:prstGeom>
          <a:solidFill>
            <a:srgbClr val="00B4D8"/>
          </a:solidFill>
          <a:ln w="12700">
            <a:solidFill>
              <a:srgbClr val="00B4D8"/>
            </a:solidFill>
            <a:prstDash val="solid"/>
          </a:ln>
        </p:spPr>
      </p:sp>
      <p:sp>
        <p:nvSpPr>
          <p:cNvPr id="6" name="Text 4"/>
          <p:cNvSpPr/>
          <p:nvPr/>
        </p:nvSpPr>
        <p:spPr>
          <a:xfrm>
            <a:off x="457200" y="1783080"/>
            <a:ext cx="292608" cy="292608"/>
          </a:xfrm>
          <a:prstGeom prst="rect">
            <a:avLst/>
          </a:prstGeom>
          <a:noFill/>
          <a:ln/>
        </p:spPr>
        <p:txBody>
          <a:bodyPr wrap="square" lIns="0" tIns="0" rIns="0" bIns="0" rtlCol="0" anchor="ctr"/>
          <a:lstStyle/>
          <a:p>
            <a:pPr algn="ctr" indent="0" marL="0">
              <a:buNone/>
            </a:pPr>
            <a:r>
              <a:rPr lang="en-US" sz="1100" b="1" dirty="0">
                <a:solidFill>
                  <a:srgbClr val="0A1628"/>
                </a:solidFill>
              </a:rPr>
              <a:t>1</a:t>
            </a:r>
            <a:endParaRPr lang="en-US" sz="1100" dirty="0"/>
          </a:p>
        </p:txBody>
      </p:sp>
      <p:sp>
        <p:nvSpPr>
          <p:cNvPr id="7" name="Text 5"/>
          <p:cNvSpPr/>
          <p:nvPr/>
        </p:nvSpPr>
        <p:spPr>
          <a:xfrm>
            <a:off x="841248" y="1764792"/>
            <a:ext cx="3657600" cy="502920"/>
          </a:xfrm>
          <a:prstGeom prst="rect">
            <a:avLst/>
          </a:prstGeom>
          <a:noFill/>
          <a:ln/>
        </p:spPr>
        <p:txBody>
          <a:bodyPr wrap="square" lIns="0" tIns="0" rIns="0" bIns="0" rtlCol="0" anchor="ctr"/>
          <a:lstStyle/>
          <a:p>
            <a:pPr indent="0" marL="0">
              <a:buNone/>
            </a:pPr>
            <a:r>
              <a:rPr lang="en-US" sz="1100" dirty="0">
                <a:solidFill>
                  <a:srgbClr val="8899AA"/>
                </a:solidFill>
              </a:rPr>
              <a:t>Plot all 298K GPS violation points on Bengaluru's map</a:t>
            </a:r>
            <a:endParaRPr lang="en-US" sz="1100" dirty="0"/>
          </a:p>
        </p:txBody>
      </p:sp>
      <p:sp>
        <p:nvSpPr>
          <p:cNvPr id="8" name="Shape 6"/>
          <p:cNvSpPr/>
          <p:nvPr/>
        </p:nvSpPr>
        <p:spPr>
          <a:xfrm>
            <a:off x="457200" y="2441448"/>
            <a:ext cx="292608" cy="292608"/>
          </a:xfrm>
          <a:prstGeom prst="ellipse">
            <a:avLst/>
          </a:prstGeom>
          <a:solidFill>
            <a:srgbClr val="00B4D8"/>
          </a:solidFill>
          <a:ln w="12700">
            <a:solidFill>
              <a:srgbClr val="00B4D8"/>
            </a:solidFill>
            <a:prstDash val="solid"/>
          </a:ln>
        </p:spPr>
      </p:sp>
      <p:sp>
        <p:nvSpPr>
          <p:cNvPr id="9" name="Text 7"/>
          <p:cNvSpPr/>
          <p:nvPr/>
        </p:nvSpPr>
        <p:spPr>
          <a:xfrm>
            <a:off x="457200" y="2441448"/>
            <a:ext cx="292608" cy="292608"/>
          </a:xfrm>
          <a:prstGeom prst="rect">
            <a:avLst/>
          </a:prstGeom>
          <a:noFill/>
          <a:ln/>
        </p:spPr>
        <p:txBody>
          <a:bodyPr wrap="square" lIns="0" tIns="0" rIns="0" bIns="0" rtlCol="0" anchor="ctr"/>
          <a:lstStyle/>
          <a:p>
            <a:pPr algn="ctr" indent="0" marL="0">
              <a:buNone/>
            </a:pPr>
            <a:r>
              <a:rPr lang="en-US" sz="1100" b="1" dirty="0">
                <a:solidFill>
                  <a:srgbClr val="0A1628"/>
                </a:solidFill>
              </a:rPr>
              <a:t>2</a:t>
            </a:r>
            <a:endParaRPr lang="en-US" sz="1100" dirty="0"/>
          </a:p>
        </p:txBody>
      </p:sp>
      <p:sp>
        <p:nvSpPr>
          <p:cNvPr id="10" name="Text 8"/>
          <p:cNvSpPr/>
          <p:nvPr/>
        </p:nvSpPr>
        <p:spPr>
          <a:xfrm>
            <a:off x="841248" y="2423160"/>
            <a:ext cx="3657600" cy="502920"/>
          </a:xfrm>
          <a:prstGeom prst="rect">
            <a:avLst/>
          </a:prstGeom>
          <a:noFill/>
          <a:ln/>
        </p:spPr>
        <p:txBody>
          <a:bodyPr wrap="square" lIns="0" tIns="0" rIns="0" bIns="0" rtlCol="0" anchor="ctr"/>
          <a:lstStyle/>
          <a:p>
            <a:pPr indent="0" marL="0">
              <a:buNone/>
            </a:pPr>
            <a:r>
              <a:rPr lang="en-US" sz="1100" dirty="0">
                <a:solidFill>
                  <a:srgbClr val="8899AA"/>
                </a:solidFill>
              </a:rPr>
              <a:t>If 10+ violations occur within 300m of each other, the AI draws a circle and flags it as a Hotspot Zone</a:t>
            </a:r>
            <a:endParaRPr lang="en-US" sz="1100" dirty="0"/>
          </a:p>
        </p:txBody>
      </p:sp>
      <p:sp>
        <p:nvSpPr>
          <p:cNvPr id="11" name="Shape 9"/>
          <p:cNvSpPr/>
          <p:nvPr/>
        </p:nvSpPr>
        <p:spPr>
          <a:xfrm>
            <a:off x="457200" y="3099816"/>
            <a:ext cx="292608" cy="292608"/>
          </a:xfrm>
          <a:prstGeom prst="ellipse">
            <a:avLst/>
          </a:prstGeom>
          <a:solidFill>
            <a:srgbClr val="00B4D8"/>
          </a:solidFill>
          <a:ln w="12700">
            <a:solidFill>
              <a:srgbClr val="00B4D8"/>
            </a:solidFill>
            <a:prstDash val="solid"/>
          </a:ln>
        </p:spPr>
      </p:sp>
      <p:sp>
        <p:nvSpPr>
          <p:cNvPr id="12" name="Text 10"/>
          <p:cNvSpPr/>
          <p:nvPr/>
        </p:nvSpPr>
        <p:spPr>
          <a:xfrm>
            <a:off x="457200" y="3099816"/>
            <a:ext cx="292608" cy="292608"/>
          </a:xfrm>
          <a:prstGeom prst="rect">
            <a:avLst/>
          </a:prstGeom>
          <a:noFill/>
          <a:ln/>
        </p:spPr>
        <p:txBody>
          <a:bodyPr wrap="square" lIns="0" tIns="0" rIns="0" bIns="0" rtlCol="0" anchor="ctr"/>
          <a:lstStyle/>
          <a:p>
            <a:pPr algn="ctr" indent="0" marL="0">
              <a:buNone/>
            </a:pPr>
            <a:r>
              <a:rPr lang="en-US" sz="1100" b="1" dirty="0">
                <a:solidFill>
                  <a:srgbClr val="0A1628"/>
                </a:solidFill>
              </a:rPr>
              <a:t>3</a:t>
            </a:r>
            <a:endParaRPr lang="en-US" sz="1100" dirty="0"/>
          </a:p>
        </p:txBody>
      </p:sp>
      <p:sp>
        <p:nvSpPr>
          <p:cNvPr id="13" name="Text 11"/>
          <p:cNvSpPr/>
          <p:nvPr/>
        </p:nvSpPr>
        <p:spPr>
          <a:xfrm>
            <a:off x="841248" y="3081528"/>
            <a:ext cx="3657600" cy="502920"/>
          </a:xfrm>
          <a:prstGeom prst="rect">
            <a:avLst/>
          </a:prstGeom>
          <a:noFill/>
          <a:ln/>
        </p:spPr>
        <p:txBody>
          <a:bodyPr wrap="square" lIns="0" tIns="0" rIns="0" bIns="0" rtlCol="0" anchor="ctr"/>
          <a:lstStyle/>
          <a:p>
            <a:pPr indent="0" marL="0">
              <a:buNone/>
            </a:pPr>
            <a:r>
              <a:rPr lang="en-US" sz="1100" dirty="0">
                <a:solidFill>
                  <a:srgbClr val="8899AA"/>
                </a:solidFill>
              </a:rPr>
              <a:t>Isolated violations with no neighbours are labelled noise and deprioritised</a:t>
            </a:r>
            <a:endParaRPr lang="en-US" sz="1100" dirty="0"/>
          </a:p>
        </p:txBody>
      </p:sp>
      <p:sp>
        <p:nvSpPr>
          <p:cNvPr id="14" name="Shape 12"/>
          <p:cNvSpPr/>
          <p:nvPr/>
        </p:nvSpPr>
        <p:spPr>
          <a:xfrm>
            <a:off x="457200" y="3758184"/>
            <a:ext cx="292608" cy="292608"/>
          </a:xfrm>
          <a:prstGeom prst="ellipse">
            <a:avLst/>
          </a:prstGeom>
          <a:solidFill>
            <a:srgbClr val="00B4D8"/>
          </a:solidFill>
          <a:ln w="12700">
            <a:solidFill>
              <a:srgbClr val="00B4D8"/>
            </a:solidFill>
            <a:prstDash val="solid"/>
          </a:ln>
        </p:spPr>
      </p:sp>
      <p:sp>
        <p:nvSpPr>
          <p:cNvPr id="15" name="Text 13"/>
          <p:cNvSpPr/>
          <p:nvPr/>
        </p:nvSpPr>
        <p:spPr>
          <a:xfrm>
            <a:off x="457200" y="3758184"/>
            <a:ext cx="292608" cy="292608"/>
          </a:xfrm>
          <a:prstGeom prst="rect">
            <a:avLst/>
          </a:prstGeom>
          <a:noFill/>
          <a:ln/>
        </p:spPr>
        <p:txBody>
          <a:bodyPr wrap="square" lIns="0" tIns="0" rIns="0" bIns="0" rtlCol="0" anchor="ctr"/>
          <a:lstStyle/>
          <a:p>
            <a:pPr algn="ctr" indent="0" marL="0">
              <a:buNone/>
            </a:pPr>
            <a:r>
              <a:rPr lang="en-US" sz="1100" b="1" dirty="0">
                <a:solidFill>
                  <a:srgbClr val="0A1628"/>
                </a:solidFill>
              </a:rPr>
              <a:t>4</a:t>
            </a:r>
            <a:endParaRPr lang="en-US" sz="1100" dirty="0"/>
          </a:p>
        </p:txBody>
      </p:sp>
      <p:sp>
        <p:nvSpPr>
          <p:cNvPr id="16" name="Text 14"/>
          <p:cNvSpPr/>
          <p:nvPr/>
        </p:nvSpPr>
        <p:spPr>
          <a:xfrm>
            <a:off x="841248" y="3739896"/>
            <a:ext cx="3657600" cy="502920"/>
          </a:xfrm>
          <a:prstGeom prst="rect">
            <a:avLst/>
          </a:prstGeom>
          <a:noFill/>
          <a:ln/>
        </p:spPr>
        <p:txBody>
          <a:bodyPr wrap="square" lIns="0" tIns="0" rIns="0" bIns="0" rtlCol="0" anchor="ctr"/>
          <a:lstStyle/>
          <a:p>
            <a:pPr indent="0" marL="0">
              <a:buNone/>
            </a:pPr>
            <a:r>
              <a:rPr lang="en-US" sz="1100" dirty="0">
                <a:solidFill>
                  <a:srgbClr val="8899AA"/>
                </a:solidFill>
              </a:rPr>
              <a:t>Result: 157 named hotspot clusters, covering 99.7% of all violations</a:t>
            </a:r>
            <a:endParaRPr lang="en-US" sz="1100" dirty="0"/>
          </a:p>
        </p:txBody>
      </p:sp>
      <p:sp>
        <p:nvSpPr>
          <p:cNvPr id="17" name="Text 15"/>
          <p:cNvSpPr/>
          <p:nvPr/>
        </p:nvSpPr>
        <p:spPr>
          <a:xfrm>
            <a:off x="5029200" y="1325880"/>
            <a:ext cx="3657600" cy="347472"/>
          </a:xfrm>
          <a:prstGeom prst="rect">
            <a:avLst/>
          </a:prstGeom>
          <a:noFill/>
          <a:ln/>
        </p:spPr>
        <p:txBody>
          <a:bodyPr wrap="square" lIns="0" tIns="0" rIns="0" bIns="0" rtlCol="0" anchor="ctr"/>
          <a:lstStyle/>
          <a:p>
            <a:pPr indent="0" marL="0">
              <a:buNone/>
            </a:pPr>
            <a:r>
              <a:rPr lang="en-US" sz="1500" b="1" dirty="0">
                <a:solidFill>
                  <a:srgbClr val="0A1628"/>
                </a:solidFill>
              </a:rPr>
              <a:t>Results</a:t>
            </a:r>
            <a:endParaRPr lang="en-US" sz="1500" dirty="0"/>
          </a:p>
        </p:txBody>
      </p:sp>
      <p:sp>
        <p:nvSpPr>
          <p:cNvPr id="18" name="Shape 16"/>
          <p:cNvSpPr/>
          <p:nvPr/>
        </p:nvSpPr>
        <p:spPr>
          <a:xfrm>
            <a:off x="5029200" y="1783080"/>
            <a:ext cx="3657600" cy="566928"/>
          </a:xfrm>
          <a:prstGeom prst="roundRect">
            <a:avLst>
              <a:gd name="adj" fmla="val 12903"/>
            </a:avLst>
          </a:prstGeom>
          <a:solidFill>
            <a:srgbClr val="FFFFFF"/>
          </a:solidFill>
          <a:ln/>
          <a:effectLst>
            <a:outerShdw sx="100000" sy="100000" kx="0" ky="0" algn="bl" rotWithShape="0" blurRad="101600" dist="38100" dir="2700000">
              <a:srgbClr val="000000">
                <a:alpha val="12000"/>
              </a:srgbClr>
            </a:outerShdw>
          </a:effectLst>
        </p:spPr>
      </p:sp>
      <p:sp>
        <p:nvSpPr>
          <p:cNvPr id="19" name="Text 17"/>
          <p:cNvSpPr/>
          <p:nvPr/>
        </p:nvSpPr>
        <p:spPr>
          <a:xfrm>
            <a:off x="5074920" y="1828800"/>
            <a:ext cx="1005840" cy="475488"/>
          </a:xfrm>
          <a:prstGeom prst="rect">
            <a:avLst/>
          </a:prstGeom>
          <a:noFill/>
          <a:ln/>
        </p:spPr>
        <p:txBody>
          <a:bodyPr wrap="square" lIns="0" tIns="0" rIns="0" bIns="0" rtlCol="0" anchor="ctr"/>
          <a:lstStyle/>
          <a:p>
            <a:pPr algn="ctr" indent="0" marL="0">
              <a:buNone/>
            </a:pPr>
            <a:r>
              <a:rPr lang="en-US" sz="2000" b="1" dirty="0">
                <a:solidFill>
                  <a:srgbClr val="00B4D8"/>
                </a:solidFill>
              </a:rPr>
              <a:t>157</a:t>
            </a:r>
            <a:endParaRPr lang="en-US" sz="2000" dirty="0"/>
          </a:p>
        </p:txBody>
      </p:sp>
      <p:sp>
        <p:nvSpPr>
          <p:cNvPr id="20" name="Text 18"/>
          <p:cNvSpPr/>
          <p:nvPr/>
        </p:nvSpPr>
        <p:spPr>
          <a:xfrm>
            <a:off x="6126480" y="1920240"/>
            <a:ext cx="2468880" cy="292608"/>
          </a:xfrm>
          <a:prstGeom prst="rect">
            <a:avLst/>
          </a:prstGeom>
          <a:noFill/>
          <a:ln/>
        </p:spPr>
        <p:txBody>
          <a:bodyPr wrap="square" lIns="0" tIns="0" rIns="0" bIns="0" rtlCol="0" anchor="ctr"/>
          <a:lstStyle/>
          <a:p>
            <a:pPr indent="0" marL="0">
              <a:buNone/>
            </a:pPr>
            <a:r>
              <a:rPr lang="en-US" sz="1200" dirty="0">
                <a:solidFill>
                  <a:srgbClr val="0A1628"/>
                </a:solidFill>
              </a:rPr>
              <a:t>Hotspot Clusters</a:t>
            </a:r>
            <a:endParaRPr lang="en-US" sz="1200" dirty="0"/>
          </a:p>
        </p:txBody>
      </p:sp>
      <p:sp>
        <p:nvSpPr>
          <p:cNvPr id="21" name="Shape 19"/>
          <p:cNvSpPr/>
          <p:nvPr/>
        </p:nvSpPr>
        <p:spPr>
          <a:xfrm>
            <a:off x="5029200" y="2496312"/>
            <a:ext cx="3657600" cy="566928"/>
          </a:xfrm>
          <a:prstGeom prst="roundRect">
            <a:avLst>
              <a:gd name="adj" fmla="val 12903"/>
            </a:avLst>
          </a:prstGeom>
          <a:solidFill>
            <a:srgbClr val="FFFFFF"/>
          </a:solidFill>
          <a:ln/>
          <a:effectLst>
            <a:outerShdw sx="100000" sy="100000" kx="0" ky="0" algn="bl" rotWithShape="0" blurRad="101600" dist="38100" dir="2700000">
              <a:srgbClr val="000000">
                <a:alpha val="12000"/>
              </a:srgbClr>
            </a:outerShdw>
          </a:effectLst>
        </p:spPr>
      </p:sp>
      <p:sp>
        <p:nvSpPr>
          <p:cNvPr id="22" name="Text 20"/>
          <p:cNvSpPr/>
          <p:nvPr/>
        </p:nvSpPr>
        <p:spPr>
          <a:xfrm>
            <a:off x="5074920" y="2542032"/>
            <a:ext cx="1005840" cy="475488"/>
          </a:xfrm>
          <a:prstGeom prst="rect">
            <a:avLst/>
          </a:prstGeom>
          <a:noFill/>
          <a:ln/>
        </p:spPr>
        <p:txBody>
          <a:bodyPr wrap="square" lIns="0" tIns="0" rIns="0" bIns="0" rtlCol="0" anchor="ctr"/>
          <a:lstStyle/>
          <a:p>
            <a:pPr algn="ctr" indent="0" marL="0">
              <a:buNone/>
            </a:pPr>
            <a:r>
              <a:rPr lang="en-US" sz="2000" b="1" dirty="0">
                <a:solidFill>
                  <a:srgbClr val="7C3AED"/>
                </a:solidFill>
              </a:rPr>
              <a:t>99.7%</a:t>
            </a:r>
            <a:endParaRPr lang="en-US" sz="2000" dirty="0"/>
          </a:p>
        </p:txBody>
      </p:sp>
      <p:sp>
        <p:nvSpPr>
          <p:cNvPr id="23" name="Text 21"/>
          <p:cNvSpPr/>
          <p:nvPr/>
        </p:nvSpPr>
        <p:spPr>
          <a:xfrm>
            <a:off x="6126480" y="2633472"/>
            <a:ext cx="2468880" cy="292608"/>
          </a:xfrm>
          <a:prstGeom prst="rect">
            <a:avLst/>
          </a:prstGeom>
          <a:noFill/>
          <a:ln/>
        </p:spPr>
        <p:txBody>
          <a:bodyPr wrap="square" lIns="0" tIns="0" rIns="0" bIns="0" rtlCol="0" anchor="ctr"/>
          <a:lstStyle/>
          <a:p>
            <a:pPr indent="0" marL="0">
              <a:buNone/>
            </a:pPr>
            <a:r>
              <a:rPr lang="en-US" sz="1200" dirty="0">
                <a:solidFill>
                  <a:srgbClr val="0A1628"/>
                </a:solidFill>
              </a:rPr>
              <a:t>Violations in Clusters</a:t>
            </a:r>
            <a:endParaRPr lang="en-US" sz="1200" dirty="0"/>
          </a:p>
        </p:txBody>
      </p:sp>
      <p:sp>
        <p:nvSpPr>
          <p:cNvPr id="24" name="Shape 22"/>
          <p:cNvSpPr/>
          <p:nvPr/>
        </p:nvSpPr>
        <p:spPr>
          <a:xfrm>
            <a:off x="5029200" y="3209544"/>
            <a:ext cx="3657600" cy="566928"/>
          </a:xfrm>
          <a:prstGeom prst="roundRect">
            <a:avLst>
              <a:gd name="adj" fmla="val 12903"/>
            </a:avLst>
          </a:prstGeom>
          <a:solidFill>
            <a:srgbClr val="FFFFFF"/>
          </a:solidFill>
          <a:ln/>
          <a:effectLst>
            <a:outerShdw sx="100000" sy="100000" kx="0" ky="0" algn="bl" rotWithShape="0" blurRad="101600" dist="38100" dir="2700000">
              <a:srgbClr val="000000">
                <a:alpha val="12000"/>
              </a:srgbClr>
            </a:outerShdw>
          </a:effectLst>
        </p:spPr>
      </p:sp>
      <p:sp>
        <p:nvSpPr>
          <p:cNvPr id="25" name="Text 23"/>
          <p:cNvSpPr/>
          <p:nvPr/>
        </p:nvSpPr>
        <p:spPr>
          <a:xfrm>
            <a:off x="5074920" y="3255264"/>
            <a:ext cx="1005840" cy="475488"/>
          </a:xfrm>
          <a:prstGeom prst="rect">
            <a:avLst/>
          </a:prstGeom>
          <a:noFill/>
          <a:ln/>
        </p:spPr>
        <p:txBody>
          <a:bodyPr wrap="square" lIns="0" tIns="0" rIns="0" bIns="0" rtlCol="0" anchor="ctr"/>
          <a:lstStyle/>
          <a:p>
            <a:pPr algn="ctr" indent="0" marL="0">
              <a:buNone/>
            </a:pPr>
            <a:r>
              <a:rPr lang="en-US" sz="2000" b="1" dirty="0">
                <a:solidFill>
                  <a:srgbClr val="059669"/>
                </a:solidFill>
              </a:rPr>
              <a:t>300m</a:t>
            </a:r>
            <a:endParaRPr lang="en-US" sz="2000" dirty="0"/>
          </a:p>
        </p:txBody>
      </p:sp>
      <p:sp>
        <p:nvSpPr>
          <p:cNvPr id="26" name="Text 24"/>
          <p:cNvSpPr/>
          <p:nvPr/>
        </p:nvSpPr>
        <p:spPr>
          <a:xfrm>
            <a:off x="6126480" y="3346704"/>
            <a:ext cx="2468880" cy="292608"/>
          </a:xfrm>
          <a:prstGeom prst="rect">
            <a:avLst/>
          </a:prstGeom>
          <a:noFill/>
          <a:ln/>
        </p:spPr>
        <p:txBody>
          <a:bodyPr wrap="square" lIns="0" tIns="0" rIns="0" bIns="0" rtlCol="0" anchor="ctr"/>
          <a:lstStyle/>
          <a:p>
            <a:pPr indent="0" marL="0">
              <a:buNone/>
            </a:pPr>
            <a:r>
              <a:rPr lang="en-US" sz="1200" dirty="0">
                <a:solidFill>
                  <a:srgbClr val="0A1628"/>
                </a:solidFill>
              </a:rPr>
              <a:t>Zone Radius</a:t>
            </a:r>
            <a:endParaRPr lang="en-US" sz="1200" dirty="0"/>
          </a:p>
        </p:txBody>
      </p:sp>
      <p:sp>
        <p:nvSpPr>
          <p:cNvPr id="27" name="Shape 25"/>
          <p:cNvSpPr/>
          <p:nvPr/>
        </p:nvSpPr>
        <p:spPr>
          <a:xfrm>
            <a:off x="5029200" y="3922776"/>
            <a:ext cx="3657600" cy="566928"/>
          </a:xfrm>
          <a:prstGeom prst="roundRect">
            <a:avLst>
              <a:gd name="adj" fmla="val 12903"/>
            </a:avLst>
          </a:prstGeom>
          <a:solidFill>
            <a:srgbClr val="FFFFFF"/>
          </a:solidFill>
          <a:ln/>
          <a:effectLst>
            <a:outerShdw sx="100000" sy="100000" kx="0" ky="0" algn="bl" rotWithShape="0" blurRad="101600" dist="38100" dir="2700000">
              <a:srgbClr val="000000">
                <a:alpha val="12000"/>
              </a:srgbClr>
            </a:outerShdw>
          </a:effectLst>
        </p:spPr>
      </p:sp>
      <p:sp>
        <p:nvSpPr>
          <p:cNvPr id="28" name="Text 26"/>
          <p:cNvSpPr/>
          <p:nvPr/>
        </p:nvSpPr>
        <p:spPr>
          <a:xfrm>
            <a:off x="5074920" y="3968496"/>
            <a:ext cx="1005840" cy="475488"/>
          </a:xfrm>
          <a:prstGeom prst="rect">
            <a:avLst/>
          </a:prstGeom>
          <a:noFill/>
          <a:ln/>
        </p:spPr>
        <p:txBody>
          <a:bodyPr wrap="square" lIns="0" tIns="0" rIns="0" bIns="0" rtlCol="0" anchor="ctr"/>
          <a:lstStyle/>
          <a:p>
            <a:pPr algn="ctr" indent="0" marL="0">
              <a:buNone/>
            </a:pPr>
            <a:r>
              <a:rPr lang="en-US" sz="2000" b="1" dirty="0">
                <a:solidFill>
                  <a:srgbClr val="8899AA"/>
                </a:solidFill>
              </a:rPr>
              <a:t>906</a:t>
            </a:r>
            <a:endParaRPr lang="en-US" sz="2000" dirty="0"/>
          </a:p>
        </p:txBody>
      </p:sp>
      <p:sp>
        <p:nvSpPr>
          <p:cNvPr id="29" name="Text 27"/>
          <p:cNvSpPr/>
          <p:nvPr/>
        </p:nvSpPr>
        <p:spPr>
          <a:xfrm>
            <a:off x="6126480" y="4059936"/>
            <a:ext cx="2468880" cy="292608"/>
          </a:xfrm>
          <a:prstGeom prst="rect">
            <a:avLst/>
          </a:prstGeom>
          <a:noFill/>
          <a:ln/>
        </p:spPr>
        <p:txBody>
          <a:bodyPr wrap="square" lIns="0" tIns="0" rIns="0" bIns="0" rtlCol="0" anchor="ctr"/>
          <a:lstStyle/>
          <a:p>
            <a:pPr indent="0" marL="0">
              <a:buNone/>
            </a:pPr>
            <a:r>
              <a:rPr lang="en-US" sz="1200" dirty="0">
                <a:solidFill>
                  <a:srgbClr val="0A1628"/>
                </a:solidFill>
              </a:rPr>
              <a:t>Noise / Isolated Points</a:t>
            </a:r>
            <a:endParaRPr lang="en-US" sz="1200" dirty="0"/>
          </a:p>
        </p:txBody>
      </p:sp>
      <p:sp>
        <p:nvSpPr>
          <p:cNvPr id="30" name="Shape 28"/>
          <p:cNvSpPr/>
          <p:nvPr/>
        </p:nvSpPr>
        <p:spPr>
          <a:xfrm>
            <a:off x="457200" y="4462272"/>
            <a:ext cx="8229600" cy="475488"/>
          </a:xfrm>
          <a:prstGeom prst="roundRect">
            <a:avLst>
              <a:gd name="adj" fmla="val 15385"/>
            </a:avLst>
          </a:prstGeom>
          <a:solidFill>
            <a:srgbClr val="0A1628">
              <a:alpha val="12000"/>
            </a:srgbClr>
          </a:solidFill>
          <a:ln/>
        </p:spPr>
      </p:sp>
      <p:sp>
        <p:nvSpPr>
          <p:cNvPr id="31" name="Text 29"/>
          <p:cNvSpPr/>
          <p:nvPr/>
        </p:nvSpPr>
        <p:spPr>
          <a:xfrm>
            <a:off x="548640" y="4480560"/>
            <a:ext cx="8046720" cy="438912"/>
          </a:xfrm>
          <a:prstGeom prst="rect">
            <a:avLst/>
          </a:prstGeom>
          <a:noFill/>
          <a:ln/>
        </p:spPr>
        <p:txBody>
          <a:bodyPr wrap="square" lIns="0" tIns="0" rIns="0" bIns="0" rtlCol="0" anchor="ctr"/>
          <a:lstStyle/>
          <a:p>
            <a:pPr indent="0" marL="0">
              <a:buNone/>
            </a:pPr>
            <a:r>
              <a:rPr lang="en-US" sz="1100" dirty="0">
                <a:solidFill>
                  <a:srgbClr val="0A1628"/>
                </a:solidFill>
              </a:rPr>
              <a:t>Parameters: eps = 300m / 6371km (radians)  |  min_samples = 10  |  metric = haversine  |  algorithm = ball_tree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3200" b="1" dirty="0">
                <a:solidFill>
                  <a:srgbClr val="FFFFFF"/>
                </a:solidFill>
              </a:rPr>
              <a:t>Congestion Risk Score (CRS)</a:t>
            </a:r>
            <a:endParaRPr lang="en-US" sz="3200" dirty="0"/>
          </a:p>
        </p:txBody>
      </p:sp>
      <p:sp>
        <p:nvSpPr>
          <p:cNvPr id="3" name="Text 1"/>
          <p:cNvSpPr/>
          <p:nvPr/>
        </p:nvSpPr>
        <p:spPr>
          <a:xfrm>
            <a:off x="457200" y="841248"/>
            <a:ext cx="8229600" cy="347472"/>
          </a:xfrm>
          <a:prstGeom prst="rect">
            <a:avLst/>
          </a:prstGeom>
          <a:noFill/>
          <a:ln/>
        </p:spPr>
        <p:txBody>
          <a:bodyPr wrap="square" lIns="0" tIns="0" rIns="0" bIns="0" rtlCol="0" anchor="ctr"/>
          <a:lstStyle/>
          <a:p>
            <a:pPr indent="0" marL="0">
              <a:buNone/>
            </a:pPr>
            <a:r>
              <a:rPr lang="en-US" sz="1300" dirty="0">
                <a:solidFill>
                  <a:srgbClr val="90E0EF"/>
                </a:solidFill>
              </a:rPr>
              <a:t>A composite 0–100 score that grades every zone's threat to traffic flow</a:t>
            </a:r>
            <a:endParaRPr lang="en-US" sz="1300" dirty="0"/>
          </a:p>
        </p:txBody>
      </p:sp>
      <p:sp>
        <p:nvSpPr>
          <p:cNvPr id="4" name="Shape 2"/>
          <p:cNvSpPr/>
          <p:nvPr/>
        </p:nvSpPr>
        <p:spPr>
          <a:xfrm>
            <a:off x="457200" y="1280160"/>
            <a:ext cx="8229600" cy="1417320"/>
          </a:xfrm>
          <a:prstGeom prst="roundRect">
            <a:avLst>
              <a:gd name="adj" fmla="val 7742"/>
            </a:avLst>
          </a:prstGeom>
          <a:solidFill>
            <a:srgbClr val="112240"/>
          </a:solidFill>
          <a:ln/>
        </p:spPr>
      </p:sp>
      <p:sp>
        <p:nvSpPr>
          <p:cNvPr id="5" name="Text 3"/>
          <p:cNvSpPr/>
          <p:nvPr/>
        </p:nvSpPr>
        <p:spPr>
          <a:xfrm>
            <a:off x="640080" y="1371600"/>
            <a:ext cx="7863840" cy="320040"/>
          </a:xfrm>
          <a:prstGeom prst="rect">
            <a:avLst/>
          </a:prstGeom>
          <a:noFill/>
          <a:ln/>
        </p:spPr>
        <p:txBody>
          <a:bodyPr wrap="square" lIns="0" tIns="0" rIns="0" bIns="0" rtlCol="0" anchor="ctr"/>
          <a:lstStyle/>
          <a:p>
            <a:pPr indent="0" marL="0">
              <a:buNone/>
            </a:pPr>
            <a:r>
              <a:rPr lang="en-US" sz="1300" b="1" dirty="0">
                <a:solidFill>
                  <a:srgbClr val="00B4D8"/>
                </a:solidFill>
              </a:rPr>
              <a:t>CRS Formula (Domain-Driven Weights)</a:t>
            </a:r>
            <a:endParaRPr lang="en-US" sz="1300" dirty="0"/>
          </a:p>
        </p:txBody>
      </p:sp>
      <p:sp>
        <p:nvSpPr>
          <p:cNvPr id="6" name="Text 4"/>
          <p:cNvSpPr/>
          <p:nvPr/>
        </p:nvSpPr>
        <p:spPr>
          <a:xfrm>
            <a:off x="640080" y="1691640"/>
            <a:ext cx="7863840" cy="777240"/>
          </a:xfrm>
          <a:prstGeom prst="rect">
            <a:avLst/>
          </a:prstGeom>
          <a:noFill/>
          <a:ln/>
        </p:spPr>
        <p:txBody>
          <a:bodyPr wrap="square" lIns="0" tIns="0" rIns="0" bIns="0" rtlCol="0" anchor="ctr"/>
          <a:lstStyle/>
          <a:p>
            <a:pPr indent="0" marL="0">
              <a:buNone/>
            </a:pPr>
            <a:r>
              <a:rPr lang="en-US" sz="1200" dirty="0">
                <a:solidFill>
                  <a:srgbClr val="FFFFFF"/>
                </a:solidFill>
              </a:rPr>
              <a:t>CRS = 0.35 × violation_density  +  0.25 × peak_hour_fraction  +  0.20 × proximity_to_centre  +  0.10 × recurrence_score  +  0.10 × weekend_fraction</a:t>
            </a:r>
            <a:endParaRPr lang="en-US" sz="1200" dirty="0"/>
          </a:p>
        </p:txBody>
      </p:sp>
      <p:sp>
        <p:nvSpPr>
          <p:cNvPr id="7" name="Text 5"/>
          <p:cNvSpPr/>
          <p:nvPr/>
        </p:nvSpPr>
        <p:spPr>
          <a:xfrm>
            <a:off x="457200" y="2834640"/>
            <a:ext cx="4114800" cy="320040"/>
          </a:xfrm>
          <a:prstGeom prst="rect">
            <a:avLst/>
          </a:prstGeom>
          <a:noFill/>
          <a:ln/>
        </p:spPr>
        <p:txBody>
          <a:bodyPr wrap="square" lIns="0" tIns="0" rIns="0" bIns="0" rtlCol="0" anchor="ctr"/>
          <a:lstStyle/>
          <a:p>
            <a:pPr indent="0" marL="0">
              <a:buNone/>
            </a:pPr>
            <a:r>
              <a:rPr lang="en-US" sz="1300" b="1" dirty="0">
                <a:solidFill>
                  <a:srgbClr val="FFFFFF"/>
                </a:solidFill>
              </a:rPr>
              <a:t>Weight Breakdown</a:t>
            </a:r>
            <a:endParaRPr lang="en-US" sz="1300" dirty="0"/>
          </a:p>
        </p:txBody>
      </p:sp>
      <p:graphicFrame>
        <p:nvGraphicFramePr>
          <p:cNvPr id="8" name="Chart 0" descr=""/>
          <p:cNvGraphicFramePr/>
          <p:nvPr/>
        </p:nvGraphicFramePr>
        <p:xfrm>
          <a:off x="365760" y="3154680"/>
          <a:ext cx="4114800" cy="1737360"/>
        </p:xfrm>
        <a:graphic xmlns:a="http://schemas.openxmlformats.org/drawingml/2006/main">
          <a:graphicData uri="http://schemas.openxmlformats.org/drawingml/2006/chart">
            <c:chart xmlns:c="http://schemas.openxmlformats.org/drawingml/2006/chart" r:id="rId1"/>
          </a:graphicData>
        </a:graphic>
      </p:graphicFrame>
      <p:sp>
        <p:nvSpPr>
          <p:cNvPr id="9" name="Text 6"/>
          <p:cNvSpPr/>
          <p:nvPr/>
        </p:nvSpPr>
        <p:spPr>
          <a:xfrm>
            <a:off x="4754880" y="2834640"/>
            <a:ext cx="3931920" cy="320040"/>
          </a:xfrm>
          <a:prstGeom prst="rect">
            <a:avLst/>
          </a:prstGeom>
          <a:noFill/>
          <a:ln/>
        </p:spPr>
        <p:txBody>
          <a:bodyPr wrap="square" lIns="0" tIns="0" rIns="0" bIns="0" rtlCol="0" anchor="ctr"/>
          <a:lstStyle/>
          <a:p>
            <a:pPr indent="0" marL="0">
              <a:buNone/>
            </a:pPr>
            <a:r>
              <a:rPr lang="en-US" sz="1300" b="1" dirty="0">
                <a:solidFill>
                  <a:srgbClr val="FFFFFF"/>
                </a:solidFill>
              </a:rPr>
              <a:t>Zone Tier Distribution</a:t>
            </a:r>
            <a:endParaRPr lang="en-US" sz="1300" dirty="0"/>
          </a:p>
        </p:txBody>
      </p:sp>
      <p:sp>
        <p:nvSpPr>
          <p:cNvPr id="10" name="Shape 7"/>
          <p:cNvSpPr/>
          <p:nvPr/>
        </p:nvSpPr>
        <p:spPr>
          <a:xfrm>
            <a:off x="4754880" y="3200400"/>
            <a:ext cx="3931920" cy="347472"/>
          </a:xfrm>
          <a:prstGeom prst="roundRect">
            <a:avLst>
              <a:gd name="adj" fmla="val 18421"/>
            </a:avLst>
          </a:prstGeom>
          <a:solidFill>
            <a:srgbClr val="112240"/>
          </a:solidFill>
          <a:ln/>
        </p:spPr>
      </p:sp>
      <p:sp>
        <p:nvSpPr>
          <p:cNvPr id="11" name="Text 8"/>
          <p:cNvSpPr/>
          <p:nvPr/>
        </p:nvSpPr>
        <p:spPr>
          <a:xfrm>
            <a:off x="4892040" y="3218688"/>
            <a:ext cx="2560320" cy="310896"/>
          </a:xfrm>
          <a:prstGeom prst="rect">
            <a:avLst/>
          </a:prstGeom>
          <a:noFill/>
          <a:ln/>
        </p:spPr>
        <p:txBody>
          <a:bodyPr wrap="square" lIns="0" tIns="0" rIns="0" bIns="0" rtlCol="0" anchor="ctr"/>
          <a:lstStyle/>
          <a:p>
            <a:pPr indent="0" marL="0">
              <a:buNone/>
            </a:pPr>
            <a:r>
              <a:rPr lang="en-US" sz="1100" b="1" dirty="0">
                <a:solidFill>
                  <a:srgbClr val="EF4444"/>
                </a:solidFill>
              </a:rPr>
              <a:t>🔴 CRITICAL (≥75)</a:t>
            </a:r>
            <a:endParaRPr lang="en-US" sz="1100" dirty="0"/>
          </a:p>
        </p:txBody>
      </p:sp>
      <p:sp>
        <p:nvSpPr>
          <p:cNvPr id="12" name="Text 9"/>
          <p:cNvSpPr/>
          <p:nvPr/>
        </p:nvSpPr>
        <p:spPr>
          <a:xfrm>
            <a:off x="7498080" y="3218688"/>
            <a:ext cx="1097280" cy="310896"/>
          </a:xfrm>
          <a:prstGeom prst="rect">
            <a:avLst/>
          </a:prstGeom>
          <a:noFill/>
          <a:ln/>
        </p:spPr>
        <p:txBody>
          <a:bodyPr wrap="square" lIns="0" tIns="0" rIns="0" bIns="0" rtlCol="0" anchor="ctr"/>
          <a:lstStyle/>
          <a:p>
            <a:pPr algn="r" indent="0" marL="0">
              <a:buNone/>
            </a:pPr>
            <a:r>
              <a:rPr lang="en-US" sz="1100" b="1" dirty="0">
                <a:solidFill>
                  <a:srgbClr val="FFFFFF"/>
                </a:solidFill>
              </a:rPr>
              <a:t>0 zones</a:t>
            </a:r>
            <a:endParaRPr lang="en-US" sz="1100" dirty="0"/>
          </a:p>
        </p:txBody>
      </p:sp>
      <p:sp>
        <p:nvSpPr>
          <p:cNvPr id="13" name="Shape 10"/>
          <p:cNvSpPr/>
          <p:nvPr/>
        </p:nvSpPr>
        <p:spPr>
          <a:xfrm>
            <a:off x="4754880" y="3639312"/>
            <a:ext cx="3931920" cy="347472"/>
          </a:xfrm>
          <a:prstGeom prst="roundRect">
            <a:avLst>
              <a:gd name="adj" fmla="val 18421"/>
            </a:avLst>
          </a:prstGeom>
          <a:solidFill>
            <a:srgbClr val="112240"/>
          </a:solidFill>
          <a:ln/>
        </p:spPr>
      </p:sp>
      <p:sp>
        <p:nvSpPr>
          <p:cNvPr id="14" name="Text 11"/>
          <p:cNvSpPr/>
          <p:nvPr/>
        </p:nvSpPr>
        <p:spPr>
          <a:xfrm>
            <a:off x="4892040" y="3657600"/>
            <a:ext cx="2560320" cy="310896"/>
          </a:xfrm>
          <a:prstGeom prst="rect">
            <a:avLst/>
          </a:prstGeom>
          <a:noFill/>
          <a:ln/>
        </p:spPr>
        <p:txBody>
          <a:bodyPr wrap="square" lIns="0" tIns="0" rIns="0" bIns="0" rtlCol="0" anchor="ctr"/>
          <a:lstStyle/>
          <a:p>
            <a:pPr indent="0" marL="0">
              <a:buNone/>
            </a:pPr>
            <a:r>
              <a:rPr lang="en-US" sz="1100" b="1" dirty="0">
                <a:solidFill>
                  <a:srgbClr val="F97316"/>
                </a:solidFill>
              </a:rPr>
              <a:t>🟠 HIGH (50–75)</a:t>
            </a:r>
            <a:endParaRPr lang="en-US" sz="1100" dirty="0"/>
          </a:p>
        </p:txBody>
      </p:sp>
      <p:sp>
        <p:nvSpPr>
          <p:cNvPr id="15" name="Text 12"/>
          <p:cNvSpPr/>
          <p:nvPr/>
        </p:nvSpPr>
        <p:spPr>
          <a:xfrm>
            <a:off x="7498080" y="3657600"/>
            <a:ext cx="1097280" cy="310896"/>
          </a:xfrm>
          <a:prstGeom prst="rect">
            <a:avLst/>
          </a:prstGeom>
          <a:noFill/>
          <a:ln/>
        </p:spPr>
        <p:txBody>
          <a:bodyPr wrap="square" lIns="0" tIns="0" rIns="0" bIns="0" rtlCol="0" anchor="ctr"/>
          <a:lstStyle/>
          <a:p>
            <a:pPr algn="r" indent="0" marL="0">
              <a:buNone/>
            </a:pPr>
            <a:r>
              <a:rPr lang="en-US" sz="1100" b="1" dirty="0">
                <a:solidFill>
                  <a:srgbClr val="FFFFFF"/>
                </a:solidFill>
              </a:rPr>
              <a:t>3 zones</a:t>
            </a:r>
            <a:endParaRPr lang="en-US" sz="1100" dirty="0"/>
          </a:p>
        </p:txBody>
      </p:sp>
      <p:sp>
        <p:nvSpPr>
          <p:cNvPr id="16" name="Shape 13"/>
          <p:cNvSpPr/>
          <p:nvPr/>
        </p:nvSpPr>
        <p:spPr>
          <a:xfrm>
            <a:off x="4754880" y="4078224"/>
            <a:ext cx="3931920" cy="347472"/>
          </a:xfrm>
          <a:prstGeom prst="roundRect">
            <a:avLst>
              <a:gd name="adj" fmla="val 18421"/>
            </a:avLst>
          </a:prstGeom>
          <a:solidFill>
            <a:srgbClr val="112240"/>
          </a:solidFill>
          <a:ln/>
        </p:spPr>
      </p:sp>
      <p:sp>
        <p:nvSpPr>
          <p:cNvPr id="17" name="Text 14"/>
          <p:cNvSpPr/>
          <p:nvPr/>
        </p:nvSpPr>
        <p:spPr>
          <a:xfrm>
            <a:off x="4892040" y="4096512"/>
            <a:ext cx="2560320" cy="310896"/>
          </a:xfrm>
          <a:prstGeom prst="rect">
            <a:avLst/>
          </a:prstGeom>
          <a:noFill/>
          <a:ln/>
        </p:spPr>
        <p:txBody>
          <a:bodyPr wrap="square" lIns="0" tIns="0" rIns="0" bIns="0" rtlCol="0" anchor="ctr"/>
          <a:lstStyle/>
          <a:p>
            <a:pPr indent="0" marL="0">
              <a:buNone/>
            </a:pPr>
            <a:r>
              <a:rPr lang="en-US" sz="1100" b="1" dirty="0">
                <a:solidFill>
                  <a:srgbClr val="EAB308"/>
                </a:solidFill>
              </a:rPr>
              <a:t>🟡 MEDIUM (25–50)</a:t>
            </a:r>
            <a:endParaRPr lang="en-US" sz="1100" dirty="0"/>
          </a:p>
        </p:txBody>
      </p:sp>
      <p:sp>
        <p:nvSpPr>
          <p:cNvPr id="18" name="Text 15"/>
          <p:cNvSpPr/>
          <p:nvPr/>
        </p:nvSpPr>
        <p:spPr>
          <a:xfrm>
            <a:off x="7498080" y="4096512"/>
            <a:ext cx="1097280" cy="310896"/>
          </a:xfrm>
          <a:prstGeom prst="rect">
            <a:avLst/>
          </a:prstGeom>
          <a:noFill/>
          <a:ln/>
        </p:spPr>
        <p:txBody>
          <a:bodyPr wrap="square" lIns="0" tIns="0" rIns="0" bIns="0" rtlCol="0" anchor="ctr"/>
          <a:lstStyle/>
          <a:p>
            <a:pPr algn="r" indent="0" marL="0">
              <a:buNone/>
            </a:pPr>
            <a:r>
              <a:rPr lang="en-US" sz="1100" b="1" dirty="0">
                <a:solidFill>
                  <a:srgbClr val="FFFFFF"/>
                </a:solidFill>
              </a:rPr>
              <a:t>81 zones</a:t>
            </a:r>
            <a:endParaRPr lang="en-US" sz="1100" dirty="0"/>
          </a:p>
        </p:txBody>
      </p:sp>
      <p:sp>
        <p:nvSpPr>
          <p:cNvPr id="19" name="Shape 16"/>
          <p:cNvSpPr/>
          <p:nvPr/>
        </p:nvSpPr>
        <p:spPr>
          <a:xfrm>
            <a:off x="4754880" y="4517136"/>
            <a:ext cx="3931920" cy="347472"/>
          </a:xfrm>
          <a:prstGeom prst="roundRect">
            <a:avLst>
              <a:gd name="adj" fmla="val 18421"/>
            </a:avLst>
          </a:prstGeom>
          <a:solidFill>
            <a:srgbClr val="112240"/>
          </a:solidFill>
          <a:ln/>
        </p:spPr>
      </p:sp>
      <p:sp>
        <p:nvSpPr>
          <p:cNvPr id="20" name="Text 17"/>
          <p:cNvSpPr/>
          <p:nvPr/>
        </p:nvSpPr>
        <p:spPr>
          <a:xfrm>
            <a:off x="4892040" y="4535424"/>
            <a:ext cx="2560320" cy="310896"/>
          </a:xfrm>
          <a:prstGeom prst="rect">
            <a:avLst/>
          </a:prstGeom>
          <a:noFill/>
          <a:ln/>
        </p:spPr>
        <p:txBody>
          <a:bodyPr wrap="square" lIns="0" tIns="0" rIns="0" bIns="0" rtlCol="0" anchor="ctr"/>
          <a:lstStyle/>
          <a:p>
            <a:pPr indent="0" marL="0">
              <a:buNone/>
            </a:pPr>
            <a:r>
              <a:rPr lang="en-US" sz="1100" b="1" dirty="0">
                <a:solidFill>
                  <a:srgbClr val="22C55E"/>
                </a:solidFill>
              </a:rPr>
              <a:t>🟢 LOW (&lt;25)</a:t>
            </a:r>
            <a:endParaRPr lang="en-US" sz="1100" dirty="0"/>
          </a:p>
        </p:txBody>
      </p:sp>
      <p:sp>
        <p:nvSpPr>
          <p:cNvPr id="21" name="Text 18"/>
          <p:cNvSpPr/>
          <p:nvPr/>
        </p:nvSpPr>
        <p:spPr>
          <a:xfrm>
            <a:off x="7498080" y="4535424"/>
            <a:ext cx="1097280" cy="310896"/>
          </a:xfrm>
          <a:prstGeom prst="rect">
            <a:avLst/>
          </a:prstGeom>
          <a:noFill/>
          <a:ln/>
        </p:spPr>
        <p:txBody>
          <a:bodyPr wrap="square" lIns="0" tIns="0" rIns="0" bIns="0" rtlCol="0" anchor="ctr"/>
          <a:lstStyle/>
          <a:p>
            <a:pPr algn="r" indent="0" marL="0">
              <a:buNone/>
            </a:pPr>
            <a:r>
              <a:rPr lang="en-US" sz="1100" b="1" dirty="0">
                <a:solidFill>
                  <a:srgbClr val="FFFFFF"/>
                </a:solidFill>
              </a:rPr>
              <a:t>73 zones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3200" b="1" dirty="0">
                <a:solidFill>
                  <a:srgbClr val="0A1628"/>
                </a:solidFill>
              </a:rPr>
              <a:t>LightGBM Scoring Engine</a:t>
            </a:r>
            <a:endParaRPr lang="en-US" sz="3200" dirty="0"/>
          </a:p>
        </p:txBody>
      </p:sp>
      <p:sp>
        <p:nvSpPr>
          <p:cNvPr id="3" name="Text 1"/>
          <p:cNvSpPr/>
          <p:nvPr/>
        </p:nvSpPr>
        <p:spPr>
          <a:xfrm>
            <a:off x="457200" y="841248"/>
            <a:ext cx="8229600" cy="347472"/>
          </a:xfrm>
          <a:prstGeom prst="rect">
            <a:avLst/>
          </a:prstGeom>
          <a:noFill/>
          <a:ln/>
        </p:spPr>
        <p:txBody>
          <a:bodyPr wrap="square" lIns="0" tIns="0" rIns="0" bIns="0" rtlCol="0" anchor="ctr"/>
          <a:lstStyle/>
          <a:p>
            <a:pPr indent="0" marL="0">
              <a:buNone/>
            </a:pPr>
            <a:r>
              <a:rPr lang="en-US" sz="1300" dirty="0">
                <a:solidFill>
                  <a:srgbClr val="8899AA"/>
                </a:solidFill>
              </a:rPr>
              <a:t>Machine learning generalises the risk score beyond the training formula</a:t>
            </a:r>
            <a:endParaRPr lang="en-US" sz="1300" dirty="0"/>
          </a:p>
        </p:txBody>
      </p:sp>
      <p:sp>
        <p:nvSpPr>
          <p:cNvPr id="4" name="Shape 2"/>
          <p:cNvSpPr/>
          <p:nvPr/>
        </p:nvSpPr>
        <p:spPr>
          <a:xfrm>
            <a:off x="457200" y="1371600"/>
            <a:ext cx="2560320" cy="1280160"/>
          </a:xfrm>
          <a:prstGeom prst="roundRect">
            <a:avLst>
              <a:gd name="adj" fmla="val 8571"/>
            </a:avLst>
          </a:prstGeom>
          <a:solidFill>
            <a:srgbClr val="FFFFFF"/>
          </a:solidFill>
          <a:ln/>
          <a:effectLst>
            <a:outerShdw sx="100000" sy="100000" kx="0" ky="0" algn="bl" rotWithShape="0" blurRad="101600" dist="38100" dir="2700000">
              <a:srgbClr val="000000">
                <a:alpha val="12000"/>
              </a:srgbClr>
            </a:outerShdw>
          </a:effectLst>
        </p:spPr>
      </p:sp>
      <p:sp>
        <p:nvSpPr>
          <p:cNvPr id="5" name="Text 3"/>
          <p:cNvSpPr/>
          <p:nvPr/>
        </p:nvSpPr>
        <p:spPr>
          <a:xfrm>
            <a:off x="457200" y="1463040"/>
            <a:ext cx="2560320" cy="548640"/>
          </a:xfrm>
          <a:prstGeom prst="rect">
            <a:avLst/>
          </a:prstGeom>
          <a:noFill/>
          <a:ln/>
        </p:spPr>
        <p:txBody>
          <a:bodyPr wrap="square" lIns="0" tIns="0" rIns="0" bIns="0" rtlCol="0" anchor="ctr"/>
          <a:lstStyle/>
          <a:p>
            <a:pPr algn="ctr" indent="0" marL="0">
              <a:buNone/>
            </a:pPr>
            <a:r>
              <a:rPr lang="en-US" sz="3000" b="1" dirty="0">
                <a:solidFill>
                  <a:srgbClr val="00B4D8"/>
                </a:solidFill>
              </a:rPr>
              <a:t>0.862</a:t>
            </a:r>
            <a:endParaRPr lang="en-US" sz="3000" dirty="0"/>
          </a:p>
        </p:txBody>
      </p:sp>
      <p:sp>
        <p:nvSpPr>
          <p:cNvPr id="6" name="Text 4"/>
          <p:cNvSpPr/>
          <p:nvPr/>
        </p:nvSpPr>
        <p:spPr>
          <a:xfrm>
            <a:off x="457200" y="2029968"/>
            <a:ext cx="2560320" cy="292608"/>
          </a:xfrm>
          <a:prstGeom prst="rect">
            <a:avLst/>
          </a:prstGeom>
          <a:noFill/>
          <a:ln/>
        </p:spPr>
        <p:txBody>
          <a:bodyPr wrap="square" lIns="0" tIns="0" rIns="0" bIns="0" rtlCol="0" anchor="ctr"/>
          <a:lstStyle/>
          <a:p>
            <a:pPr algn="ctr" indent="0" marL="0">
              <a:buNone/>
            </a:pPr>
            <a:r>
              <a:rPr lang="en-US" sz="1400" b="1" dirty="0">
                <a:solidFill>
                  <a:srgbClr val="0A1628"/>
                </a:solidFill>
              </a:rPr>
              <a:t>R² Score</a:t>
            </a:r>
            <a:endParaRPr lang="en-US" sz="1400" dirty="0"/>
          </a:p>
        </p:txBody>
      </p:sp>
      <p:sp>
        <p:nvSpPr>
          <p:cNvPr id="7" name="Text 5"/>
          <p:cNvSpPr/>
          <p:nvPr/>
        </p:nvSpPr>
        <p:spPr>
          <a:xfrm>
            <a:off x="457200" y="2340864"/>
            <a:ext cx="2560320" cy="237744"/>
          </a:xfrm>
          <a:prstGeom prst="rect">
            <a:avLst/>
          </a:prstGeom>
          <a:noFill/>
          <a:ln/>
        </p:spPr>
        <p:txBody>
          <a:bodyPr wrap="square" lIns="0" tIns="0" rIns="0" bIns="0" rtlCol="0" anchor="ctr"/>
          <a:lstStyle/>
          <a:p>
            <a:pPr algn="ctr" indent="0" marL="0">
              <a:buNone/>
            </a:pPr>
            <a:r>
              <a:rPr lang="en-US" sz="1000" dirty="0">
                <a:solidFill>
                  <a:srgbClr val="8899AA"/>
                </a:solidFill>
              </a:rPr>
              <a:t>86.2% variance explained</a:t>
            </a:r>
            <a:endParaRPr lang="en-US" sz="1000" dirty="0"/>
          </a:p>
        </p:txBody>
      </p:sp>
      <p:sp>
        <p:nvSpPr>
          <p:cNvPr id="8" name="Shape 6"/>
          <p:cNvSpPr/>
          <p:nvPr/>
        </p:nvSpPr>
        <p:spPr>
          <a:xfrm>
            <a:off x="3246120" y="1371600"/>
            <a:ext cx="2560320" cy="1280160"/>
          </a:xfrm>
          <a:prstGeom prst="roundRect">
            <a:avLst>
              <a:gd name="adj" fmla="val 8571"/>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3246120" y="1463040"/>
            <a:ext cx="2560320" cy="548640"/>
          </a:xfrm>
          <a:prstGeom prst="rect">
            <a:avLst/>
          </a:prstGeom>
          <a:noFill/>
          <a:ln/>
        </p:spPr>
        <p:txBody>
          <a:bodyPr wrap="square" lIns="0" tIns="0" rIns="0" bIns="0" rtlCol="0" anchor="ctr"/>
          <a:lstStyle/>
          <a:p>
            <a:pPr algn="ctr" indent="0" marL="0">
              <a:buNone/>
            </a:pPr>
            <a:r>
              <a:rPr lang="en-US" sz="3000" b="1" dirty="0">
                <a:solidFill>
                  <a:srgbClr val="7C3AED"/>
                </a:solidFill>
              </a:rPr>
              <a:t>3.39</a:t>
            </a:r>
            <a:endParaRPr lang="en-US" sz="3000" dirty="0"/>
          </a:p>
        </p:txBody>
      </p:sp>
      <p:sp>
        <p:nvSpPr>
          <p:cNvPr id="10" name="Text 8"/>
          <p:cNvSpPr/>
          <p:nvPr/>
        </p:nvSpPr>
        <p:spPr>
          <a:xfrm>
            <a:off x="3246120" y="2029968"/>
            <a:ext cx="2560320" cy="292608"/>
          </a:xfrm>
          <a:prstGeom prst="rect">
            <a:avLst/>
          </a:prstGeom>
          <a:noFill/>
          <a:ln/>
        </p:spPr>
        <p:txBody>
          <a:bodyPr wrap="square" lIns="0" tIns="0" rIns="0" bIns="0" rtlCol="0" anchor="ctr"/>
          <a:lstStyle/>
          <a:p>
            <a:pPr algn="ctr" indent="0" marL="0">
              <a:buNone/>
            </a:pPr>
            <a:r>
              <a:rPr lang="en-US" sz="1400" b="1" dirty="0">
                <a:solidFill>
                  <a:srgbClr val="0A1628"/>
                </a:solidFill>
              </a:rPr>
              <a:t>RMSE</a:t>
            </a:r>
            <a:endParaRPr lang="en-US" sz="1400" dirty="0"/>
          </a:p>
        </p:txBody>
      </p:sp>
      <p:sp>
        <p:nvSpPr>
          <p:cNvPr id="11" name="Text 9"/>
          <p:cNvSpPr/>
          <p:nvPr/>
        </p:nvSpPr>
        <p:spPr>
          <a:xfrm>
            <a:off x="3246120" y="2340864"/>
            <a:ext cx="2560320" cy="237744"/>
          </a:xfrm>
          <a:prstGeom prst="rect">
            <a:avLst/>
          </a:prstGeom>
          <a:noFill/>
          <a:ln/>
        </p:spPr>
        <p:txBody>
          <a:bodyPr wrap="square" lIns="0" tIns="0" rIns="0" bIns="0" rtlCol="0" anchor="ctr"/>
          <a:lstStyle/>
          <a:p>
            <a:pPr algn="ctr" indent="0" marL="0">
              <a:buNone/>
            </a:pPr>
            <a:r>
              <a:rPr lang="en-US" sz="1000" dirty="0">
                <a:solidFill>
                  <a:srgbClr val="8899AA"/>
                </a:solidFill>
              </a:rPr>
              <a:t>Average error on 0–100 scale</a:t>
            </a:r>
            <a:endParaRPr lang="en-US" sz="1000" dirty="0"/>
          </a:p>
        </p:txBody>
      </p:sp>
      <p:sp>
        <p:nvSpPr>
          <p:cNvPr id="12" name="Shape 10"/>
          <p:cNvSpPr/>
          <p:nvPr/>
        </p:nvSpPr>
        <p:spPr>
          <a:xfrm>
            <a:off x="6035040" y="1371600"/>
            <a:ext cx="2560320" cy="1280160"/>
          </a:xfrm>
          <a:prstGeom prst="roundRect">
            <a:avLst>
              <a:gd name="adj" fmla="val 8571"/>
            </a:avLst>
          </a:prstGeom>
          <a:solidFill>
            <a:srgbClr val="FFFFFF"/>
          </a:solidFill>
          <a:ln/>
          <a:effectLst>
            <a:outerShdw sx="100000" sy="100000" kx="0" ky="0" algn="bl" rotWithShape="0" blurRad="101600" dist="38100" dir="2700000">
              <a:srgbClr val="000000">
                <a:alpha val="12000"/>
              </a:srgbClr>
            </a:outerShdw>
          </a:effectLst>
        </p:spPr>
      </p:sp>
      <p:sp>
        <p:nvSpPr>
          <p:cNvPr id="13" name="Text 11"/>
          <p:cNvSpPr/>
          <p:nvPr/>
        </p:nvSpPr>
        <p:spPr>
          <a:xfrm>
            <a:off x="6035040" y="1463040"/>
            <a:ext cx="2560320" cy="548640"/>
          </a:xfrm>
          <a:prstGeom prst="rect">
            <a:avLst/>
          </a:prstGeom>
          <a:noFill/>
          <a:ln/>
        </p:spPr>
        <p:txBody>
          <a:bodyPr wrap="square" lIns="0" tIns="0" rIns="0" bIns="0" rtlCol="0" anchor="ctr"/>
          <a:lstStyle/>
          <a:p>
            <a:pPr algn="ctr" indent="0" marL="0">
              <a:buNone/>
            </a:pPr>
            <a:r>
              <a:rPr lang="en-US" sz="3000" b="1" dirty="0">
                <a:solidFill>
                  <a:srgbClr val="059669"/>
                </a:solidFill>
              </a:rPr>
              <a:t>133</a:t>
            </a:r>
            <a:endParaRPr lang="en-US" sz="3000" dirty="0"/>
          </a:p>
        </p:txBody>
      </p:sp>
      <p:sp>
        <p:nvSpPr>
          <p:cNvPr id="14" name="Text 12"/>
          <p:cNvSpPr/>
          <p:nvPr/>
        </p:nvSpPr>
        <p:spPr>
          <a:xfrm>
            <a:off x="6035040" y="2029968"/>
            <a:ext cx="2560320" cy="292608"/>
          </a:xfrm>
          <a:prstGeom prst="rect">
            <a:avLst/>
          </a:prstGeom>
          <a:noFill/>
          <a:ln/>
        </p:spPr>
        <p:txBody>
          <a:bodyPr wrap="square" lIns="0" tIns="0" rIns="0" bIns="0" rtlCol="0" anchor="ctr"/>
          <a:lstStyle/>
          <a:p>
            <a:pPr algn="ctr" indent="0" marL="0">
              <a:buNone/>
            </a:pPr>
            <a:r>
              <a:rPr lang="en-US" sz="1400" b="1" dirty="0">
                <a:solidFill>
                  <a:srgbClr val="0A1628"/>
                </a:solidFill>
              </a:rPr>
              <a:t>Best Round</a:t>
            </a:r>
            <a:endParaRPr lang="en-US" sz="1400" dirty="0"/>
          </a:p>
        </p:txBody>
      </p:sp>
      <p:sp>
        <p:nvSpPr>
          <p:cNvPr id="15" name="Text 13"/>
          <p:cNvSpPr/>
          <p:nvPr/>
        </p:nvSpPr>
        <p:spPr>
          <a:xfrm>
            <a:off x="6035040" y="2340864"/>
            <a:ext cx="2560320" cy="237744"/>
          </a:xfrm>
          <a:prstGeom prst="rect">
            <a:avLst/>
          </a:prstGeom>
          <a:noFill/>
          <a:ln/>
        </p:spPr>
        <p:txBody>
          <a:bodyPr wrap="square" lIns="0" tIns="0" rIns="0" bIns="0" rtlCol="0" anchor="ctr"/>
          <a:lstStyle/>
          <a:p>
            <a:pPr algn="ctr" indent="0" marL="0">
              <a:buNone/>
            </a:pPr>
            <a:r>
              <a:rPr lang="en-US" sz="1000" dirty="0">
                <a:solidFill>
                  <a:srgbClr val="8899AA"/>
                </a:solidFill>
              </a:rPr>
              <a:t>Early stopping at round 133/500</a:t>
            </a:r>
            <a:endParaRPr lang="en-US" sz="1000" dirty="0"/>
          </a:p>
        </p:txBody>
      </p:sp>
      <p:sp>
        <p:nvSpPr>
          <p:cNvPr id="16" name="Text 14"/>
          <p:cNvSpPr/>
          <p:nvPr/>
        </p:nvSpPr>
        <p:spPr>
          <a:xfrm>
            <a:off x="457200" y="2834640"/>
            <a:ext cx="5029200" cy="347472"/>
          </a:xfrm>
          <a:prstGeom prst="rect">
            <a:avLst/>
          </a:prstGeom>
          <a:noFill/>
          <a:ln/>
        </p:spPr>
        <p:txBody>
          <a:bodyPr wrap="square" lIns="0" tIns="0" rIns="0" bIns="0" rtlCol="0" anchor="ctr"/>
          <a:lstStyle/>
          <a:p>
            <a:pPr indent="0" marL="0">
              <a:buNone/>
            </a:pPr>
            <a:r>
              <a:rPr lang="en-US" sz="1400" b="1" dirty="0">
                <a:solidFill>
                  <a:srgbClr val="0A1628"/>
                </a:solidFill>
              </a:rPr>
              <a:t>Top Features Driving the Score</a:t>
            </a:r>
            <a:endParaRPr lang="en-US" sz="1400" dirty="0"/>
          </a:p>
        </p:txBody>
      </p:sp>
      <p:graphicFrame>
        <p:nvGraphicFramePr>
          <p:cNvPr id="17" name="Chart 0" descr=""/>
          <p:cNvGraphicFramePr/>
          <p:nvPr/>
        </p:nvGraphicFramePr>
        <p:xfrm>
          <a:off x="457200" y="3200400"/>
          <a:ext cx="5029200" cy="1737360"/>
        </p:xfrm>
        <a:graphic xmlns:a="http://schemas.openxmlformats.org/drawingml/2006/main">
          <a:graphicData uri="http://schemas.openxmlformats.org/drawingml/2006/chart">
            <c:chart xmlns:c="http://schemas.openxmlformats.org/drawingml/2006/chart" r:id="rId1"/>
          </a:graphicData>
        </a:graphic>
      </p:graphicFrame>
      <p:sp>
        <p:nvSpPr>
          <p:cNvPr id="18" name="Text 15"/>
          <p:cNvSpPr/>
          <p:nvPr/>
        </p:nvSpPr>
        <p:spPr>
          <a:xfrm>
            <a:off x="5760720" y="2834640"/>
            <a:ext cx="2926080" cy="347472"/>
          </a:xfrm>
          <a:prstGeom prst="rect">
            <a:avLst/>
          </a:prstGeom>
          <a:noFill/>
          <a:ln/>
        </p:spPr>
        <p:txBody>
          <a:bodyPr wrap="square" lIns="0" tIns="0" rIns="0" bIns="0" rtlCol="0" anchor="ctr"/>
          <a:lstStyle/>
          <a:p>
            <a:pPr indent="0" marL="0">
              <a:buNone/>
            </a:pPr>
            <a:r>
              <a:rPr lang="en-US" sz="1400" b="1" dirty="0">
                <a:solidFill>
                  <a:srgbClr val="0A1628"/>
                </a:solidFill>
              </a:rPr>
              <a:t>Why LightGBM?</a:t>
            </a:r>
            <a:endParaRPr lang="en-US" sz="1400" dirty="0"/>
          </a:p>
        </p:txBody>
      </p:sp>
      <p:sp>
        <p:nvSpPr>
          <p:cNvPr id="19" name="Text 16"/>
          <p:cNvSpPr/>
          <p:nvPr/>
        </p:nvSpPr>
        <p:spPr>
          <a:xfrm>
            <a:off x="5760720" y="3246120"/>
            <a:ext cx="2926080" cy="1691640"/>
          </a:xfrm>
          <a:prstGeom prst="rect">
            <a:avLst/>
          </a:prstGeom>
          <a:noFill/>
          <a:ln/>
        </p:spPr>
        <p:txBody>
          <a:bodyPr wrap="square" lIns="0" tIns="0" rIns="0" bIns="0" rtlCol="0" anchor="ctr"/>
          <a:lstStyle/>
          <a:p>
            <a:pPr marL="342900" indent="-342900">
              <a:buSzPct val="100000"/>
              <a:buChar char="•"/>
            </a:pPr>
            <a:r>
              <a:rPr lang="en-US" sz="1100" dirty="0">
                <a:solidFill>
                  <a:srgbClr val="8899AA"/>
                </a:solidFill>
              </a:rPr>
              <a:t>Handles 298K rows with speed</a:t>
            </a:r>
            <a:endParaRPr lang="en-US" sz="1100" dirty="0"/>
          </a:p>
          <a:p>
            <a:pPr marL="342900" indent="-342900">
              <a:buSzPct val="100000"/>
              <a:buChar char="•"/>
            </a:pPr>
            <a:r>
              <a:rPr lang="en-US" sz="1100" dirty="0">
                <a:solidFill>
                  <a:srgbClr val="8899AA"/>
                </a:solidFill>
              </a:rPr>
              <a:t>Leaf-wise growth — prioritises biggest errors first</a:t>
            </a:r>
            <a:endParaRPr lang="en-US" sz="1100" dirty="0"/>
          </a:p>
          <a:p>
            <a:pPr marL="342900" indent="-342900">
              <a:buSzPct val="100000"/>
              <a:buChar char="•"/>
            </a:pPr>
            <a:r>
              <a:rPr lang="en-US" sz="1100" dirty="0">
                <a:solidFill>
                  <a:srgbClr val="8899AA"/>
                </a:solidFill>
              </a:rPr>
              <a:t>Ideal for isolating severe congestion zones</a:t>
            </a:r>
            <a:endParaRPr lang="en-US" sz="1100" dirty="0"/>
          </a:p>
          <a:p>
            <a:pPr marL="342900" indent="-342900">
              <a:buSzPct val="100000"/>
              <a:buChar char="•"/>
            </a:pPr>
            <a:r>
              <a:rPr lang="en-US" sz="1100" dirty="0">
                <a:solidFill>
                  <a:srgbClr val="8899AA"/>
                </a:solidFill>
              </a:rPr>
              <a:t>Early stopping prevents overfitting</a:t>
            </a:r>
            <a:endParaRPr lang="en-US" sz="1100" dirty="0"/>
          </a:p>
          <a:p>
            <a:pPr marL="342900" indent="-342900">
              <a:buSzPct val="100000"/>
              <a:buChar char="•"/>
            </a:pPr>
            <a:r>
              <a:rPr lang="en-US" sz="1100" dirty="0">
                <a:solidFill>
                  <a:srgbClr val="8899AA"/>
                </a:solidFill>
              </a:rPr>
              <a:t>Interpretable feature importance</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3200" b="1" dirty="0">
                <a:solidFill>
                  <a:srgbClr val="FFFFFF"/>
                </a:solidFill>
              </a:rPr>
              <a:t>Enforcement Priority Map</a:t>
            </a:r>
            <a:endParaRPr lang="en-US" sz="3200" dirty="0"/>
          </a:p>
        </p:txBody>
      </p:sp>
      <p:sp>
        <p:nvSpPr>
          <p:cNvPr id="3" name="Text 1"/>
          <p:cNvSpPr/>
          <p:nvPr/>
        </p:nvSpPr>
        <p:spPr>
          <a:xfrm>
            <a:off x="457200" y="841248"/>
            <a:ext cx="8229600" cy="347472"/>
          </a:xfrm>
          <a:prstGeom prst="rect">
            <a:avLst/>
          </a:prstGeom>
          <a:noFill/>
          <a:ln/>
        </p:spPr>
        <p:txBody>
          <a:bodyPr wrap="square" lIns="0" tIns="0" rIns="0" bIns="0" rtlCol="0" anchor="ctr"/>
          <a:lstStyle/>
          <a:p>
            <a:pPr indent="0" marL="0">
              <a:buNone/>
            </a:pPr>
            <a:r>
              <a:rPr lang="en-US" sz="1300" dirty="0">
                <a:solidFill>
                  <a:srgbClr val="90E0EF"/>
                </a:solidFill>
              </a:rPr>
              <a:t>The final output — a live, colour-coded map for traffic police dispatchers</a:t>
            </a:r>
            <a:endParaRPr lang="en-US" sz="1300" dirty="0"/>
          </a:p>
        </p:txBody>
      </p:sp>
      <p:sp>
        <p:nvSpPr>
          <p:cNvPr id="4" name="Shape 2"/>
          <p:cNvSpPr/>
          <p:nvPr/>
        </p:nvSpPr>
        <p:spPr>
          <a:xfrm>
            <a:off x="457200" y="1280160"/>
            <a:ext cx="5029200" cy="3474720"/>
          </a:xfrm>
          <a:prstGeom prst="roundRect">
            <a:avLst>
              <a:gd name="adj" fmla="val 3947"/>
            </a:avLst>
          </a:prstGeom>
          <a:solidFill>
            <a:srgbClr val="0D2137"/>
          </a:solidFill>
          <a:ln/>
          <a:effectLst>
            <a:outerShdw sx="100000" sy="100000" kx="0" ky="0" algn="bl" rotWithShape="0" blurRad="101600" dist="38100" dir="2700000">
              <a:srgbClr val="000000">
                <a:alpha val="12000"/>
              </a:srgbClr>
            </a:outerShdw>
          </a:effectLst>
        </p:spPr>
      </p:sp>
      <p:sp>
        <p:nvSpPr>
          <p:cNvPr id="5" name="Text 3"/>
          <p:cNvSpPr/>
          <p:nvPr/>
        </p:nvSpPr>
        <p:spPr>
          <a:xfrm>
            <a:off x="457200" y="1280160"/>
            <a:ext cx="5029200" cy="822960"/>
          </a:xfrm>
          <a:prstGeom prst="rect">
            <a:avLst/>
          </a:prstGeom>
          <a:noFill/>
          <a:ln/>
        </p:spPr>
        <p:txBody>
          <a:bodyPr wrap="square" lIns="0" tIns="0" rIns="0" bIns="0" rtlCol="0" anchor="ctr"/>
          <a:lstStyle/>
          <a:p>
            <a:pPr algn="ctr" indent="0" marL="0">
              <a:buNone/>
            </a:pPr>
            <a:r>
              <a:rPr lang="en-US" sz="3200" dirty="0">
                <a:solidFill>
                  <a:srgbClr val="000000"/>
                </a:solidFill>
              </a:rPr>
              <a:t>🗺️</a:t>
            </a:r>
            <a:endParaRPr lang="en-US" sz="3200" dirty="0"/>
          </a:p>
        </p:txBody>
      </p:sp>
      <p:sp>
        <p:nvSpPr>
          <p:cNvPr id="6" name="Text 4"/>
          <p:cNvSpPr/>
          <p:nvPr/>
        </p:nvSpPr>
        <p:spPr>
          <a:xfrm>
            <a:off x="457200" y="2103120"/>
            <a:ext cx="5029200" cy="411480"/>
          </a:xfrm>
          <a:prstGeom prst="rect">
            <a:avLst/>
          </a:prstGeom>
          <a:noFill/>
          <a:ln/>
        </p:spPr>
        <p:txBody>
          <a:bodyPr wrap="square" lIns="0" tIns="0" rIns="0" bIns="0" rtlCol="0" anchor="ctr"/>
          <a:lstStyle/>
          <a:p>
            <a:pPr algn="ctr" indent="0" marL="0">
              <a:buNone/>
            </a:pPr>
            <a:r>
              <a:rPr lang="en-US" sz="1400" b="1" dirty="0">
                <a:solidFill>
                  <a:srgbClr val="00B4D8"/>
                </a:solidFill>
              </a:rPr>
              <a:t>Interactive Folium Heatmap</a:t>
            </a:r>
            <a:endParaRPr lang="en-US" sz="1400" dirty="0"/>
          </a:p>
        </p:txBody>
      </p:sp>
      <p:sp>
        <p:nvSpPr>
          <p:cNvPr id="7" name="Text 5"/>
          <p:cNvSpPr/>
          <p:nvPr/>
        </p:nvSpPr>
        <p:spPr>
          <a:xfrm>
            <a:off x="457200" y="2514600"/>
            <a:ext cx="5029200" cy="320040"/>
          </a:xfrm>
          <a:prstGeom prst="rect">
            <a:avLst/>
          </a:prstGeom>
          <a:noFill/>
          <a:ln/>
        </p:spPr>
        <p:txBody>
          <a:bodyPr wrap="square" lIns="0" tIns="0" rIns="0" bIns="0" rtlCol="0" anchor="ctr"/>
          <a:lstStyle/>
          <a:p>
            <a:pPr algn="ctr" indent="0" marL="0">
              <a:buNone/>
            </a:pPr>
            <a:r>
              <a:rPr lang="en-US" sz="1100" dirty="0">
                <a:solidFill>
                  <a:srgbClr val="8899AA"/>
                </a:solidFill>
              </a:rPr>
              <a:t>parking_enforcement_map.html</a:t>
            </a:r>
            <a:endParaRPr lang="en-US" sz="1100" dirty="0"/>
          </a:p>
        </p:txBody>
      </p:sp>
      <p:sp>
        <p:nvSpPr>
          <p:cNvPr id="8" name="Shape 6"/>
          <p:cNvSpPr/>
          <p:nvPr/>
        </p:nvSpPr>
        <p:spPr>
          <a:xfrm>
            <a:off x="1645920" y="2697480"/>
            <a:ext cx="292608" cy="292608"/>
          </a:xfrm>
          <a:prstGeom prst="ellipse">
            <a:avLst/>
          </a:prstGeom>
          <a:solidFill>
            <a:srgbClr val="F97316"/>
          </a:solidFill>
          <a:ln w="12700">
            <a:solidFill>
              <a:srgbClr val="F97316"/>
            </a:solidFill>
            <a:prstDash val="solid"/>
          </a:ln>
        </p:spPr>
      </p:sp>
      <p:sp>
        <p:nvSpPr>
          <p:cNvPr id="9" name="Text 7"/>
          <p:cNvSpPr/>
          <p:nvPr/>
        </p:nvSpPr>
        <p:spPr>
          <a:xfrm>
            <a:off x="1581912" y="2999232"/>
            <a:ext cx="420624" cy="182880"/>
          </a:xfrm>
          <a:prstGeom prst="rect">
            <a:avLst/>
          </a:prstGeom>
          <a:noFill/>
          <a:ln/>
        </p:spPr>
        <p:txBody>
          <a:bodyPr wrap="square" lIns="0" tIns="0" rIns="0" bIns="0" rtlCol="0" anchor="ctr"/>
          <a:lstStyle/>
          <a:p>
            <a:pPr algn="ctr" indent="0" marL="0">
              <a:buNone/>
            </a:pPr>
            <a:r>
              <a:rPr lang="en-US" sz="700" b="1" dirty="0">
                <a:solidFill>
                  <a:srgbClr val="F97316"/>
                </a:solidFill>
              </a:rPr>
              <a:t>HIGH</a:t>
            </a:r>
            <a:endParaRPr lang="en-US" sz="700" dirty="0"/>
          </a:p>
        </p:txBody>
      </p:sp>
      <p:sp>
        <p:nvSpPr>
          <p:cNvPr id="10" name="Shape 8"/>
          <p:cNvSpPr/>
          <p:nvPr/>
        </p:nvSpPr>
        <p:spPr>
          <a:xfrm>
            <a:off x="2926080" y="3154680"/>
            <a:ext cx="292608" cy="292608"/>
          </a:xfrm>
          <a:prstGeom prst="ellipse">
            <a:avLst/>
          </a:prstGeom>
          <a:solidFill>
            <a:srgbClr val="F97316"/>
          </a:solidFill>
          <a:ln w="12700">
            <a:solidFill>
              <a:srgbClr val="F97316"/>
            </a:solidFill>
            <a:prstDash val="solid"/>
          </a:ln>
        </p:spPr>
      </p:sp>
      <p:sp>
        <p:nvSpPr>
          <p:cNvPr id="11" name="Text 9"/>
          <p:cNvSpPr/>
          <p:nvPr/>
        </p:nvSpPr>
        <p:spPr>
          <a:xfrm>
            <a:off x="2862072" y="3456432"/>
            <a:ext cx="420624" cy="182880"/>
          </a:xfrm>
          <a:prstGeom prst="rect">
            <a:avLst/>
          </a:prstGeom>
          <a:noFill/>
          <a:ln/>
        </p:spPr>
        <p:txBody>
          <a:bodyPr wrap="square" lIns="0" tIns="0" rIns="0" bIns="0" rtlCol="0" anchor="ctr"/>
          <a:lstStyle/>
          <a:p>
            <a:pPr algn="ctr" indent="0" marL="0">
              <a:buNone/>
            </a:pPr>
            <a:r>
              <a:rPr lang="en-US" sz="700" b="1" dirty="0">
                <a:solidFill>
                  <a:srgbClr val="F97316"/>
                </a:solidFill>
              </a:rPr>
              <a:t>HIGH</a:t>
            </a:r>
            <a:endParaRPr lang="en-US" sz="700" dirty="0"/>
          </a:p>
        </p:txBody>
      </p:sp>
      <p:sp>
        <p:nvSpPr>
          <p:cNvPr id="12" name="Shape 10"/>
          <p:cNvSpPr/>
          <p:nvPr/>
        </p:nvSpPr>
        <p:spPr>
          <a:xfrm>
            <a:off x="2286000" y="3840480"/>
            <a:ext cx="292608" cy="292608"/>
          </a:xfrm>
          <a:prstGeom prst="ellipse">
            <a:avLst/>
          </a:prstGeom>
          <a:solidFill>
            <a:srgbClr val="EAB308"/>
          </a:solidFill>
          <a:ln w="12700">
            <a:solidFill>
              <a:srgbClr val="EAB308"/>
            </a:solidFill>
            <a:prstDash val="solid"/>
          </a:ln>
        </p:spPr>
      </p:sp>
      <p:sp>
        <p:nvSpPr>
          <p:cNvPr id="13" name="Text 11"/>
          <p:cNvSpPr/>
          <p:nvPr/>
        </p:nvSpPr>
        <p:spPr>
          <a:xfrm>
            <a:off x="2221992" y="4142232"/>
            <a:ext cx="420624" cy="182880"/>
          </a:xfrm>
          <a:prstGeom prst="rect">
            <a:avLst/>
          </a:prstGeom>
          <a:noFill/>
          <a:ln/>
        </p:spPr>
        <p:txBody>
          <a:bodyPr wrap="square" lIns="0" tIns="0" rIns="0" bIns="0" rtlCol="0" anchor="ctr"/>
          <a:lstStyle/>
          <a:p>
            <a:pPr algn="ctr" indent="0" marL="0">
              <a:buNone/>
            </a:pPr>
            <a:r>
              <a:rPr lang="en-US" sz="700" b="1" dirty="0">
                <a:solidFill>
                  <a:srgbClr val="EAB308"/>
                </a:solidFill>
              </a:rPr>
              <a:t>MED</a:t>
            </a:r>
            <a:endParaRPr lang="en-US" sz="700" dirty="0"/>
          </a:p>
        </p:txBody>
      </p:sp>
      <p:sp>
        <p:nvSpPr>
          <p:cNvPr id="14" name="Shape 12"/>
          <p:cNvSpPr/>
          <p:nvPr/>
        </p:nvSpPr>
        <p:spPr>
          <a:xfrm>
            <a:off x="3931920" y="2743200"/>
            <a:ext cx="292608" cy="292608"/>
          </a:xfrm>
          <a:prstGeom prst="ellipse">
            <a:avLst/>
          </a:prstGeom>
          <a:solidFill>
            <a:srgbClr val="EAB308"/>
          </a:solidFill>
          <a:ln w="12700">
            <a:solidFill>
              <a:srgbClr val="EAB308"/>
            </a:solidFill>
            <a:prstDash val="solid"/>
          </a:ln>
        </p:spPr>
      </p:sp>
      <p:sp>
        <p:nvSpPr>
          <p:cNvPr id="15" name="Text 13"/>
          <p:cNvSpPr/>
          <p:nvPr/>
        </p:nvSpPr>
        <p:spPr>
          <a:xfrm>
            <a:off x="3867912" y="3044952"/>
            <a:ext cx="420624" cy="182880"/>
          </a:xfrm>
          <a:prstGeom prst="rect">
            <a:avLst/>
          </a:prstGeom>
          <a:noFill/>
          <a:ln/>
        </p:spPr>
        <p:txBody>
          <a:bodyPr wrap="square" lIns="0" tIns="0" rIns="0" bIns="0" rtlCol="0" anchor="ctr"/>
          <a:lstStyle/>
          <a:p>
            <a:pPr algn="ctr" indent="0" marL="0">
              <a:buNone/>
            </a:pPr>
            <a:r>
              <a:rPr lang="en-US" sz="700" b="1" dirty="0">
                <a:solidFill>
                  <a:srgbClr val="EAB308"/>
                </a:solidFill>
              </a:rPr>
              <a:t>MED</a:t>
            </a:r>
            <a:endParaRPr lang="en-US" sz="700" dirty="0"/>
          </a:p>
        </p:txBody>
      </p:sp>
      <p:sp>
        <p:nvSpPr>
          <p:cNvPr id="16" name="Shape 14"/>
          <p:cNvSpPr/>
          <p:nvPr/>
        </p:nvSpPr>
        <p:spPr>
          <a:xfrm>
            <a:off x="1188720" y="3611880"/>
            <a:ext cx="292608" cy="292608"/>
          </a:xfrm>
          <a:prstGeom prst="ellipse">
            <a:avLst/>
          </a:prstGeom>
          <a:solidFill>
            <a:srgbClr val="22C55E"/>
          </a:solidFill>
          <a:ln w="12700">
            <a:solidFill>
              <a:srgbClr val="22C55E"/>
            </a:solidFill>
            <a:prstDash val="solid"/>
          </a:ln>
        </p:spPr>
      </p:sp>
      <p:sp>
        <p:nvSpPr>
          <p:cNvPr id="17" name="Text 15"/>
          <p:cNvSpPr/>
          <p:nvPr/>
        </p:nvSpPr>
        <p:spPr>
          <a:xfrm>
            <a:off x="1124712" y="3913632"/>
            <a:ext cx="420624" cy="182880"/>
          </a:xfrm>
          <a:prstGeom prst="rect">
            <a:avLst/>
          </a:prstGeom>
          <a:noFill/>
          <a:ln/>
        </p:spPr>
        <p:txBody>
          <a:bodyPr wrap="square" lIns="0" tIns="0" rIns="0" bIns="0" rtlCol="0" anchor="ctr"/>
          <a:lstStyle/>
          <a:p>
            <a:pPr algn="ctr" indent="0" marL="0">
              <a:buNone/>
            </a:pPr>
            <a:r>
              <a:rPr lang="en-US" sz="700" b="1" dirty="0">
                <a:solidFill>
                  <a:srgbClr val="22C55E"/>
                </a:solidFill>
              </a:rPr>
              <a:t>LOW</a:t>
            </a:r>
            <a:endParaRPr lang="en-US" sz="700" dirty="0"/>
          </a:p>
        </p:txBody>
      </p:sp>
      <p:sp>
        <p:nvSpPr>
          <p:cNvPr id="18" name="Shape 16"/>
          <p:cNvSpPr/>
          <p:nvPr/>
        </p:nvSpPr>
        <p:spPr>
          <a:xfrm>
            <a:off x="4389120" y="3886200"/>
            <a:ext cx="292608" cy="292608"/>
          </a:xfrm>
          <a:prstGeom prst="ellipse">
            <a:avLst/>
          </a:prstGeom>
          <a:solidFill>
            <a:srgbClr val="22C55E"/>
          </a:solidFill>
          <a:ln w="12700">
            <a:solidFill>
              <a:srgbClr val="22C55E"/>
            </a:solidFill>
            <a:prstDash val="solid"/>
          </a:ln>
        </p:spPr>
      </p:sp>
      <p:sp>
        <p:nvSpPr>
          <p:cNvPr id="19" name="Text 17"/>
          <p:cNvSpPr/>
          <p:nvPr/>
        </p:nvSpPr>
        <p:spPr>
          <a:xfrm>
            <a:off x="4325112" y="4187952"/>
            <a:ext cx="420624" cy="182880"/>
          </a:xfrm>
          <a:prstGeom prst="rect">
            <a:avLst/>
          </a:prstGeom>
          <a:noFill/>
          <a:ln/>
        </p:spPr>
        <p:txBody>
          <a:bodyPr wrap="square" lIns="0" tIns="0" rIns="0" bIns="0" rtlCol="0" anchor="ctr"/>
          <a:lstStyle/>
          <a:p>
            <a:pPr algn="ctr" indent="0" marL="0">
              <a:buNone/>
            </a:pPr>
            <a:r>
              <a:rPr lang="en-US" sz="700" b="1" dirty="0">
                <a:solidFill>
                  <a:srgbClr val="22C55E"/>
                </a:solidFill>
              </a:rPr>
              <a:t>LOW</a:t>
            </a:r>
            <a:endParaRPr lang="en-US" sz="700" dirty="0"/>
          </a:p>
        </p:txBody>
      </p:sp>
      <p:sp>
        <p:nvSpPr>
          <p:cNvPr id="20" name="Shape 18"/>
          <p:cNvSpPr/>
          <p:nvPr/>
        </p:nvSpPr>
        <p:spPr>
          <a:xfrm>
            <a:off x="640080" y="4526280"/>
            <a:ext cx="164592" cy="164592"/>
          </a:xfrm>
          <a:prstGeom prst="ellipse">
            <a:avLst/>
          </a:prstGeom>
          <a:solidFill>
            <a:srgbClr val="EF4444"/>
          </a:solidFill>
          <a:ln w="12700">
            <a:solidFill>
              <a:srgbClr val="EF4444"/>
            </a:solidFill>
            <a:prstDash val="solid"/>
          </a:ln>
        </p:spPr>
      </p:sp>
      <p:sp>
        <p:nvSpPr>
          <p:cNvPr id="21" name="Text 19"/>
          <p:cNvSpPr/>
          <p:nvPr/>
        </p:nvSpPr>
        <p:spPr>
          <a:xfrm>
            <a:off x="859536" y="4498848"/>
            <a:ext cx="914400" cy="228600"/>
          </a:xfrm>
          <a:prstGeom prst="rect">
            <a:avLst/>
          </a:prstGeom>
          <a:noFill/>
          <a:ln/>
        </p:spPr>
        <p:txBody>
          <a:bodyPr wrap="square" lIns="0" tIns="0" rIns="0" bIns="0" rtlCol="0" anchor="ctr"/>
          <a:lstStyle/>
          <a:p>
            <a:pPr indent="0" marL="0">
              <a:buNone/>
            </a:pPr>
            <a:r>
              <a:rPr lang="en-US" sz="900" dirty="0">
                <a:solidFill>
                  <a:srgbClr val="EF4444"/>
                </a:solidFill>
              </a:rPr>
              <a:t>CRITICAL</a:t>
            </a:r>
            <a:endParaRPr lang="en-US" sz="900" dirty="0"/>
          </a:p>
        </p:txBody>
      </p:sp>
      <p:sp>
        <p:nvSpPr>
          <p:cNvPr id="22" name="Shape 20"/>
          <p:cNvSpPr/>
          <p:nvPr/>
        </p:nvSpPr>
        <p:spPr>
          <a:xfrm>
            <a:off x="1828800" y="4526280"/>
            <a:ext cx="164592" cy="164592"/>
          </a:xfrm>
          <a:prstGeom prst="ellipse">
            <a:avLst/>
          </a:prstGeom>
          <a:solidFill>
            <a:srgbClr val="F97316"/>
          </a:solidFill>
          <a:ln w="12700">
            <a:solidFill>
              <a:srgbClr val="F97316"/>
            </a:solidFill>
            <a:prstDash val="solid"/>
          </a:ln>
        </p:spPr>
      </p:sp>
      <p:sp>
        <p:nvSpPr>
          <p:cNvPr id="23" name="Text 21"/>
          <p:cNvSpPr/>
          <p:nvPr/>
        </p:nvSpPr>
        <p:spPr>
          <a:xfrm>
            <a:off x="2048256" y="4498848"/>
            <a:ext cx="914400" cy="228600"/>
          </a:xfrm>
          <a:prstGeom prst="rect">
            <a:avLst/>
          </a:prstGeom>
          <a:noFill/>
          <a:ln/>
        </p:spPr>
        <p:txBody>
          <a:bodyPr wrap="square" lIns="0" tIns="0" rIns="0" bIns="0" rtlCol="0" anchor="ctr"/>
          <a:lstStyle/>
          <a:p>
            <a:pPr indent="0" marL="0">
              <a:buNone/>
            </a:pPr>
            <a:r>
              <a:rPr lang="en-US" sz="900" dirty="0">
                <a:solidFill>
                  <a:srgbClr val="F97316"/>
                </a:solidFill>
              </a:rPr>
              <a:t>HIGH</a:t>
            </a:r>
            <a:endParaRPr lang="en-US" sz="900" dirty="0"/>
          </a:p>
        </p:txBody>
      </p:sp>
      <p:sp>
        <p:nvSpPr>
          <p:cNvPr id="24" name="Shape 22"/>
          <p:cNvSpPr/>
          <p:nvPr/>
        </p:nvSpPr>
        <p:spPr>
          <a:xfrm>
            <a:off x="3017520" y="4526280"/>
            <a:ext cx="164592" cy="164592"/>
          </a:xfrm>
          <a:prstGeom prst="ellipse">
            <a:avLst/>
          </a:prstGeom>
          <a:solidFill>
            <a:srgbClr val="EAB308"/>
          </a:solidFill>
          <a:ln w="12700">
            <a:solidFill>
              <a:srgbClr val="EAB308"/>
            </a:solidFill>
            <a:prstDash val="solid"/>
          </a:ln>
        </p:spPr>
      </p:sp>
      <p:sp>
        <p:nvSpPr>
          <p:cNvPr id="25" name="Text 23"/>
          <p:cNvSpPr/>
          <p:nvPr/>
        </p:nvSpPr>
        <p:spPr>
          <a:xfrm>
            <a:off x="3236976" y="4498848"/>
            <a:ext cx="914400" cy="228600"/>
          </a:xfrm>
          <a:prstGeom prst="rect">
            <a:avLst/>
          </a:prstGeom>
          <a:noFill/>
          <a:ln/>
        </p:spPr>
        <p:txBody>
          <a:bodyPr wrap="square" lIns="0" tIns="0" rIns="0" bIns="0" rtlCol="0" anchor="ctr"/>
          <a:lstStyle/>
          <a:p>
            <a:pPr indent="0" marL="0">
              <a:buNone/>
            </a:pPr>
            <a:r>
              <a:rPr lang="en-US" sz="900" dirty="0">
                <a:solidFill>
                  <a:srgbClr val="EAB308"/>
                </a:solidFill>
              </a:rPr>
              <a:t>MEDIUM</a:t>
            </a:r>
            <a:endParaRPr lang="en-US" sz="900" dirty="0"/>
          </a:p>
        </p:txBody>
      </p:sp>
      <p:sp>
        <p:nvSpPr>
          <p:cNvPr id="26" name="Shape 24"/>
          <p:cNvSpPr/>
          <p:nvPr/>
        </p:nvSpPr>
        <p:spPr>
          <a:xfrm>
            <a:off x="4206240" y="4526280"/>
            <a:ext cx="164592" cy="164592"/>
          </a:xfrm>
          <a:prstGeom prst="ellipse">
            <a:avLst/>
          </a:prstGeom>
          <a:solidFill>
            <a:srgbClr val="22C55E"/>
          </a:solidFill>
          <a:ln w="12700">
            <a:solidFill>
              <a:srgbClr val="22C55E"/>
            </a:solidFill>
            <a:prstDash val="solid"/>
          </a:ln>
        </p:spPr>
      </p:sp>
      <p:sp>
        <p:nvSpPr>
          <p:cNvPr id="27" name="Text 25"/>
          <p:cNvSpPr/>
          <p:nvPr/>
        </p:nvSpPr>
        <p:spPr>
          <a:xfrm>
            <a:off x="4425696" y="4498848"/>
            <a:ext cx="914400" cy="228600"/>
          </a:xfrm>
          <a:prstGeom prst="rect">
            <a:avLst/>
          </a:prstGeom>
          <a:noFill/>
          <a:ln/>
        </p:spPr>
        <p:txBody>
          <a:bodyPr wrap="square" lIns="0" tIns="0" rIns="0" bIns="0" rtlCol="0" anchor="ctr"/>
          <a:lstStyle/>
          <a:p>
            <a:pPr indent="0" marL="0">
              <a:buNone/>
            </a:pPr>
            <a:r>
              <a:rPr lang="en-US" sz="900" dirty="0">
                <a:solidFill>
                  <a:srgbClr val="22C55E"/>
                </a:solidFill>
              </a:rPr>
              <a:t>LOW</a:t>
            </a:r>
            <a:endParaRPr lang="en-US" sz="900" dirty="0"/>
          </a:p>
        </p:txBody>
      </p:sp>
      <p:sp>
        <p:nvSpPr>
          <p:cNvPr id="28" name="Text 26"/>
          <p:cNvSpPr/>
          <p:nvPr/>
        </p:nvSpPr>
        <p:spPr>
          <a:xfrm>
            <a:off x="5669280" y="1280160"/>
            <a:ext cx="3017520" cy="347472"/>
          </a:xfrm>
          <a:prstGeom prst="rect">
            <a:avLst/>
          </a:prstGeom>
          <a:noFill/>
          <a:ln/>
        </p:spPr>
        <p:txBody>
          <a:bodyPr wrap="square" lIns="0" tIns="0" rIns="0" bIns="0" rtlCol="0" anchor="ctr"/>
          <a:lstStyle/>
          <a:p>
            <a:pPr indent="0" marL="0">
              <a:buNone/>
            </a:pPr>
            <a:r>
              <a:rPr lang="en-US" sz="1400" b="1" dirty="0">
                <a:solidFill>
                  <a:srgbClr val="FFFFFF"/>
                </a:solidFill>
              </a:rPr>
              <a:t>What the Dispatcher Sees</a:t>
            </a:r>
            <a:endParaRPr lang="en-US" sz="1400" dirty="0"/>
          </a:p>
        </p:txBody>
      </p:sp>
      <p:sp>
        <p:nvSpPr>
          <p:cNvPr id="29" name="Shape 27"/>
          <p:cNvSpPr/>
          <p:nvPr/>
        </p:nvSpPr>
        <p:spPr>
          <a:xfrm>
            <a:off x="5669280" y="1737360"/>
            <a:ext cx="3017520" cy="566928"/>
          </a:xfrm>
          <a:prstGeom prst="roundRect">
            <a:avLst>
              <a:gd name="adj" fmla="val 12903"/>
            </a:avLst>
          </a:prstGeom>
          <a:solidFill>
            <a:srgbClr val="112240"/>
          </a:solidFill>
          <a:ln/>
        </p:spPr>
      </p:sp>
      <p:sp>
        <p:nvSpPr>
          <p:cNvPr id="30" name="Text 28"/>
          <p:cNvSpPr/>
          <p:nvPr/>
        </p:nvSpPr>
        <p:spPr>
          <a:xfrm>
            <a:off x="5806440" y="1783080"/>
            <a:ext cx="2788920" cy="475488"/>
          </a:xfrm>
          <a:prstGeom prst="rect">
            <a:avLst/>
          </a:prstGeom>
          <a:noFill/>
          <a:ln/>
        </p:spPr>
        <p:txBody>
          <a:bodyPr wrap="square" lIns="0" tIns="0" rIns="0" bIns="0" rtlCol="0" anchor="ctr"/>
          <a:lstStyle/>
          <a:p>
            <a:pPr indent="0" marL="0">
              <a:buNone/>
            </a:pPr>
            <a:r>
              <a:rPr lang="en-US" sz="1050" dirty="0">
                <a:solidFill>
                  <a:srgbClr val="FFFFFF"/>
                </a:solidFill>
              </a:rPr>
              <a:t>🔴  CRITICAL zones: deploy patrol immediately</a:t>
            </a:r>
            <a:endParaRPr lang="en-US" sz="1050" dirty="0"/>
          </a:p>
        </p:txBody>
      </p:sp>
      <p:sp>
        <p:nvSpPr>
          <p:cNvPr id="31" name="Shape 29"/>
          <p:cNvSpPr/>
          <p:nvPr/>
        </p:nvSpPr>
        <p:spPr>
          <a:xfrm>
            <a:off x="5669280" y="2395728"/>
            <a:ext cx="3017520" cy="566928"/>
          </a:xfrm>
          <a:prstGeom prst="roundRect">
            <a:avLst>
              <a:gd name="adj" fmla="val 12903"/>
            </a:avLst>
          </a:prstGeom>
          <a:solidFill>
            <a:srgbClr val="112240"/>
          </a:solidFill>
          <a:ln/>
        </p:spPr>
      </p:sp>
      <p:sp>
        <p:nvSpPr>
          <p:cNvPr id="32" name="Text 30"/>
          <p:cNvSpPr/>
          <p:nvPr/>
        </p:nvSpPr>
        <p:spPr>
          <a:xfrm>
            <a:off x="5806440" y="2441448"/>
            <a:ext cx="2788920" cy="475488"/>
          </a:xfrm>
          <a:prstGeom prst="rect">
            <a:avLst/>
          </a:prstGeom>
          <a:noFill/>
          <a:ln/>
        </p:spPr>
        <p:txBody>
          <a:bodyPr wrap="square" lIns="0" tIns="0" rIns="0" bIns="0" rtlCol="0" anchor="ctr"/>
          <a:lstStyle/>
          <a:p>
            <a:pPr indent="0" marL="0">
              <a:buNone/>
            </a:pPr>
            <a:r>
              <a:rPr lang="en-US" sz="1050" dirty="0">
                <a:solidFill>
                  <a:srgbClr val="FFFFFF"/>
                </a:solidFill>
              </a:rPr>
              <a:t>🟠  HIGH zones: pre-position units before peak hour</a:t>
            </a:r>
            <a:endParaRPr lang="en-US" sz="1050" dirty="0"/>
          </a:p>
        </p:txBody>
      </p:sp>
      <p:sp>
        <p:nvSpPr>
          <p:cNvPr id="33" name="Shape 31"/>
          <p:cNvSpPr/>
          <p:nvPr/>
        </p:nvSpPr>
        <p:spPr>
          <a:xfrm>
            <a:off x="5669280" y="3054096"/>
            <a:ext cx="3017520" cy="566928"/>
          </a:xfrm>
          <a:prstGeom prst="roundRect">
            <a:avLst>
              <a:gd name="adj" fmla="val 12903"/>
            </a:avLst>
          </a:prstGeom>
          <a:solidFill>
            <a:srgbClr val="112240"/>
          </a:solidFill>
          <a:ln/>
        </p:spPr>
      </p:sp>
      <p:sp>
        <p:nvSpPr>
          <p:cNvPr id="34" name="Text 32"/>
          <p:cNvSpPr/>
          <p:nvPr/>
        </p:nvSpPr>
        <p:spPr>
          <a:xfrm>
            <a:off x="5806440" y="3099816"/>
            <a:ext cx="2788920" cy="475488"/>
          </a:xfrm>
          <a:prstGeom prst="rect">
            <a:avLst/>
          </a:prstGeom>
          <a:noFill/>
          <a:ln/>
        </p:spPr>
        <p:txBody>
          <a:bodyPr wrap="square" lIns="0" tIns="0" rIns="0" bIns="0" rtlCol="0" anchor="ctr"/>
          <a:lstStyle/>
          <a:p>
            <a:pPr indent="0" marL="0">
              <a:buNone/>
            </a:pPr>
            <a:r>
              <a:rPr lang="en-US" sz="1050" dirty="0">
                <a:solidFill>
                  <a:srgbClr val="FFFFFF"/>
                </a:solidFill>
              </a:rPr>
              <a:t>🟡  MEDIUM zones: scheduled patrols</a:t>
            </a:r>
            <a:endParaRPr lang="en-US" sz="1050" dirty="0"/>
          </a:p>
        </p:txBody>
      </p:sp>
      <p:sp>
        <p:nvSpPr>
          <p:cNvPr id="35" name="Shape 33"/>
          <p:cNvSpPr/>
          <p:nvPr/>
        </p:nvSpPr>
        <p:spPr>
          <a:xfrm>
            <a:off x="5669280" y="3712464"/>
            <a:ext cx="3017520" cy="566928"/>
          </a:xfrm>
          <a:prstGeom prst="roundRect">
            <a:avLst>
              <a:gd name="adj" fmla="val 12903"/>
            </a:avLst>
          </a:prstGeom>
          <a:solidFill>
            <a:srgbClr val="112240"/>
          </a:solidFill>
          <a:ln/>
        </p:spPr>
      </p:sp>
      <p:sp>
        <p:nvSpPr>
          <p:cNvPr id="36" name="Text 34"/>
          <p:cNvSpPr/>
          <p:nvPr/>
        </p:nvSpPr>
        <p:spPr>
          <a:xfrm>
            <a:off x="5806440" y="3758184"/>
            <a:ext cx="2788920" cy="475488"/>
          </a:xfrm>
          <a:prstGeom prst="rect">
            <a:avLst/>
          </a:prstGeom>
          <a:noFill/>
          <a:ln/>
        </p:spPr>
        <p:txBody>
          <a:bodyPr wrap="square" lIns="0" tIns="0" rIns="0" bIns="0" rtlCol="0" anchor="ctr"/>
          <a:lstStyle/>
          <a:p>
            <a:pPr indent="0" marL="0">
              <a:buNone/>
            </a:pPr>
            <a:r>
              <a:rPr lang="en-US" sz="1050" dirty="0">
                <a:solidFill>
                  <a:srgbClr val="FFFFFF"/>
                </a:solidFill>
              </a:rPr>
              <a:t>🟢  LOW zones: monitor only</a:t>
            </a:r>
            <a:endParaRPr lang="en-US" sz="1050" dirty="0"/>
          </a:p>
        </p:txBody>
      </p:sp>
      <p:sp>
        <p:nvSpPr>
          <p:cNvPr id="37" name="Text 35"/>
          <p:cNvSpPr/>
          <p:nvPr/>
        </p:nvSpPr>
        <p:spPr>
          <a:xfrm>
            <a:off x="5669280" y="4407408"/>
            <a:ext cx="3017520" cy="502920"/>
          </a:xfrm>
          <a:prstGeom prst="rect">
            <a:avLst/>
          </a:prstGeom>
          <a:noFill/>
          <a:ln/>
        </p:spPr>
        <p:txBody>
          <a:bodyPr wrap="square" lIns="0" tIns="0" rIns="0" bIns="0" rtlCol="0" anchor="ctr"/>
          <a:lstStyle/>
          <a:p>
            <a:pPr indent="0" marL="0">
              <a:buNone/>
            </a:pPr>
            <a:r>
              <a:rPr lang="en-US" sz="950" dirty="0">
                <a:solidFill>
                  <a:srgbClr val="90E0EF"/>
                </a:solidFill>
              </a:rPr>
              <a:t>📂 Output: enforcement_priority_zones.csv + parking_enforcement_map.html</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3200" b="1" dirty="0">
                <a:solidFill>
                  <a:srgbClr val="0A1628"/>
                </a:solidFill>
              </a:rPr>
              <a:t>Top Enforcement Priority Zones</a:t>
            </a:r>
            <a:endParaRPr lang="en-US" sz="3200" dirty="0"/>
          </a:p>
        </p:txBody>
      </p:sp>
      <p:sp>
        <p:nvSpPr>
          <p:cNvPr id="3" name="Text 1"/>
          <p:cNvSpPr/>
          <p:nvPr/>
        </p:nvSpPr>
        <p:spPr>
          <a:xfrm>
            <a:off x="457200" y="841248"/>
            <a:ext cx="8229600" cy="347472"/>
          </a:xfrm>
          <a:prstGeom prst="rect">
            <a:avLst/>
          </a:prstGeom>
          <a:noFill/>
          <a:ln/>
        </p:spPr>
        <p:txBody>
          <a:bodyPr wrap="square" lIns="0" tIns="0" rIns="0" bIns="0" rtlCol="0" anchor="ctr"/>
          <a:lstStyle/>
          <a:p>
            <a:pPr indent="0" marL="0">
              <a:buNone/>
            </a:pPr>
            <a:r>
              <a:rPr lang="en-US" sz="1300" dirty="0">
                <a:solidFill>
                  <a:srgbClr val="8899AA"/>
                </a:solidFill>
              </a:rPr>
              <a:t>Ranked by Congestion Risk Score — actionable output for BTP field teams</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3474720"/>
        </p:xfrm>
        <a:graphic>
          <a:graphicData uri="http://schemas.openxmlformats.org/drawingml/2006/table">
            <a:tbl>
              <a:tblPr/>
              <a:tblGrid>
                <a:gridCol w="731520"/>
                <a:gridCol w="1097280"/>
                <a:gridCol w="1188720"/>
                <a:gridCol w="1280160"/>
                <a:gridCol w="1371600"/>
                <a:gridCol w="1280160"/>
              </a:tblGrid>
              <a:tr h="438912">
                <a:tc>
                  <a:txBody>
                    <a:bodyPr/>
                    <a:lstStyle/>
                    <a:p>
                      <a:pPr algn="ctr" indent="0" marL="0">
                        <a:buNone/>
                      </a:pPr>
                      <a:r>
                        <a:rPr lang="en-US" sz="1100" b="1" dirty="0">
                          <a:solidFill>
                            <a:srgbClr val="FFFFFF"/>
                          </a:solidFill>
                        </a:rPr>
                        <a:t>Rank</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c>
                  <a:txBody>
                    <a:bodyPr/>
                    <a:lstStyle/>
                    <a:p>
                      <a:pPr algn="ctr" indent="0" marL="0">
                        <a:buNone/>
                      </a:pPr>
                      <a:r>
                        <a:rPr lang="en-US" sz="1100" b="1" dirty="0">
                          <a:solidFill>
                            <a:srgbClr val="FFFFFF"/>
                          </a:solidFill>
                        </a:rPr>
                        <a:t>Zone ID</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c>
                  <a:txBody>
                    <a:bodyPr/>
                    <a:lstStyle/>
                    <a:p>
                      <a:pPr algn="ctr" indent="0" marL="0">
                        <a:buNone/>
                      </a:pPr>
                      <a:r>
                        <a:rPr lang="en-US" sz="1100" b="1" dirty="0">
                          <a:solidFill>
                            <a:srgbClr val="FFFFFF"/>
                          </a:solidFill>
                        </a:rPr>
                        <a:t>CRS Score</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c>
                  <a:txBody>
                    <a:bodyPr/>
                    <a:lstStyle/>
                    <a:p>
                      <a:pPr algn="ctr" indent="0" marL="0">
                        <a:buNone/>
                      </a:pPr>
                      <a:r>
                        <a:rPr lang="en-US" sz="1100" b="1" dirty="0">
                          <a:solidFill>
                            <a:srgbClr val="FFFFFF"/>
                          </a:solidFill>
                        </a:rPr>
                        <a:t>Violations</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c>
                  <a:txBody>
                    <a:bodyPr/>
                    <a:lstStyle/>
                    <a:p>
                      <a:pPr algn="ctr" indent="0" marL="0">
                        <a:buNone/>
                      </a:pPr>
                      <a:r>
                        <a:rPr lang="en-US" sz="1100" b="1" dirty="0">
                          <a:solidFill>
                            <a:srgbClr val="FFFFFF"/>
                          </a:solidFill>
                        </a:rPr>
                        <a:t>Peak Hour %</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c>
                  <a:txBody>
                    <a:bodyPr/>
                    <a:lstStyle/>
                    <a:p>
                      <a:pPr algn="ctr" indent="0" marL="0">
                        <a:buNone/>
                      </a:pPr>
                      <a:r>
                        <a:rPr lang="en-US" sz="1100" b="1" dirty="0">
                          <a:solidFill>
                            <a:srgbClr val="FFFFFF"/>
                          </a:solidFill>
                        </a:rPr>
                        <a:t>Tier</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r>
              <a:tr h="438912">
                <a:tc>
                  <a:txBody>
                    <a:bodyPr/>
                    <a:lstStyle/>
                    <a:p>
                      <a:pPr algn="ctr" indent="0" marL="0">
                        <a:buNone/>
                      </a:pPr>
                      <a:r>
                        <a:rPr lang="en-US" sz="1100" dirty="0">
                          <a:solidFill>
                            <a:srgbClr val="000000"/>
                          </a:solidFill>
                        </a:rPr>
                        <a:t>#1</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00000"/>
                          </a:solidFill>
                        </a:rPr>
                        <a:t>Zone 42</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00000"/>
                          </a:solidFill>
                        </a:rPr>
                        <a:t>68.4</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00000"/>
                          </a:solidFill>
                        </a:rPr>
                        <a:t>3,241</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00000"/>
                          </a:solidFill>
                        </a:rPr>
                        <a:t>38.2%</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b="1" dirty="0">
                          <a:solidFill>
                            <a:srgbClr val="F97316"/>
                          </a:solidFill>
                        </a:rPr>
                        <a:t>🟠 HIGH</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38912">
                <a:tc>
                  <a:txBody>
                    <a:bodyPr/>
                    <a:lstStyle/>
                    <a:p>
                      <a:pPr algn="ctr" indent="0" marL="0">
                        <a:buNone/>
                      </a:pPr>
                      <a:r>
                        <a:rPr lang="en-US" sz="1100" dirty="0">
                          <a:solidFill>
                            <a:srgbClr val="000000"/>
                          </a:solidFill>
                        </a:rPr>
                        <a:t>#2</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00000"/>
                          </a:solidFill>
                        </a:rPr>
                        <a:t>Zone 17</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00000"/>
                          </a:solidFill>
                        </a:rPr>
                        <a:t>65.1</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00000"/>
                          </a:solidFill>
                        </a:rPr>
                        <a:t>2,987</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00000"/>
                          </a:solidFill>
                        </a:rPr>
                        <a:t>35.8%</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b="1" dirty="0">
                          <a:solidFill>
                            <a:srgbClr val="F97316"/>
                          </a:solidFill>
                        </a:rPr>
                        <a:t>🟠 HIGH</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38912">
                <a:tc>
                  <a:txBody>
                    <a:bodyPr/>
                    <a:lstStyle/>
                    <a:p>
                      <a:pPr algn="ctr" indent="0" marL="0">
                        <a:buNone/>
                      </a:pPr>
                      <a:r>
                        <a:rPr lang="en-US" sz="1100" dirty="0">
                          <a:solidFill>
                            <a:srgbClr val="000000"/>
                          </a:solidFill>
                        </a:rPr>
                        <a:t>#3</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00000"/>
                          </a:solidFill>
                        </a:rPr>
                        <a:t>Zone 91</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00000"/>
                          </a:solidFill>
                        </a:rPr>
                        <a:t>61.7</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00000"/>
                          </a:solidFill>
                        </a:rPr>
                        <a:t>2,654</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00000"/>
                          </a:solidFill>
                        </a:rPr>
                        <a:t>31.4%</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b="1" dirty="0">
                          <a:solidFill>
                            <a:srgbClr val="F97316"/>
                          </a:solidFill>
                        </a:rPr>
                        <a:t>🟠 HIGH</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38912">
                <a:tc>
                  <a:txBody>
                    <a:bodyPr/>
                    <a:lstStyle/>
                    <a:p>
                      <a:pPr algn="ctr" indent="0" marL="0">
                        <a:buNone/>
                      </a:pPr>
                      <a:r>
                        <a:rPr lang="en-US" sz="1100" dirty="0">
                          <a:solidFill>
                            <a:srgbClr val="000000"/>
                          </a:solidFill>
                        </a:rPr>
                        <a:t>#4</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00000"/>
                          </a:solidFill>
                        </a:rPr>
                        <a:t>Zone 55</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00000"/>
                          </a:solidFill>
                        </a:rPr>
                        <a:t>49.8</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00000"/>
                          </a:solidFill>
                        </a:rPr>
                        <a:t>2,210</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00000"/>
                          </a:solidFill>
                        </a:rPr>
                        <a:t>28.9%</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b="1" dirty="0">
                          <a:solidFill>
                            <a:srgbClr val="EAB308"/>
                          </a:solidFill>
                        </a:rPr>
                        <a:t>🟡 MEDIUM</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38912">
                <a:tc>
                  <a:txBody>
                    <a:bodyPr/>
                    <a:lstStyle/>
                    <a:p>
                      <a:pPr algn="ctr" indent="0" marL="0">
                        <a:buNone/>
                      </a:pPr>
                      <a:r>
                        <a:rPr lang="en-US" sz="1100" dirty="0">
                          <a:solidFill>
                            <a:srgbClr val="000000"/>
                          </a:solidFill>
                        </a:rPr>
                        <a:t>#5</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00000"/>
                          </a:solidFill>
                        </a:rPr>
                        <a:t>Zone 23</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00000"/>
                          </a:solidFill>
                        </a:rPr>
                        <a:t>47.2</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00000"/>
                          </a:solidFill>
                        </a:rPr>
                        <a:t>1,998</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00000"/>
                          </a:solidFill>
                        </a:rPr>
                        <a:t>26.1%</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b="1" dirty="0">
                          <a:solidFill>
                            <a:srgbClr val="EAB308"/>
                          </a:solidFill>
                        </a:rPr>
                        <a:t>🟡 MEDIUM</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38912">
                <a:tc>
                  <a:txBody>
                    <a:bodyPr/>
                    <a:lstStyle/>
                    <a:p>
                      <a:pPr algn="ctr" indent="0" marL="0">
                        <a:buNone/>
                      </a:pPr>
                      <a:r>
                        <a:rPr lang="en-US" sz="1100" dirty="0">
                          <a:solidFill>
                            <a:srgbClr val="000000"/>
                          </a:solidFill>
                        </a:rPr>
                        <a:t>#6</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00000"/>
                          </a:solidFill>
                        </a:rPr>
                        <a:t>Zone 78</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00000"/>
                          </a:solidFill>
                        </a:rPr>
                        <a:t>44.9</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00000"/>
                          </a:solidFill>
                        </a:rPr>
                        <a:t>1,876</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00000"/>
                          </a:solidFill>
                        </a:rPr>
                        <a:t>24.7%</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b="1" dirty="0">
                          <a:solidFill>
                            <a:srgbClr val="EAB308"/>
                          </a:solidFill>
                        </a:rPr>
                        <a:t>🟡 MEDIUM</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38912">
                <a:tc>
                  <a:txBody>
                    <a:bodyPr/>
                    <a:lstStyle/>
                    <a:p>
                      <a:pPr algn="ctr" indent="0" marL="0">
                        <a:buNone/>
                      </a:pPr>
                      <a:r>
                        <a:rPr lang="en-US" sz="1100" dirty="0">
                          <a:solidFill>
                            <a:srgbClr val="000000"/>
                          </a:solidFill>
                        </a:rPr>
                        <a:t>#7</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00000"/>
                          </a:solidFill>
                        </a:rPr>
                        <a:t>Zone 34</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00000"/>
                          </a:solidFill>
                        </a:rPr>
                        <a:t>42.1</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00000"/>
                          </a:solidFill>
                        </a:rPr>
                        <a:t>1,743</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00000"/>
                          </a:solidFill>
                        </a:rPr>
                        <a:t>22.3%</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b="1" dirty="0">
                          <a:solidFill>
                            <a:srgbClr val="EAB308"/>
                          </a:solidFill>
                        </a:rPr>
                        <a:t>🟡 MEDIUM</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
        <p:nvSpPr>
          <p:cNvPr id="5" name="Text 2"/>
          <p:cNvSpPr/>
          <p:nvPr/>
        </p:nvSpPr>
        <p:spPr>
          <a:xfrm>
            <a:off x="457200" y="4828032"/>
            <a:ext cx="8229600" cy="274320"/>
          </a:xfrm>
          <a:prstGeom prst="rect">
            <a:avLst/>
          </a:prstGeom>
          <a:noFill/>
          <a:ln/>
        </p:spPr>
        <p:txBody>
          <a:bodyPr wrap="square" lIns="0" tIns="0" rIns="0" bIns="0" rtlCol="0" anchor="ctr"/>
          <a:lstStyle/>
          <a:p>
            <a:pPr algn="ctr" indent="0" marL="0">
              <a:buNone/>
            </a:pPr>
            <a:r>
              <a:rPr lang="en-US" sz="1000" dirty="0">
                <a:solidFill>
                  <a:srgbClr val="8899AA"/>
                </a:solidFill>
              </a:rPr>
              <a:t>Full ranked table exported to enforcement_priority_zones.csv — 157 zones total</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3200" b="1" dirty="0">
                <a:solidFill>
                  <a:srgbClr val="FFFFFF"/>
                </a:solidFill>
              </a:rPr>
              <a:t>Real-World Impact</a:t>
            </a:r>
            <a:endParaRPr lang="en-US" sz="3200" dirty="0"/>
          </a:p>
        </p:txBody>
      </p:sp>
      <p:sp>
        <p:nvSpPr>
          <p:cNvPr id="3" name="Text 1"/>
          <p:cNvSpPr/>
          <p:nvPr/>
        </p:nvSpPr>
        <p:spPr>
          <a:xfrm>
            <a:off x="457200" y="841248"/>
            <a:ext cx="8229600" cy="347472"/>
          </a:xfrm>
          <a:prstGeom prst="rect">
            <a:avLst/>
          </a:prstGeom>
          <a:noFill/>
          <a:ln/>
        </p:spPr>
        <p:txBody>
          <a:bodyPr wrap="square" lIns="0" tIns="0" rIns="0" bIns="0" rtlCol="0" anchor="ctr"/>
          <a:lstStyle/>
          <a:p>
            <a:pPr indent="0" marL="0">
              <a:buNone/>
            </a:pPr>
            <a:r>
              <a:rPr lang="en-US" sz="1300" dirty="0">
                <a:solidFill>
                  <a:srgbClr val="90E0EF"/>
                </a:solidFill>
              </a:rPr>
              <a:t>Why Bengaluru Traffic Police need this today</a:t>
            </a:r>
            <a:endParaRPr lang="en-US" sz="1300" dirty="0"/>
          </a:p>
        </p:txBody>
      </p:sp>
      <p:sp>
        <p:nvSpPr>
          <p:cNvPr id="4" name="Shape 2"/>
          <p:cNvSpPr/>
          <p:nvPr/>
        </p:nvSpPr>
        <p:spPr>
          <a:xfrm>
            <a:off x="457200" y="1325880"/>
            <a:ext cx="2651760" cy="1554480"/>
          </a:xfrm>
          <a:prstGeom prst="roundRect">
            <a:avLst>
              <a:gd name="adj" fmla="val 7059"/>
            </a:avLst>
          </a:prstGeom>
          <a:solidFill>
            <a:srgbClr val="112240"/>
          </a:solidFill>
          <a:ln/>
          <a:effectLst>
            <a:outerShdw sx="100000" sy="100000" kx="0" ky="0" algn="bl" rotWithShape="0" blurRad="101600" dist="38100" dir="2700000">
              <a:srgbClr val="000000">
                <a:alpha val="12000"/>
              </a:srgbClr>
            </a:outerShdw>
          </a:effectLst>
        </p:spPr>
      </p:sp>
      <p:sp>
        <p:nvSpPr>
          <p:cNvPr id="5" name="Text 3"/>
          <p:cNvSpPr/>
          <p:nvPr/>
        </p:nvSpPr>
        <p:spPr>
          <a:xfrm>
            <a:off x="457200" y="1463040"/>
            <a:ext cx="2651760" cy="41148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6" name="Text 4"/>
          <p:cNvSpPr/>
          <p:nvPr/>
        </p:nvSpPr>
        <p:spPr>
          <a:xfrm>
            <a:off x="594360" y="1892808"/>
            <a:ext cx="2377440" cy="320040"/>
          </a:xfrm>
          <a:prstGeom prst="rect">
            <a:avLst/>
          </a:prstGeom>
          <a:noFill/>
          <a:ln/>
        </p:spPr>
        <p:txBody>
          <a:bodyPr wrap="square" lIns="0" tIns="0" rIns="0" bIns="0" rtlCol="0" anchor="ctr"/>
          <a:lstStyle/>
          <a:p>
            <a:pPr algn="ctr" indent="0" marL="0">
              <a:buNone/>
            </a:pPr>
            <a:r>
              <a:rPr lang="en-US" sz="1200" b="1" dirty="0">
                <a:solidFill>
                  <a:srgbClr val="00B4D8"/>
                </a:solidFill>
              </a:rPr>
              <a:t>Resource Optimisation</a:t>
            </a:r>
            <a:endParaRPr lang="en-US" sz="1200" dirty="0"/>
          </a:p>
        </p:txBody>
      </p:sp>
      <p:sp>
        <p:nvSpPr>
          <p:cNvPr id="7" name="Text 5"/>
          <p:cNvSpPr/>
          <p:nvPr/>
        </p:nvSpPr>
        <p:spPr>
          <a:xfrm>
            <a:off x="566928" y="2212848"/>
            <a:ext cx="2432304" cy="566928"/>
          </a:xfrm>
          <a:prstGeom prst="rect">
            <a:avLst/>
          </a:prstGeom>
          <a:noFill/>
          <a:ln/>
        </p:spPr>
        <p:txBody>
          <a:bodyPr wrap="square" lIns="0" tIns="0" rIns="0" bIns="0" rtlCol="0" anchor="ctr"/>
          <a:lstStyle/>
          <a:p>
            <a:pPr algn="ctr" indent="0" marL="0">
              <a:buNone/>
            </a:pPr>
            <a:r>
              <a:rPr lang="en-US" sz="950" dirty="0">
                <a:solidFill>
                  <a:srgbClr val="90E0EF"/>
                </a:solidFill>
              </a:rPr>
              <a:t>Police don't have enough officers to patrol every street. This AI tells them exactly where their limited manpower achieves maximum traffic impact.</a:t>
            </a:r>
            <a:endParaRPr lang="en-US" sz="950" dirty="0"/>
          </a:p>
        </p:txBody>
      </p:sp>
      <p:sp>
        <p:nvSpPr>
          <p:cNvPr id="8" name="Shape 6"/>
          <p:cNvSpPr/>
          <p:nvPr/>
        </p:nvSpPr>
        <p:spPr>
          <a:xfrm>
            <a:off x="3429000" y="1325880"/>
            <a:ext cx="2651760" cy="1554480"/>
          </a:xfrm>
          <a:prstGeom prst="roundRect">
            <a:avLst>
              <a:gd name="adj" fmla="val 7059"/>
            </a:avLst>
          </a:prstGeom>
          <a:solidFill>
            <a:srgbClr val="112240"/>
          </a:solidFill>
          <a:ln/>
          <a:effectLst>
            <a:outerShdw sx="100000" sy="100000" kx="0" ky="0" algn="bl" rotWithShape="0" blurRad="101600" dist="38100" dir="2700000">
              <a:srgbClr val="000000">
                <a:alpha val="12000"/>
              </a:srgbClr>
            </a:outerShdw>
          </a:effectLst>
        </p:spPr>
      </p:sp>
      <p:sp>
        <p:nvSpPr>
          <p:cNvPr id="9" name="Text 7"/>
          <p:cNvSpPr/>
          <p:nvPr/>
        </p:nvSpPr>
        <p:spPr>
          <a:xfrm>
            <a:off x="3429000" y="1463040"/>
            <a:ext cx="2651760" cy="41148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0" name="Text 8"/>
          <p:cNvSpPr/>
          <p:nvPr/>
        </p:nvSpPr>
        <p:spPr>
          <a:xfrm>
            <a:off x="3566160" y="1892808"/>
            <a:ext cx="2377440" cy="320040"/>
          </a:xfrm>
          <a:prstGeom prst="rect">
            <a:avLst/>
          </a:prstGeom>
          <a:noFill/>
          <a:ln/>
        </p:spPr>
        <p:txBody>
          <a:bodyPr wrap="square" lIns="0" tIns="0" rIns="0" bIns="0" rtlCol="0" anchor="ctr"/>
          <a:lstStyle/>
          <a:p>
            <a:pPr algn="ctr" indent="0" marL="0">
              <a:buNone/>
            </a:pPr>
            <a:r>
              <a:rPr lang="en-US" sz="1200" b="1" dirty="0">
                <a:solidFill>
                  <a:srgbClr val="00B4D8"/>
                </a:solidFill>
              </a:rPr>
              <a:t>Proactive, Not Reactive</a:t>
            </a:r>
            <a:endParaRPr lang="en-US" sz="1200" dirty="0"/>
          </a:p>
        </p:txBody>
      </p:sp>
      <p:sp>
        <p:nvSpPr>
          <p:cNvPr id="11" name="Text 9"/>
          <p:cNvSpPr/>
          <p:nvPr/>
        </p:nvSpPr>
        <p:spPr>
          <a:xfrm>
            <a:off x="3538728" y="2212848"/>
            <a:ext cx="2432304" cy="566928"/>
          </a:xfrm>
          <a:prstGeom prst="rect">
            <a:avLst/>
          </a:prstGeom>
          <a:noFill/>
          <a:ln/>
        </p:spPr>
        <p:txBody>
          <a:bodyPr wrap="square" lIns="0" tIns="0" rIns="0" bIns="0" rtlCol="0" anchor="ctr"/>
          <a:lstStyle/>
          <a:p>
            <a:pPr algn="ctr" indent="0" marL="0">
              <a:buNone/>
            </a:pPr>
            <a:r>
              <a:rPr lang="en-US" sz="950" dirty="0">
                <a:solidFill>
                  <a:srgbClr val="90E0EF"/>
                </a:solidFill>
              </a:rPr>
              <a:t>Instead of reacting to gridlock after it forms, dispatchers deploy units to HIGH-risk zones before rush hour begins.</a:t>
            </a:r>
            <a:endParaRPr lang="en-US" sz="950" dirty="0"/>
          </a:p>
        </p:txBody>
      </p:sp>
      <p:sp>
        <p:nvSpPr>
          <p:cNvPr id="12" name="Shape 10"/>
          <p:cNvSpPr/>
          <p:nvPr/>
        </p:nvSpPr>
        <p:spPr>
          <a:xfrm>
            <a:off x="6400800" y="1325880"/>
            <a:ext cx="2651760" cy="1554480"/>
          </a:xfrm>
          <a:prstGeom prst="roundRect">
            <a:avLst>
              <a:gd name="adj" fmla="val 7059"/>
            </a:avLst>
          </a:prstGeom>
          <a:solidFill>
            <a:srgbClr val="112240"/>
          </a:solidFill>
          <a:ln/>
          <a:effectLst>
            <a:outerShdw sx="100000" sy="100000" kx="0" ky="0" algn="bl" rotWithShape="0" blurRad="101600" dist="38100" dir="2700000">
              <a:srgbClr val="000000">
                <a:alpha val="12000"/>
              </a:srgbClr>
            </a:outerShdw>
          </a:effectLst>
        </p:spPr>
      </p:sp>
      <p:sp>
        <p:nvSpPr>
          <p:cNvPr id="13" name="Text 11"/>
          <p:cNvSpPr/>
          <p:nvPr/>
        </p:nvSpPr>
        <p:spPr>
          <a:xfrm>
            <a:off x="6400800" y="1463040"/>
            <a:ext cx="2651760" cy="41148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4" name="Text 12"/>
          <p:cNvSpPr/>
          <p:nvPr/>
        </p:nvSpPr>
        <p:spPr>
          <a:xfrm>
            <a:off x="6537960" y="1892808"/>
            <a:ext cx="2377440" cy="320040"/>
          </a:xfrm>
          <a:prstGeom prst="rect">
            <a:avLst/>
          </a:prstGeom>
          <a:noFill/>
          <a:ln/>
        </p:spPr>
        <p:txBody>
          <a:bodyPr wrap="square" lIns="0" tIns="0" rIns="0" bIns="0" rtlCol="0" anchor="ctr"/>
          <a:lstStyle/>
          <a:p>
            <a:pPr algn="ctr" indent="0" marL="0">
              <a:buNone/>
            </a:pPr>
            <a:r>
              <a:rPr lang="en-US" sz="1200" b="1" dirty="0">
                <a:solidFill>
                  <a:srgbClr val="00B4D8"/>
                </a:solidFill>
              </a:rPr>
              <a:t>Actionable Output</a:t>
            </a:r>
            <a:endParaRPr lang="en-US" sz="1200" dirty="0"/>
          </a:p>
        </p:txBody>
      </p:sp>
      <p:sp>
        <p:nvSpPr>
          <p:cNvPr id="15" name="Text 13"/>
          <p:cNvSpPr/>
          <p:nvPr/>
        </p:nvSpPr>
        <p:spPr>
          <a:xfrm>
            <a:off x="6510528" y="2212848"/>
            <a:ext cx="2432304" cy="566928"/>
          </a:xfrm>
          <a:prstGeom prst="rect">
            <a:avLst/>
          </a:prstGeom>
          <a:noFill/>
          <a:ln/>
        </p:spPr>
        <p:txBody>
          <a:bodyPr wrap="square" lIns="0" tIns="0" rIns="0" bIns="0" rtlCol="0" anchor="ctr"/>
          <a:lstStyle/>
          <a:p>
            <a:pPr algn="ctr" indent="0" marL="0">
              <a:buNone/>
            </a:pPr>
            <a:r>
              <a:rPr lang="en-US" sz="950" dirty="0">
                <a:solidFill>
                  <a:srgbClr val="90E0EF"/>
                </a:solidFill>
              </a:rPr>
              <a:t>Not just a math model — a simple Red/Orange/Yellow/Green dashboard map that any police dispatcher can read and act on immediately.</a:t>
            </a:r>
            <a:endParaRPr lang="en-US" sz="950" dirty="0"/>
          </a:p>
        </p:txBody>
      </p:sp>
      <p:sp>
        <p:nvSpPr>
          <p:cNvPr id="16" name="Shape 14"/>
          <p:cNvSpPr/>
          <p:nvPr/>
        </p:nvSpPr>
        <p:spPr>
          <a:xfrm>
            <a:off x="457200" y="3063240"/>
            <a:ext cx="2651760" cy="1554480"/>
          </a:xfrm>
          <a:prstGeom prst="roundRect">
            <a:avLst>
              <a:gd name="adj" fmla="val 7059"/>
            </a:avLst>
          </a:prstGeom>
          <a:solidFill>
            <a:srgbClr val="112240"/>
          </a:solidFill>
          <a:ln/>
          <a:effectLst>
            <a:outerShdw sx="100000" sy="100000" kx="0" ky="0" algn="bl" rotWithShape="0" blurRad="101600" dist="38100" dir="2700000">
              <a:srgbClr val="000000">
                <a:alpha val="12000"/>
              </a:srgbClr>
            </a:outerShdw>
          </a:effectLst>
        </p:spPr>
      </p:sp>
      <p:sp>
        <p:nvSpPr>
          <p:cNvPr id="17" name="Text 15"/>
          <p:cNvSpPr/>
          <p:nvPr/>
        </p:nvSpPr>
        <p:spPr>
          <a:xfrm>
            <a:off x="457200" y="3200400"/>
            <a:ext cx="2651760" cy="41148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8" name="Text 16"/>
          <p:cNvSpPr/>
          <p:nvPr/>
        </p:nvSpPr>
        <p:spPr>
          <a:xfrm>
            <a:off x="594360" y="3630168"/>
            <a:ext cx="2377440" cy="320040"/>
          </a:xfrm>
          <a:prstGeom prst="rect">
            <a:avLst/>
          </a:prstGeom>
          <a:noFill/>
          <a:ln/>
        </p:spPr>
        <p:txBody>
          <a:bodyPr wrap="square" lIns="0" tIns="0" rIns="0" bIns="0" rtlCol="0" anchor="ctr"/>
          <a:lstStyle/>
          <a:p>
            <a:pPr algn="ctr" indent="0" marL="0">
              <a:buNone/>
            </a:pPr>
            <a:r>
              <a:rPr lang="en-US" sz="1200" b="1" dirty="0">
                <a:solidFill>
                  <a:srgbClr val="00B4D8"/>
                </a:solidFill>
              </a:rPr>
              <a:t>Self-Improving System</a:t>
            </a:r>
            <a:endParaRPr lang="en-US" sz="1200" dirty="0"/>
          </a:p>
        </p:txBody>
      </p:sp>
      <p:sp>
        <p:nvSpPr>
          <p:cNvPr id="19" name="Text 17"/>
          <p:cNvSpPr/>
          <p:nvPr/>
        </p:nvSpPr>
        <p:spPr>
          <a:xfrm>
            <a:off x="566928" y="3950208"/>
            <a:ext cx="2432304" cy="566928"/>
          </a:xfrm>
          <a:prstGeom prst="rect">
            <a:avLst/>
          </a:prstGeom>
          <a:noFill/>
          <a:ln/>
        </p:spPr>
        <p:txBody>
          <a:bodyPr wrap="square" lIns="0" tIns="0" rIns="0" bIns="0" rtlCol="0" anchor="ctr"/>
          <a:lstStyle/>
          <a:p>
            <a:pPr algn="ctr" indent="0" marL="0">
              <a:buNone/>
            </a:pPr>
            <a:r>
              <a:rPr lang="en-US" sz="950" dirty="0">
                <a:solidFill>
                  <a:srgbClr val="90E0EF"/>
                </a:solidFill>
              </a:rPr>
              <a:t>As new violation data arrives daily, the model can be retrained monthly to adapt to seasonal patterns, new event venues, and city growth.</a:t>
            </a:r>
            <a:endParaRPr lang="en-US" sz="950" dirty="0"/>
          </a:p>
        </p:txBody>
      </p:sp>
      <p:sp>
        <p:nvSpPr>
          <p:cNvPr id="20" name="Shape 18"/>
          <p:cNvSpPr/>
          <p:nvPr/>
        </p:nvSpPr>
        <p:spPr>
          <a:xfrm>
            <a:off x="3429000" y="3063240"/>
            <a:ext cx="2651760" cy="1554480"/>
          </a:xfrm>
          <a:prstGeom prst="roundRect">
            <a:avLst>
              <a:gd name="adj" fmla="val 7059"/>
            </a:avLst>
          </a:prstGeom>
          <a:solidFill>
            <a:srgbClr val="112240"/>
          </a:solidFill>
          <a:ln/>
          <a:effectLst>
            <a:outerShdw sx="100000" sy="100000" kx="0" ky="0" algn="bl" rotWithShape="0" blurRad="101600" dist="38100" dir="2700000">
              <a:srgbClr val="000000">
                <a:alpha val="12000"/>
              </a:srgbClr>
            </a:outerShdw>
          </a:effectLst>
        </p:spPr>
      </p:sp>
      <p:sp>
        <p:nvSpPr>
          <p:cNvPr id="21" name="Text 19"/>
          <p:cNvSpPr/>
          <p:nvPr/>
        </p:nvSpPr>
        <p:spPr>
          <a:xfrm>
            <a:off x="3429000" y="3200400"/>
            <a:ext cx="2651760" cy="41148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2" name="Text 20"/>
          <p:cNvSpPr/>
          <p:nvPr/>
        </p:nvSpPr>
        <p:spPr>
          <a:xfrm>
            <a:off x="3566160" y="3630168"/>
            <a:ext cx="2377440" cy="320040"/>
          </a:xfrm>
          <a:prstGeom prst="rect">
            <a:avLst/>
          </a:prstGeom>
          <a:noFill/>
          <a:ln/>
        </p:spPr>
        <p:txBody>
          <a:bodyPr wrap="square" lIns="0" tIns="0" rIns="0" bIns="0" rtlCol="0" anchor="ctr"/>
          <a:lstStyle/>
          <a:p>
            <a:pPr algn="ctr" indent="0" marL="0">
              <a:buNone/>
            </a:pPr>
            <a:r>
              <a:rPr lang="en-US" sz="1200" b="1" dirty="0">
                <a:solidFill>
                  <a:srgbClr val="00B4D8"/>
                </a:solidFill>
              </a:rPr>
              <a:t>Built on Real BTP Data</a:t>
            </a:r>
            <a:endParaRPr lang="en-US" sz="1200" dirty="0"/>
          </a:p>
        </p:txBody>
      </p:sp>
      <p:sp>
        <p:nvSpPr>
          <p:cNvPr id="23" name="Text 21"/>
          <p:cNvSpPr/>
          <p:nvPr/>
        </p:nvSpPr>
        <p:spPr>
          <a:xfrm>
            <a:off x="3538728" y="3950208"/>
            <a:ext cx="2432304" cy="566928"/>
          </a:xfrm>
          <a:prstGeom prst="rect">
            <a:avLst/>
          </a:prstGeom>
          <a:noFill/>
          <a:ln/>
        </p:spPr>
        <p:txBody>
          <a:bodyPr wrap="square" lIns="0" tIns="0" rIns="0" bIns="0" rtlCol="0" anchor="ctr"/>
          <a:lstStyle/>
          <a:p>
            <a:pPr algn="ctr" indent="0" marL="0">
              <a:buNone/>
            </a:pPr>
            <a:r>
              <a:rPr lang="en-US" sz="950" dirty="0">
                <a:solidFill>
                  <a:srgbClr val="90E0EF"/>
                </a:solidFill>
              </a:rPr>
              <a:t>298,445 actual violations from Bengaluru Traffic Police — not simulations. The system is calibrated to Bengaluru's real traffic geography.</a:t>
            </a:r>
            <a:endParaRPr lang="en-US" sz="950" dirty="0"/>
          </a:p>
        </p:txBody>
      </p:sp>
      <p:sp>
        <p:nvSpPr>
          <p:cNvPr id="24" name="Shape 22"/>
          <p:cNvSpPr/>
          <p:nvPr/>
        </p:nvSpPr>
        <p:spPr>
          <a:xfrm>
            <a:off x="6400800" y="3063240"/>
            <a:ext cx="2651760" cy="1554480"/>
          </a:xfrm>
          <a:prstGeom prst="roundRect">
            <a:avLst>
              <a:gd name="adj" fmla="val 7059"/>
            </a:avLst>
          </a:prstGeom>
          <a:solidFill>
            <a:srgbClr val="112240"/>
          </a:solidFill>
          <a:ln/>
          <a:effectLst>
            <a:outerShdw sx="100000" sy="100000" kx="0" ky="0" algn="bl" rotWithShape="0" blurRad="101600" dist="38100" dir="2700000">
              <a:srgbClr val="000000">
                <a:alpha val="12000"/>
              </a:srgbClr>
            </a:outerShdw>
          </a:effectLst>
        </p:spPr>
      </p:sp>
      <p:sp>
        <p:nvSpPr>
          <p:cNvPr id="25" name="Text 23"/>
          <p:cNvSpPr/>
          <p:nvPr/>
        </p:nvSpPr>
        <p:spPr>
          <a:xfrm>
            <a:off x="6400800" y="3200400"/>
            <a:ext cx="2651760" cy="41148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6" name="Text 24"/>
          <p:cNvSpPr/>
          <p:nvPr/>
        </p:nvSpPr>
        <p:spPr>
          <a:xfrm>
            <a:off x="6537960" y="3630168"/>
            <a:ext cx="2377440" cy="320040"/>
          </a:xfrm>
          <a:prstGeom prst="rect">
            <a:avLst/>
          </a:prstGeom>
          <a:noFill/>
          <a:ln/>
        </p:spPr>
        <p:txBody>
          <a:bodyPr wrap="square" lIns="0" tIns="0" rIns="0" bIns="0" rtlCol="0" anchor="ctr"/>
          <a:lstStyle/>
          <a:p>
            <a:pPr algn="ctr" indent="0" marL="0">
              <a:buNone/>
            </a:pPr>
            <a:r>
              <a:rPr lang="en-US" sz="1200" b="1" dirty="0">
                <a:solidFill>
                  <a:srgbClr val="00B4D8"/>
                </a:solidFill>
              </a:rPr>
              <a:t>Deployable Today</a:t>
            </a:r>
            <a:endParaRPr lang="en-US" sz="1200" dirty="0"/>
          </a:p>
        </p:txBody>
      </p:sp>
      <p:sp>
        <p:nvSpPr>
          <p:cNvPr id="27" name="Text 25"/>
          <p:cNvSpPr/>
          <p:nvPr/>
        </p:nvSpPr>
        <p:spPr>
          <a:xfrm>
            <a:off x="6510528" y="3950208"/>
            <a:ext cx="2432304" cy="566928"/>
          </a:xfrm>
          <a:prstGeom prst="rect">
            <a:avLst/>
          </a:prstGeom>
          <a:noFill/>
          <a:ln/>
        </p:spPr>
        <p:txBody>
          <a:bodyPr wrap="square" lIns="0" tIns="0" rIns="0" bIns="0" rtlCol="0" anchor="ctr"/>
          <a:lstStyle/>
          <a:p>
            <a:pPr algn="ctr" indent="0" marL="0">
              <a:buNone/>
            </a:pPr>
            <a:r>
              <a:rPr lang="en-US" sz="950" dirty="0">
                <a:solidFill>
                  <a:srgbClr val="90E0EF"/>
                </a:solidFill>
              </a:rPr>
              <a:t>The output files (CSV + HTML map) require no special software. Any dispatcher with a laptop can open the map and start using it.</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3200" b="1" dirty="0">
                <a:solidFill>
                  <a:srgbClr val="0A1628"/>
                </a:solidFill>
              </a:rPr>
              <a:t>Future Roadmap</a:t>
            </a:r>
            <a:endParaRPr lang="en-US" sz="3200" dirty="0"/>
          </a:p>
        </p:txBody>
      </p:sp>
      <p:sp>
        <p:nvSpPr>
          <p:cNvPr id="3" name="Text 1"/>
          <p:cNvSpPr/>
          <p:nvPr/>
        </p:nvSpPr>
        <p:spPr>
          <a:xfrm>
            <a:off x="457200" y="841248"/>
            <a:ext cx="8229600" cy="347472"/>
          </a:xfrm>
          <a:prstGeom prst="rect">
            <a:avLst/>
          </a:prstGeom>
          <a:noFill/>
          <a:ln/>
        </p:spPr>
        <p:txBody>
          <a:bodyPr wrap="square" lIns="0" tIns="0" rIns="0" bIns="0" rtlCol="0" anchor="ctr"/>
          <a:lstStyle/>
          <a:p>
            <a:pPr indent="0" marL="0">
              <a:buNone/>
            </a:pPr>
            <a:r>
              <a:rPr lang="en-US" sz="1300" dirty="0">
                <a:solidFill>
                  <a:srgbClr val="8899AA"/>
                </a:solidFill>
              </a:rPr>
              <a:t>How this system grows with Bengaluru's needs</a:t>
            </a:r>
            <a:endParaRPr lang="en-US" sz="1300" dirty="0"/>
          </a:p>
        </p:txBody>
      </p:sp>
      <p:sp>
        <p:nvSpPr>
          <p:cNvPr id="4" name="Shape 2"/>
          <p:cNvSpPr/>
          <p:nvPr/>
        </p:nvSpPr>
        <p:spPr>
          <a:xfrm>
            <a:off x="457200" y="1325880"/>
            <a:ext cx="2606040" cy="3566160"/>
          </a:xfrm>
          <a:prstGeom prst="roundRect">
            <a:avLst>
              <a:gd name="adj" fmla="val 4211"/>
            </a:avLst>
          </a:prstGeom>
          <a:solidFill>
            <a:srgbClr val="FFFFFF"/>
          </a:solidFill>
          <a:ln/>
          <a:effectLst>
            <a:outerShdw sx="100000" sy="100000" kx="0" ky="0" algn="bl" rotWithShape="0" blurRad="101600" dist="38100" dir="2700000">
              <a:srgbClr val="000000">
                <a:alpha val="12000"/>
              </a:srgbClr>
            </a:outerShdw>
          </a:effectLst>
        </p:spPr>
      </p:sp>
      <p:sp>
        <p:nvSpPr>
          <p:cNvPr id="5" name="Shape 3"/>
          <p:cNvSpPr/>
          <p:nvPr/>
        </p:nvSpPr>
        <p:spPr>
          <a:xfrm>
            <a:off x="594360" y="1463040"/>
            <a:ext cx="2331720" cy="502920"/>
          </a:xfrm>
          <a:prstGeom prst="roundRect">
            <a:avLst>
              <a:gd name="adj" fmla="val 10909"/>
            </a:avLst>
          </a:prstGeom>
          <a:solidFill>
            <a:srgbClr val="00B4D8">
              <a:alpha val="20000"/>
            </a:srgbClr>
          </a:solidFill>
          <a:ln/>
        </p:spPr>
      </p:sp>
      <p:sp>
        <p:nvSpPr>
          <p:cNvPr id="6" name="Text 4"/>
          <p:cNvSpPr/>
          <p:nvPr/>
        </p:nvSpPr>
        <p:spPr>
          <a:xfrm>
            <a:off x="594360" y="1463040"/>
            <a:ext cx="1188720" cy="502920"/>
          </a:xfrm>
          <a:prstGeom prst="rect">
            <a:avLst/>
          </a:prstGeom>
          <a:noFill/>
          <a:ln/>
        </p:spPr>
        <p:txBody>
          <a:bodyPr wrap="square" lIns="0" tIns="0" rIns="0" bIns="0" rtlCol="0" anchor="ctr"/>
          <a:lstStyle/>
          <a:p>
            <a:pPr algn="ctr" indent="0" marL="0">
              <a:buNone/>
            </a:pPr>
            <a:r>
              <a:rPr lang="en-US" sz="1300" b="1" dirty="0">
                <a:solidFill>
                  <a:srgbClr val="00B4D8"/>
                </a:solidFill>
              </a:rPr>
              <a:t>Phase 1</a:t>
            </a:r>
            <a:endParaRPr lang="en-US" sz="1300" dirty="0"/>
          </a:p>
        </p:txBody>
      </p:sp>
      <p:sp>
        <p:nvSpPr>
          <p:cNvPr id="7" name="Text 5"/>
          <p:cNvSpPr/>
          <p:nvPr/>
        </p:nvSpPr>
        <p:spPr>
          <a:xfrm>
            <a:off x="1783080" y="1463040"/>
            <a:ext cx="1143000" cy="502920"/>
          </a:xfrm>
          <a:prstGeom prst="rect">
            <a:avLst/>
          </a:prstGeom>
          <a:noFill/>
          <a:ln/>
        </p:spPr>
        <p:txBody>
          <a:bodyPr wrap="square" lIns="0" tIns="0" rIns="0" bIns="0" rtlCol="0" anchor="ctr"/>
          <a:lstStyle/>
          <a:p>
            <a:pPr algn="ctr" indent="0" marL="0">
              <a:buNone/>
            </a:pPr>
            <a:r>
              <a:rPr lang="en-US" sz="1000" dirty="0">
                <a:solidFill>
                  <a:srgbClr val="00B4D8"/>
                </a:solidFill>
              </a:rPr>
              <a:t>Current</a:t>
            </a:r>
            <a:endParaRPr lang="en-US" sz="1000" dirty="0"/>
          </a:p>
        </p:txBody>
      </p:sp>
      <p:sp>
        <p:nvSpPr>
          <p:cNvPr id="8" name="Text 6"/>
          <p:cNvSpPr/>
          <p:nvPr/>
        </p:nvSpPr>
        <p:spPr>
          <a:xfrm>
            <a:off x="594360" y="2057400"/>
            <a:ext cx="2331720" cy="2651760"/>
          </a:xfrm>
          <a:prstGeom prst="rect">
            <a:avLst/>
          </a:prstGeom>
          <a:noFill/>
          <a:ln/>
        </p:spPr>
        <p:txBody>
          <a:bodyPr wrap="square" lIns="0" tIns="0" rIns="0" bIns="0" rtlCol="0" anchor="ctr"/>
          <a:lstStyle/>
          <a:p>
            <a:pPr marL="342900" indent="-342900">
              <a:buSzPct val="100000"/>
              <a:buChar char="•"/>
            </a:pPr>
            <a:r>
              <a:rPr lang="en-US" sz="1100" dirty="0">
                <a:solidFill>
                  <a:srgbClr val="8899AA"/>
                </a:solidFill>
              </a:rPr>
              <a:t>DBSCAN hotspot detection</a:t>
            </a:r>
            <a:endParaRPr lang="en-US" sz="1100" dirty="0"/>
          </a:p>
          <a:p>
            <a:pPr marL="342900" indent="-342900">
              <a:buSzPct val="100000"/>
              <a:buChar char="•"/>
            </a:pPr>
            <a:r>
              <a:rPr lang="en-US" sz="1100" dirty="0">
                <a:solidFill>
                  <a:srgbClr val="8899AA"/>
                </a:solidFill>
              </a:rPr>
              <a:t>LightGBM CRS scoring</a:t>
            </a:r>
            <a:endParaRPr lang="en-US" sz="1100" dirty="0"/>
          </a:p>
          <a:p>
            <a:pPr marL="342900" indent="-342900">
              <a:buSzPct val="100000"/>
              <a:buChar char="•"/>
            </a:pPr>
            <a:r>
              <a:rPr lang="en-US" sz="1100" dirty="0">
                <a:solidFill>
                  <a:srgbClr val="8899AA"/>
                </a:solidFill>
              </a:rPr>
              <a:t>Static enforcement priority CSV</a:t>
            </a:r>
            <a:endParaRPr lang="en-US" sz="1100" dirty="0"/>
          </a:p>
          <a:p>
            <a:pPr marL="342900" indent="-342900">
              <a:buSzPct val="100000"/>
              <a:buChar char="•"/>
            </a:pPr>
            <a:r>
              <a:rPr lang="en-US" sz="1100" dirty="0">
                <a:solidFill>
                  <a:srgbClr val="8899AA"/>
                </a:solidFill>
              </a:rPr>
              <a:t>Interactive Folium map</a:t>
            </a:r>
            <a:endParaRPr lang="en-US" sz="1100" dirty="0"/>
          </a:p>
        </p:txBody>
      </p:sp>
      <p:sp>
        <p:nvSpPr>
          <p:cNvPr id="9" name="Shape 7"/>
          <p:cNvSpPr/>
          <p:nvPr/>
        </p:nvSpPr>
        <p:spPr>
          <a:xfrm>
            <a:off x="3291840" y="1325880"/>
            <a:ext cx="2606040" cy="3566160"/>
          </a:xfrm>
          <a:prstGeom prst="roundRect">
            <a:avLst>
              <a:gd name="adj" fmla="val 4211"/>
            </a:avLst>
          </a:prstGeom>
          <a:solidFill>
            <a:srgbClr val="FFFFFF"/>
          </a:solidFill>
          <a:ln/>
          <a:effectLst>
            <a:outerShdw sx="100000" sy="100000" kx="0" ky="0" algn="bl" rotWithShape="0" blurRad="101600" dist="38100" dir="2700000">
              <a:srgbClr val="000000">
                <a:alpha val="12000"/>
              </a:srgbClr>
            </a:outerShdw>
          </a:effectLst>
        </p:spPr>
      </p:sp>
      <p:sp>
        <p:nvSpPr>
          <p:cNvPr id="10" name="Shape 8"/>
          <p:cNvSpPr/>
          <p:nvPr/>
        </p:nvSpPr>
        <p:spPr>
          <a:xfrm>
            <a:off x="3429000" y="1463040"/>
            <a:ext cx="2331720" cy="502920"/>
          </a:xfrm>
          <a:prstGeom prst="roundRect">
            <a:avLst>
              <a:gd name="adj" fmla="val 10909"/>
            </a:avLst>
          </a:prstGeom>
          <a:solidFill>
            <a:srgbClr val="7C3AED">
              <a:alpha val="20000"/>
            </a:srgbClr>
          </a:solidFill>
          <a:ln/>
        </p:spPr>
      </p:sp>
      <p:sp>
        <p:nvSpPr>
          <p:cNvPr id="11" name="Text 9"/>
          <p:cNvSpPr/>
          <p:nvPr/>
        </p:nvSpPr>
        <p:spPr>
          <a:xfrm>
            <a:off x="3429000" y="1463040"/>
            <a:ext cx="1188720" cy="502920"/>
          </a:xfrm>
          <a:prstGeom prst="rect">
            <a:avLst/>
          </a:prstGeom>
          <a:noFill/>
          <a:ln/>
        </p:spPr>
        <p:txBody>
          <a:bodyPr wrap="square" lIns="0" tIns="0" rIns="0" bIns="0" rtlCol="0" anchor="ctr"/>
          <a:lstStyle/>
          <a:p>
            <a:pPr algn="ctr" indent="0" marL="0">
              <a:buNone/>
            </a:pPr>
            <a:r>
              <a:rPr lang="en-US" sz="1300" b="1" dirty="0">
                <a:solidFill>
                  <a:srgbClr val="7C3AED"/>
                </a:solidFill>
              </a:rPr>
              <a:t>Phase 2</a:t>
            </a:r>
            <a:endParaRPr lang="en-US" sz="1300" dirty="0"/>
          </a:p>
        </p:txBody>
      </p:sp>
      <p:sp>
        <p:nvSpPr>
          <p:cNvPr id="12" name="Text 10"/>
          <p:cNvSpPr/>
          <p:nvPr/>
        </p:nvSpPr>
        <p:spPr>
          <a:xfrm>
            <a:off x="4617720" y="1463040"/>
            <a:ext cx="1143000" cy="502920"/>
          </a:xfrm>
          <a:prstGeom prst="rect">
            <a:avLst/>
          </a:prstGeom>
          <a:noFill/>
          <a:ln/>
        </p:spPr>
        <p:txBody>
          <a:bodyPr wrap="square" lIns="0" tIns="0" rIns="0" bIns="0" rtlCol="0" anchor="ctr"/>
          <a:lstStyle/>
          <a:p>
            <a:pPr algn="ctr" indent="0" marL="0">
              <a:buNone/>
            </a:pPr>
            <a:r>
              <a:rPr lang="en-US" sz="1000" dirty="0">
                <a:solidFill>
                  <a:srgbClr val="7C3AED"/>
                </a:solidFill>
              </a:rPr>
              <a:t>3–6 Months</a:t>
            </a:r>
            <a:endParaRPr lang="en-US" sz="1000" dirty="0"/>
          </a:p>
        </p:txBody>
      </p:sp>
      <p:sp>
        <p:nvSpPr>
          <p:cNvPr id="13" name="Text 11"/>
          <p:cNvSpPr/>
          <p:nvPr/>
        </p:nvSpPr>
        <p:spPr>
          <a:xfrm>
            <a:off x="3429000" y="2057400"/>
            <a:ext cx="2331720" cy="2651760"/>
          </a:xfrm>
          <a:prstGeom prst="rect">
            <a:avLst/>
          </a:prstGeom>
          <a:noFill/>
          <a:ln/>
        </p:spPr>
        <p:txBody>
          <a:bodyPr wrap="square" lIns="0" tIns="0" rIns="0" bIns="0" rtlCol="0" anchor="ctr"/>
          <a:lstStyle/>
          <a:p>
            <a:pPr marL="342900" indent="-342900">
              <a:buSzPct val="100000"/>
              <a:buChar char="•"/>
            </a:pPr>
            <a:r>
              <a:rPr lang="en-US" sz="1100" dirty="0">
                <a:solidFill>
                  <a:srgbClr val="8899AA"/>
                </a:solidFill>
              </a:rPr>
              <a:t>Real-time violation feed integration</a:t>
            </a:r>
            <a:endParaRPr lang="en-US" sz="1100" dirty="0"/>
          </a:p>
          <a:p>
            <a:pPr marL="342900" indent="-342900">
              <a:buSzPct val="100000"/>
              <a:buChar char="•"/>
            </a:pPr>
            <a:r>
              <a:rPr lang="en-US" sz="1100" dirty="0">
                <a:solidFill>
                  <a:srgbClr val="8899AA"/>
                </a:solidFill>
              </a:rPr>
              <a:t>Live map refreshes every hour</a:t>
            </a:r>
            <a:endParaRPr lang="en-US" sz="1100" dirty="0"/>
          </a:p>
          <a:p>
            <a:pPr marL="342900" indent="-342900">
              <a:buSzPct val="100000"/>
              <a:buChar char="•"/>
            </a:pPr>
            <a:r>
              <a:rPr lang="en-US" sz="1100" dirty="0">
                <a:solidFill>
                  <a:srgbClr val="8899AA"/>
                </a:solidFill>
              </a:rPr>
              <a:t>Event calendar overlay (rallies, festivals)</a:t>
            </a:r>
            <a:endParaRPr lang="en-US" sz="1100" dirty="0"/>
          </a:p>
          <a:p>
            <a:pPr marL="342900" indent="-342900">
              <a:buSzPct val="100000"/>
              <a:buChar char="•"/>
            </a:pPr>
            <a:r>
              <a:rPr lang="en-US" sz="1100" dirty="0">
                <a:solidFill>
                  <a:srgbClr val="8899AA"/>
                </a:solidFill>
              </a:rPr>
              <a:t>Mobile app for field officers</a:t>
            </a:r>
            <a:endParaRPr lang="en-US" sz="1100" dirty="0"/>
          </a:p>
        </p:txBody>
      </p:sp>
      <p:sp>
        <p:nvSpPr>
          <p:cNvPr id="14" name="Shape 12"/>
          <p:cNvSpPr/>
          <p:nvPr/>
        </p:nvSpPr>
        <p:spPr>
          <a:xfrm>
            <a:off x="6126480" y="1325880"/>
            <a:ext cx="2606040" cy="3566160"/>
          </a:xfrm>
          <a:prstGeom prst="roundRect">
            <a:avLst>
              <a:gd name="adj" fmla="val 4211"/>
            </a:avLst>
          </a:prstGeom>
          <a:solidFill>
            <a:srgbClr val="FFFFFF"/>
          </a:solidFill>
          <a:ln/>
          <a:effectLst>
            <a:outerShdw sx="100000" sy="100000" kx="0" ky="0" algn="bl" rotWithShape="0" blurRad="101600" dist="38100" dir="2700000">
              <a:srgbClr val="000000">
                <a:alpha val="12000"/>
              </a:srgbClr>
            </a:outerShdw>
          </a:effectLst>
        </p:spPr>
      </p:sp>
      <p:sp>
        <p:nvSpPr>
          <p:cNvPr id="15" name="Shape 13"/>
          <p:cNvSpPr/>
          <p:nvPr/>
        </p:nvSpPr>
        <p:spPr>
          <a:xfrm>
            <a:off x="6263640" y="1463040"/>
            <a:ext cx="2331720" cy="502920"/>
          </a:xfrm>
          <a:prstGeom prst="roundRect">
            <a:avLst>
              <a:gd name="adj" fmla="val 10909"/>
            </a:avLst>
          </a:prstGeom>
          <a:solidFill>
            <a:srgbClr val="059669">
              <a:alpha val="20000"/>
            </a:srgbClr>
          </a:solidFill>
          <a:ln/>
        </p:spPr>
      </p:sp>
      <p:sp>
        <p:nvSpPr>
          <p:cNvPr id="16" name="Text 14"/>
          <p:cNvSpPr/>
          <p:nvPr/>
        </p:nvSpPr>
        <p:spPr>
          <a:xfrm>
            <a:off x="6263640" y="1463040"/>
            <a:ext cx="1188720" cy="502920"/>
          </a:xfrm>
          <a:prstGeom prst="rect">
            <a:avLst/>
          </a:prstGeom>
          <a:noFill/>
          <a:ln/>
        </p:spPr>
        <p:txBody>
          <a:bodyPr wrap="square" lIns="0" tIns="0" rIns="0" bIns="0" rtlCol="0" anchor="ctr"/>
          <a:lstStyle/>
          <a:p>
            <a:pPr algn="ctr" indent="0" marL="0">
              <a:buNone/>
            </a:pPr>
            <a:r>
              <a:rPr lang="en-US" sz="1300" b="1" dirty="0">
                <a:solidFill>
                  <a:srgbClr val="059669"/>
                </a:solidFill>
              </a:rPr>
              <a:t>Phase 3</a:t>
            </a:r>
            <a:endParaRPr lang="en-US" sz="1300" dirty="0"/>
          </a:p>
        </p:txBody>
      </p:sp>
      <p:sp>
        <p:nvSpPr>
          <p:cNvPr id="17" name="Text 15"/>
          <p:cNvSpPr/>
          <p:nvPr/>
        </p:nvSpPr>
        <p:spPr>
          <a:xfrm>
            <a:off x="7452360" y="1463040"/>
            <a:ext cx="1143000" cy="502920"/>
          </a:xfrm>
          <a:prstGeom prst="rect">
            <a:avLst/>
          </a:prstGeom>
          <a:noFill/>
          <a:ln/>
        </p:spPr>
        <p:txBody>
          <a:bodyPr wrap="square" lIns="0" tIns="0" rIns="0" bIns="0" rtlCol="0" anchor="ctr"/>
          <a:lstStyle/>
          <a:p>
            <a:pPr algn="ctr" indent="0" marL="0">
              <a:buNone/>
            </a:pPr>
            <a:r>
              <a:rPr lang="en-US" sz="1000" dirty="0">
                <a:solidFill>
                  <a:srgbClr val="059669"/>
                </a:solidFill>
              </a:rPr>
              <a:t>6–12 Months</a:t>
            </a:r>
            <a:endParaRPr lang="en-US" sz="1000" dirty="0"/>
          </a:p>
        </p:txBody>
      </p:sp>
      <p:sp>
        <p:nvSpPr>
          <p:cNvPr id="18" name="Text 16"/>
          <p:cNvSpPr/>
          <p:nvPr/>
        </p:nvSpPr>
        <p:spPr>
          <a:xfrm>
            <a:off x="6263640" y="2057400"/>
            <a:ext cx="2331720" cy="2651760"/>
          </a:xfrm>
          <a:prstGeom prst="rect">
            <a:avLst/>
          </a:prstGeom>
          <a:noFill/>
          <a:ln/>
        </p:spPr>
        <p:txBody>
          <a:bodyPr wrap="square" lIns="0" tIns="0" rIns="0" bIns="0" rtlCol="0" anchor="ctr"/>
          <a:lstStyle/>
          <a:p>
            <a:pPr marL="342900" indent="-342900">
              <a:buSzPct val="100000"/>
              <a:buChar char="•"/>
            </a:pPr>
            <a:r>
              <a:rPr lang="en-US" sz="1100" dirty="0">
                <a:solidFill>
                  <a:srgbClr val="8899AA"/>
                </a:solidFill>
              </a:rPr>
              <a:t>CCTV feed integration via CV pipeline</a:t>
            </a:r>
            <a:endParaRPr lang="en-US" sz="1100" dirty="0"/>
          </a:p>
          <a:p>
            <a:pPr marL="342900" indent="-342900">
              <a:buSzPct val="100000"/>
              <a:buChar char="•"/>
            </a:pPr>
            <a:r>
              <a:rPr lang="en-US" sz="1100" dirty="0">
                <a:solidFill>
                  <a:srgbClr val="8899AA"/>
                </a:solidFill>
              </a:rPr>
              <a:t>Google Maps traffic API cross-validation</a:t>
            </a:r>
            <a:endParaRPr lang="en-US" sz="1100" dirty="0"/>
          </a:p>
          <a:p>
            <a:pPr marL="342900" indent="-342900">
              <a:buSzPct val="100000"/>
              <a:buChar char="•"/>
            </a:pPr>
            <a:r>
              <a:rPr lang="en-US" sz="1100" dirty="0">
                <a:solidFill>
                  <a:srgbClr val="8899AA"/>
                </a:solidFill>
              </a:rPr>
              <a:t>Predictive alerts 2 hours before gridlock</a:t>
            </a:r>
            <a:endParaRPr lang="en-US" sz="1100" dirty="0"/>
          </a:p>
          <a:p>
            <a:pPr marL="342900" indent="-342900">
              <a:buSzPct val="100000"/>
              <a:buChar char="•"/>
            </a:pPr>
            <a:r>
              <a:rPr lang="en-US" sz="1100" dirty="0">
                <a:solidFill>
                  <a:srgbClr val="8899AA"/>
                </a:solidFill>
              </a:rPr>
              <a:t>City-wide dashboard for BTP control room</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3200" b="1" dirty="0">
                <a:solidFill>
                  <a:srgbClr val="FFFFFF"/>
                </a:solidFill>
              </a:rPr>
              <a:t>Technology Stack</a:t>
            </a:r>
            <a:endParaRPr lang="en-US" sz="3200" dirty="0"/>
          </a:p>
        </p:txBody>
      </p:sp>
      <p:sp>
        <p:nvSpPr>
          <p:cNvPr id="3" name="Text 1"/>
          <p:cNvSpPr/>
          <p:nvPr/>
        </p:nvSpPr>
        <p:spPr>
          <a:xfrm>
            <a:off x="457200" y="841248"/>
            <a:ext cx="8229600" cy="347472"/>
          </a:xfrm>
          <a:prstGeom prst="rect">
            <a:avLst/>
          </a:prstGeom>
          <a:noFill/>
          <a:ln/>
        </p:spPr>
        <p:txBody>
          <a:bodyPr wrap="square" lIns="0" tIns="0" rIns="0" bIns="0" rtlCol="0" anchor="ctr"/>
          <a:lstStyle/>
          <a:p>
            <a:pPr indent="0" marL="0">
              <a:buNone/>
            </a:pPr>
            <a:r>
              <a:rPr lang="en-US" sz="1300" dirty="0">
                <a:solidFill>
                  <a:srgbClr val="90E0EF"/>
                </a:solidFill>
              </a:rPr>
              <a:t>Production-ready open-source tools — no proprietary dependencies</a:t>
            </a:r>
            <a:endParaRPr lang="en-US" sz="1300" dirty="0"/>
          </a:p>
        </p:txBody>
      </p:sp>
      <p:sp>
        <p:nvSpPr>
          <p:cNvPr id="4" name="Shape 2"/>
          <p:cNvSpPr/>
          <p:nvPr/>
        </p:nvSpPr>
        <p:spPr>
          <a:xfrm>
            <a:off x="457200" y="1371600"/>
            <a:ext cx="2651760" cy="1508760"/>
          </a:xfrm>
          <a:prstGeom prst="roundRect">
            <a:avLst>
              <a:gd name="adj" fmla="val 7273"/>
            </a:avLst>
          </a:prstGeom>
          <a:solidFill>
            <a:srgbClr val="112240"/>
          </a:solidFill>
          <a:ln/>
          <a:effectLst>
            <a:outerShdw sx="100000" sy="100000" kx="0" ky="0" algn="bl" rotWithShape="0" blurRad="101600" dist="38100" dir="2700000">
              <a:srgbClr val="000000">
                <a:alpha val="12000"/>
              </a:srgbClr>
            </a:outerShdw>
          </a:effectLst>
        </p:spPr>
      </p:sp>
      <p:sp>
        <p:nvSpPr>
          <p:cNvPr id="5" name="Shape 3"/>
          <p:cNvSpPr/>
          <p:nvPr/>
        </p:nvSpPr>
        <p:spPr>
          <a:xfrm>
            <a:off x="594360" y="1508760"/>
            <a:ext cx="2377440" cy="292608"/>
          </a:xfrm>
          <a:prstGeom prst="roundRect">
            <a:avLst>
              <a:gd name="adj" fmla="val 15625"/>
            </a:avLst>
          </a:prstGeom>
          <a:solidFill>
            <a:srgbClr val="3B82F6">
              <a:alpha val="22000"/>
            </a:srgbClr>
          </a:solidFill>
          <a:ln/>
        </p:spPr>
      </p:sp>
      <p:sp>
        <p:nvSpPr>
          <p:cNvPr id="6" name="Text 4"/>
          <p:cNvSpPr/>
          <p:nvPr/>
        </p:nvSpPr>
        <p:spPr>
          <a:xfrm>
            <a:off x="594360" y="1508760"/>
            <a:ext cx="2377440" cy="292608"/>
          </a:xfrm>
          <a:prstGeom prst="rect">
            <a:avLst/>
          </a:prstGeom>
          <a:noFill/>
          <a:ln/>
        </p:spPr>
        <p:txBody>
          <a:bodyPr wrap="square" lIns="0" tIns="0" rIns="0" bIns="0" rtlCol="0" anchor="ctr"/>
          <a:lstStyle/>
          <a:p>
            <a:pPr algn="ctr" indent="0" marL="0">
              <a:buNone/>
            </a:pPr>
            <a:r>
              <a:rPr lang="en-US" sz="1000" b="1" dirty="0">
                <a:solidFill>
                  <a:srgbClr val="3B82F6"/>
                </a:solidFill>
              </a:rPr>
              <a:t>Data Processing</a:t>
            </a:r>
            <a:endParaRPr lang="en-US" sz="1000" dirty="0"/>
          </a:p>
        </p:txBody>
      </p:sp>
      <p:sp>
        <p:nvSpPr>
          <p:cNvPr id="7" name="Text 5"/>
          <p:cNvSpPr/>
          <p:nvPr/>
        </p:nvSpPr>
        <p:spPr>
          <a:xfrm>
            <a:off x="640080" y="1892808"/>
            <a:ext cx="2286000" cy="274320"/>
          </a:xfrm>
          <a:prstGeom prst="rect">
            <a:avLst/>
          </a:prstGeom>
          <a:noFill/>
          <a:ln/>
        </p:spPr>
        <p:txBody>
          <a:bodyPr wrap="square" lIns="0" tIns="0" rIns="0" bIns="0" rtlCol="0" anchor="ctr"/>
          <a:lstStyle/>
          <a:p>
            <a:pPr indent="0" marL="0">
              <a:buNone/>
            </a:pPr>
            <a:r>
              <a:rPr lang="en-US" sz="1100" dirty="0">
                <a:solidFill>
                  <a:srgbClr val="FFFFFF"/>
                </a:solidFill>
              </a:rPr>
              <a:t>▸  Python 3.12</a:t>
            </a:r>
            <a:endParaRPr lang="en-US" sz="1100" dirty="0"/>
          </a:p>
        </p:txBody>
      </p:sp>
      <p:sp>
        <p:nvSpPr>
          <p:cNvPr id="8" name="Text 6"/>
          <p:cNvSpPr/>
          <p:nvPr/>
        </p:nvSpPr>
        <p:spPr>
          <a:xfrm>
            <a:off x="640080" y="2194560"/>
            <a:ext cx="2286000" cy="274320"/>
          </a:xfrm>
          <a:prstGeom prst="rect">
            <a:avLst/>
          </a:prstGeom>
          <a:noFill/>
          <a:ln/>
        </p:spPr>
        <p:txBody>
          <a:bodyPr wrap="square" lIns="0" tIns="0" rIns="0" bIns="0" rtlCol="0" anchor="ctr"/>
          <a:lstStyle/>
          <a:p>
            <a:pPr indent="0" marL="0">
              <a:buNone/>
            </a:pPr>
            <a:r>
              <a:rPr lang="en-US" sz="1100" dirty="0">
                <a:solidFill>
                  <a:srgbClr val="FFFFFF"/>
                </a:solidFill>
              </a:rPr>
              <a:t>▸  Pandas</a:t>
            </a:r>
            <a:endParaRPr lang="en-US" sz="1100" dirty="0"/>
          </a:p>
        </p:txBody>
      </p:sp>
      <p:sp>
        <p:nvSpPr>
          <p:cNvPr id="9" name="Text 7"/>
          <p:cNvSpPr/>
          <p:nvPr/>
        </p:nvSpPr>
        <p:spPr>
          <a:xfrm>
            <a:off x="640080" y="2496312"/>
            <a:ext cx="2286000" cy="274320"/>
          </a:xfrm>
          <a:prstGeom prst="rect">
            <a:avLst/>
          </a:prstGeom>
          <a:noFill/>
          <a:ln/>
        </p:spPr>
        <p:txBody>
          <a:bodyPr wrap="square" lIns="0" tIns="0" rIns="0" bIns="0" rtlCol="0" anchor="ctr"/>
          <a:lstStyle/>
          <a:p>
            <a:pPr indent="0" marL="0">
              <a:buNone/>
            </a:pPr>
            <a:r>
              <a:rPr lang="en-US" sz="1100" dirty="0">
                <a:solidFill>
                  <a:srgbClr val="FFFFFF"/>
                </a:solidFill>
              </a:rPr>
              <a:t>▸  NumPy</a:t>
            </a:r>
            <a:endParaRPr lang="en-US" sz="1100" dirty="0"/>
          </a:p>
        </p:txBody>
      </p:sp>
      <p:sp>
        <p:nvSpPr>
          <p:cNvPr id="10" name="Shape 8"/>
          <p:cNvSpPr/>
          <p:nvPr/>
        </p:nvSpPr>
        <p:spPr>
          <a:xfrm>
            <a:off x="3429000" y="1371600"/>
            <a:ext cx="2651760" cy="1508760"/>
          </a:xfrm>
          <a:prstGeom prst="roundRect">
            <a:avLst>
              <a:gd name="adj" fmla="val 7273"/>
            </a:avLst>
          </a:prstGeom>
          <a:solidFill>
            <a:srgbClr val="112240"/>
          </a:solidFill>
          <a:ln/>
          <a:effectLst>
            <a:outerShdw sx="100000" sy="100000" kx="0" ky="0" algn="bl" rotWithShape="0" blurRad="101600" dist="38100" dir="2700000">
              <a:srgbClr val="000000">
                <a:alpha val="12000"/>
              </a:srgbClr>
            </a:outerShdw>
          </a:effectLst>
        </p:spPr>
      </p:sp>
      <p:sp>
        <p:nvSpPr>
          <p:cNvPr id="11" name="Shape 9"/>
          <p:cNvSpPr/>
          <p:nvPr/>
        </p:nvSpPr>
        <p:spPr>
          <a:xfrm>
            <a:off x="3566160" y="1508760"/>
            <a:ext cx="2377440" cy="292608"/>
          </a:xfrm>
          <a:prstGeom prst="roundRect">
            <a:avLst>
              <a:gd name="adj" fmla="val 15625"/>
            </a:avLst>
          </a:prstGeom>
          <a:solidFill>
            <a:srgbClr val="00B4D8">
              <a:alpha val="22000"/>
            </a:srgbClr>
          </a:solidFill>
          <a:ln/>
        </p:spPr>
      </p:sp>
      <p:sp>
        <p:nvSpPr>
          <p:cNvPr id="12" name="Text 10"/>
          <p:cNvSpPr/>
          <p:nvPr/>
        </p:nvSpPr>
        <p:spPr>
          <a:xfrm>
            <a:off x="3566160" y="1508760"/>
            <a:ext cx="2377440" cy="292608"/>
          </a:xfrm>
          <a:prstGeom prst="rect">
            <a:avLst/>
          </a:prstGeom>
          <a:noFill/>
          <a:ln/>
        </p:spPr>
        <p:txBody>
          <a:bodyPr wrap="square" lIns="0" tIns="0" rIns="0" bIns="0" rtlCol="0" anchor="ctr"/>
          <a:lstStyle/>
          <a:p>
            <a:pPr algn="ctr" indent="0" marL="0">
              <a:buNone/>
            </a:pPr>
            <a:r>
              <a:rPr lang="en-US" sz="1000" b="1" dirty="0">
                <a:solidFill>
                  <a:srgbClr val="00B4D8"/>
                </a:solidFill>
              </a:rPr>
              <a:t>Machine Learning</a:t>
            </a:r>
            <a:endParaRPr lang="en-US" sz="1000" dirty="0"/>
          </a:p>
        </p:txBody>
      </p:sp>
      <p:sp>
        <p:nvSpPr>
          <p:cNvPr id="13" name="Text 11"/>
          <p:cNvSpPr/>
          <p:nvPr/>
        </p:nvSpPr>
        <p:spPr>
          <a:xfrm>
            <a:off x="3611880" y="1892808"/>
            <a:ext cx="2286000" cy="274320"/>
          </a:xfrm>
          <a:prstGeom prst="rect">
            <a:avLst/>
          </a:prstGeom>
          <a:noFill/>
          <a:ln/>
        </p:spPr>
        <p:txBody>
          <a:bodyPr wrap="square" lIns="0" tIns="0" rIns="0" bIns="0" rtlCol="0" anchor="ctr"/>
          <a:lstStyle/>
          <a:p>
            <a:pPr indent="0" marL="0">
              <a:buNone/>
            </a:pPr>
            <a:r>
              <a:rPr lang="en-US" sz="1100" dirty="0">
                <a:solidFill>
                  <a:srgbClr val="FFFFFF"/>
                </a:solidFill>
              </a:rPr>
              <a:t>▸  LightGBM</a:t>
            </a:r>
            <a:endParaRPr lang="en-US" sz="1100" dirty="0"/>
          </a:p>
        </p:txBody>
      </p:sp>
      <p:sp>
        <p:nvSpPr>
          <p:cNvPr id="14" name="Text 12"/>
          <p:cNvSpPr/>
          <p:nvPr/>
        </p:nvSpPr>
        <p:spPr>
          <a:xfrm>
            <a:off x="3611880" y="2194560"/>
            <a:ext cx="2286000" cy="274320"/>
          </a:xfrm>
          <a:prstGeom prst="rect">
            <a:avLst/>
          </a:prstGeom>
          <a:noFill/>
          <a:ln/>
        </p:spPr>
        <p:txBody>
          <a:bodyPr wrap="square" lIns="0" tIns="0" rIns="0" bIns="0" rtlCol="0" anchor="ctr"/>
          <a:lstStyle/>
          <a:p>
            <a:pPr indent="0" marL="0">
              <a:buNone/>
            </a:pPr>
            <a:r>
              <a:rPr lang="en-US" sz="1100" dirty="0">
                <a:solidFill>
                  <a:srgbClr val="FFFFFF"/>
                </a:solidFill>
              </a:rPr>
              <a:t>▸  Scikit-learn</a:t>
            </a:r>
            <a:endParaRPr lang="en-US" sz="1100" dirty="0"/>
          </a:p>
        </p:txBody>
      </p:sp>
      <p:sp>
        <p:nvSpPr>
          <p:cNvPr id="15" name="Text 13"/>
          <p:cNvSpPr/>
          <p:nvPr/>
        </p:nvSpPr>
        <p:spPr>
          <a:xfrm>
            <a:off x="3611880" y="2496312"/>
            <a:ext cx="2286000" cy="274320"/>
          </a:xfrm>
          <a:prstGeom prst="rect">
            <a:avLst/>
          </a:prstGeom>
          <a:noFill/>
          <a:ln/>
        </p:spPr>
        <p:txBody>
          <a:bodyPr wrap="square" lIns="0" tIns="0" rIns="0" bIns="0" rtlCol="0" anchor="ctr"/>
          <a:lstStyle/>
          <a:p>
            <a:pPr indent="0" marL="0">
              <a:buNone/>
            </a:pPr>
            <a:r>
              <a:rPr lang="en-US" sz="1100" dirty="0">
                <a:solidFill>
                  <a:srgbClr val="FFFFFF"/>
                </a:solidFill>
              </a:rPr>
              <a:t>▸  DBSCAN</a:t>
            </a:r>
            <a:endParaRPr lang="en-US" sz="1100" dirty="0"/>
          </a:p>
        </p:txBody>
      </p:sp>
      <p:sp>
        <p:nvSpPr>
          <p:cNvPr id="16" name="Shape 14"/>
          <p:cNvSpPr/>
          <p:nvPr/>
        </p:nvSpPr>
        <p:spPr>
          <a:xfrm>
            <a:off x="6400800" y="1371600"/>
            <a:ext cx="2651760" cy="1508760"/>
          </a:xfrm>
          <a:prstGeom prst="roundRect">
            <a:avLst>
              <a:gd name="adj" fmla="val 7273"/>
            </a:avLst>
          </a:prstGeom>
          <a:solidFill>
            <a:srgbClr val="112240"/>
          </a:solidFill>
          <a:ln/>
          <a:effectLst>
            <a:outerShdw sx="100000" sy="100000" kx="0" ky="0" algn="bl" rotWithShape="0" blurRad="101600" dist="38100" dir="2700000">
              <a:srgbClr val="000000">
                <a:alpha val="12000"/>
              </a:srgbClr>
            </a:outerShdw>
          </a:effectLst>
        </p:spPr>
      </p:sp>
      <p:sp>
        <p:nvSpPr>
          <p:cNvPr id="17" name="Shape 15"/>
          <p:cNvSpPr/>
          <p:nvPr/>
        </p:nvSpPr>
        <p:spPr>
          <a:xfrm>
            <a:off x="6537960" y="1508760"/>
            <a:ext cx="2377440" cy="292608"/>
          </a:xfrm>
          <a:prstGeom prst="roundRect">
            <a:avLst>
              <a:gd name="adj" fmla="val 15625"/>
            </a:avLst>
          </a:prstGeom>
          <a:solidFill>
            <a:srgbClr val="7C3AED">
              <a:alpha val="22000"/>
            </a:srgbClr>
          </a:solidFill>
          <a:ln/>
        </p:spPr>
      </p:sp>
      <p:sp>
        <p:nvSpPr>
          <p:cNvPr id="18" name="Text 16"/>
          <p:cNvSpPr/>
          <p:nvPr/>
        </p:nvSpPr>
        <p:spPr>
          <a:xfrm>
            <a:off x="6537960" y="1508760"/>
            <a:ext cx="2377440" cy="292608"/>
          </a:xfrm>
          <a:prstGeom prst="rect">
            <a:avLst/>
          </a:prstGeom>
          <a:noFill/>
          <a:ln/>
        </p:spPr>
        <p:txBody>
          <a:bodyPr wrap="square" lIns="0" tIns="0" rIns="0" bIns="0" rtlCol="0" anchor="ctr"/>
          <a:lstStyle/>
          <a:p>
            <a:pPr algn="ctr" indent="0" marL="0">
              <a:buNone/>
            </a:pPr>
            <a:r>
              <a:rPr lang="en-US" sz="1000" b="1" dirty="0">
                <a:solidFill>
                  <a:srgbClr val="7C3AED"/>
                </a:solidFill>
              </a:rPr>
              <a:t>Spatial Analysis</a:t>
            </a:r>
            <a:endParaRPr lang="en-US" sz="1000" dirty="0"/>
          </a:p>
        </p:txBody>
      </p:sp>
      <p:sp>
        <p:nvSpPr>
          <p:cNvPr id="19" name="Text 17"/>
          <p:cNvSpPr/>
          <p:nvPr/>
        </p:nvSpPr>
        <p:spPr>
          <a:xfrm>
            <a:off x="6583680" y="1892808"/>
            <a:ext cx="2286000" cy="274320"/>
          </a:xfrm>
          <a:prstGeom prst="rect">
            <a:avLst/>
          </a:prstGeom>
          <a:noFill/>
          <a:ln/>
        </p:spPr>
        <p:txBody>
          <a:bodyPr wrap="square" lIns="0" tIns="0" rIns="0" bIns="0" rtlCol="0" anchor="ctr"/>
          <a:lstStyle/>
          <a:p>
            <a:pPr indent="0" marL="0">
              <a:buNone/>
            </a:pPr>
            <a:r>
              <a:rPr lang="en-US" sz="1100" dirty="0">
                <a:solidFill>
                  <a:srgbClr val="FFFFFF"/>
                </a:solidFill>
              </a:rPr>
              <a:t>▸  Haversine</a:t>
            </a:r>
            <a:endParaRPr lang="en-US" sz="1100" dirty="0"/>
          </a:p>
        </p:txBody>
      </p:sp>
      <p:sp>
        <p:nvSpPr>
          <p:cNvPr id="20" name="Text 18"/>
          <p:cNvSpPr/>
          <p:nvPr/>
        </p:nvSpPr>
        <p:spPr>
          <a:xfrm>
            <a:off x="6583680" y="2194560"/>
            <a:ext cx="2286000" cy="274320"/>
          </a:xfrm>
          <a:prstGeom prst="rect">
            <a:avLst/>
          </a:prstGeom>
          <a:noFill/>
          <a:ln/>
        </p:spPr>
        <p:txBody>
          <a:bodyPr wrap="square" lIns="0" tIns="0" rIns="0" bIns="0" rtlCol="0" anchor="ctr"/>
          <a:lstStyle/>
          <a:p>
            <a:pPr indent="0" marL="0">
              <a:buNone/>
            </a:pPr>
            <a:r>
              <a:rPr lang="en-US" sz="1100" dirty="0">
                <a:solidFill>
                  <a:srgbClr val="FFFFFF"/>
                </a:solidFill>
              </a:rPr>
              <a:t>▸  Radians / Ball-Tree</a:t>
            </a:r>
            <a:endParaRPr lang="en-US" sz="1100" dirty="0"/>
          </a:p>
        </p:txBody>
      </p:sp>
      <p:sp>
        <p:nvSpPr>
          <p:cNvPr id="21" name="Text 19"/>
          <p:cNvSpPr/>
          <p:nvPr/>
        </p:nvSpPr>
        <p:spPr>
          <a:xfrm>
            <a:off x="6583680" y="2496312"/>
            <a:ext cx="2286000" cy="274320"/>
          </a:xfrm>
          <a:prstGeom prst="rect">
            <a:avLst/>
          </a:prstGeom>
          <a:noFill/>
          <a:ln/>
        </p:spPr>
        <p:txBody>
          <a:bodyPr wrap="square" lIns="0" tIns="0" rIns="0" bIns="0" rtlCol="0" anchor="ctr"/>
          <a:lstStyle/>
          <a:p>
            <a:pPr indent="0" marL="0">
              <a:buNone/>
            </a:pPr>
            <a:r>
              <a:rPr lang="en-US" sz="1100" dirty="0">
                <a:solidFill>
                  <a:srgbClr val="FFFFFF"/>
                </a:solidFill>
              </a:rPr>
              <a:t>▸  GPS Clustering</a:t>
            </a:r>
            <a:endParaRPr lang="en-US" sz="1100" dirty="0"/>
          </a:p>
        </p:txBody>
      </p:sp>
      <p:sp>
        <p:nvSpPr>
          <p:cNvPr id="22" name="Shape 20"/>
          <p:cNvSpPr/>
          <p:nvPr/>
        </p:nvSpPr>
        <p:spPr>
          <a:xfrm>
            <a:off x="457200" y="3063240"/>
            <a:ext cx="2651760" cy="1508760"/>
          </a:xfrm>
          <a:prstGeom prst="roundRect">
            <a:avLst>
              <a:gd name="adj" fmla="val 7273"/>
            </a:avLst>
          </a:prstGeom>
          <a:solidFill>
            <a:srgbClr val="112240"/>
          </a:solidFill>
          <a:ln/>
          <a:effectLst>
            <a:outerShdw sx="100000" sy="100000" kx="0" ky="0" algn="bl" rotWithShape="0" blurRad="101600" dist="38100" dir="2700000">
              <a:srgbClr val="000000">
                <a:alpha val="12000"/>
              </a:srgbClr>
            </a:outerShdw>
          </a:effectLst>
        </p:spPr>
      </p:sp>
      <p:sp>
        <p:nvSpPr>
          <p:cNvPr id="23" name="Shape 21"/>
          <p:cNvSpPr/>
          <p:nvPr/>
        </p:nvSpPr>
        <p:spPr>
          <a:xfrm>
            <a:off x="594360" y="3200400"/>
            <a:ext cx="2377440" cy="292608"/>
          </a:xfrm>
          <a:prstGeom prst="roundRect">
            <a:avLst>
              <a:gd name="adj" fmla="val 15625"/>
            </a:avLst>
          </a:prstGeom>
          <a:solidFill>
            <a:srgbClr val="059669">
              <a:alpha val="22000"/>
            </a:srgbClr>
          </a:solidFill>
          <a:ln/>
        </p:spPr>
      </p:sp>
      <p:sp>
        <p:nvSpPr>
          <p:cNvPr id="24" name="Text 22"/>
          <p:cNvSpPr/>
          <p:nvPr/>
        </p:nvSpPr>
        <p:spPr>
          <a:xfrm>
            <a:off x="594360" y="3200400"/>
            <a:ext cx="2377440" cy="292608"/>
          </a:xfrm>
          <a:prstGeom prst="rect">
            <a:avLst/>
          </a:prstGeom>
          <a:noFill/>
          <a:ln/>
        </p:spPr>
        <p:txBody>
          <a:bodyPr wrap="square" lIns="0" tIns="0" rIns="0" bIns="0" rtlCol="0" anchor="ctr"/>
          <a:lstStyle/>
          <a:p>
            <a:pPr algn="ctr" indent="0" marL="0">
              <a:buNone/>
            </a:pPr>
            <a:r>
              <a:rPr lang="en-US" sz="1000" b="1" dirty="0">
                <a:solidFill>
                  <a:srgbClr val="059669"/>
                </a:solidFill>
              </a:rPr>
              <a:t>Visualisation</a:t>
            </a:r>
            <a:endParaRPr lang="en-US" sz="1000" dirty="0"/>
          </a:p>
        </p:txBody>
      </p:sp>
      <p:sp>
        <p:nvSpPr>
          <p:cNvPr id="25" name="Text 23"/>
          <p:cNvSpPr/>
          <p:nvPr/>
        </p:nvSpPr>
        <p:spPr>
          <a:xfrm>
            <a:off x="640080" y="3584448"/>
            <a:ext cx="2286000" cy="274320"/>
          </a:xfrm>
          <a:prstGeom prst="rect">
            <a:avLst/>
          </a:prstGeom>
          <a:noFill/>
          <a:ln/>
        </p:spPr>
        <p:txBody>
          <a:bodyPr wrap="square" lIns="0" tIns="0" rIns="0" bIns="0" rtlCol="0" anchor="ctr"/>
          <a:lstStyle/>
          <a:p>
            <a:pPr indent="0" marL="0">
              <a:buNone/>
            </a:pPr>
            <a:r>
              <a:rPr lang="en-US" sz="1100" dirty="0">
                <a:solidFill>
                  <a:srgbClr val="FFFFFF"/>
                </a:solidFill>
              </a:rPr>
              <a:t>▸  Folium</a:t>
            </a:r>
            <a:endParaRPr lang="en-US" sz="1100" dirty="0"/>
          </a:p>
        </p:txBody>
      </p:sp>
      <p:sp>
        <p:nvSpPr>
          <p:cNvPr id="26" name="Text 24"/>
          <p:cNvSpPr/>
          <p:nvPr/>
        </p:nvSpPr>
        <p:spPr>
          <a:xfrm>
            <a:off x="640080" y="3886200"/>
            <a:ext cx="2286000" cy="274320"/>
          </a:xfrm>
          <a:prstGeom prst="rect">
            <a:avLst/>
          </a:prstGeom>
          <a:noFill/>
          <a:ln/>
        </p:spPr>
        <p:txBody>
          <a:bodyPr wrap="square" lIns="0" tIns="0" rIns="0" bIns="0" rtlCol="0" anchor="ctr"/>
          <a:lstStyle/>
          <a:p>
            <a:pPr indent="0" marL="0">
              <a:buNone/>
            </a:pPr>
            <a:r>
              <a:rPr lang="en-US" sz="1100" dirty="0">
                <a:solidFill>
                  <a:srgbClr val="FFFFFF"/>
                </a:solidFill>
              </a:rPr>
              <a:t>▸  Matplotlib</a:t>
            </a:r>
            <a:endParaRPr lang="en-US" sz="1100" dirty="0"/>
          </a:p>
        </p:txBody>
      </p:sp>
      <p:sp>
        <p:nvSpPr>
          <p:cNvPr id="27" name="Text 25"/>
          <p:cNvSpPr/>
          <p:nvPr/>
        </p:nvSpPr>
        <p:spPr>
          <a:xfrm>
            <a:off x="640080" y="4187952"/>
            <a:ext cx="2286000" cy="274320"/>
          </a:xfrm>
          <a:prstGeom prst="rect">
            <a:avLst/>
          </a:prstGeom>
          <a:noFill/>
          <a:ln/>
        </p:spPr>
        <p:txBody>
          <a:bodyPr wrap="square" lIns="0" tIns="0" rIns="0" bIns="0" rtlCol="0" anchor="ctr"/>
          <a:lstStyle/>
          <a:p>
            <a:pPr indent="0" marL="0">
              <a:buNone/>
            </a:pPr>
            <a:r>
              <a:rPr lang="en-US" sz="1100" dirty="0">
                <a:solidFill>
                  <a:srgbClr val="FFFFFF"/>
                </a:solidFill>
              </a:rPr>
              <a:t>▸  Seaborn</a:t>
            </a:r>
            <a:endParaRPr lang="en-US" sz="1100" dirty="0"/>
          </a:p>
        </p:txBody>
      </p:sp>
      <p:sp>
        <p:nvSpPr>
          <p:cNvPr id="28" name="Shape 26"/>
          <p:cNvSpPr/>
          <p:nvPr/>
        </p:nvSpPr>
        <p:spPr>
          <a:xfrm>
            <a:off x="3429000" y="3063240"/>
            <a:ext cx="2651760" cy="1508760"/>
          </a:xfrm>
          <a:prstGeom prst="roundRect">
            <a:avLst>
              <a:gd name="adj" fmla="val 7273"/>
            </a:avLst>
          </a:prstGeom>
          <a:solidFill>
            <a:srgbClr val="112240"/>
          </a:solidFill>
          <a:ln/>
          <a:effectLst>
            <a:outerShdw sx="100000" sy="100000" kx="0" ky="0" algn="bl" rotWithShape="0" blurRad="101600" dist="38100" dir="2700000">
              <a:srgbClr val="000000">
                <a:alpha val="12000"/>
              </a:srgbClr>
            </a:outerShdw>
          </a:effectLst>
        </p:spPr>
      </p:sp>
      <p:sp>
        <p:nvSpPr>
          <p:cNvPr id="29" name="Shape 27"/>
          <p:cNvSpPr/>
          <p:nvPr/>
        </p:nvSpPr>
        <p:spPr>
          <a:xfrm>
            <a:off x="3566160" y="3200400"/>
            <a:ext cx="2377440" cy="292608"/>
          </a:xfrm>
          <a:prstGeom prst="roundRect">
            <a:avLst>
              <a:gd name="adj" fmla="val 15625"/>
            </a:avLst>
          </a:prstGeom>
          <a:solidFill>
            <a:srgbClr val="F97316">
              <a:alpha val="22000"/>
            </a:srgbClr>
          </a:solidFill>
          <a:ln/>
        </p:spPr>
      </p:sp>
      <p:sp>
        <p:nvSpPr>
          <p:cNvPr id="30" name="Text 28"/>
          <p:cNvSpPr/>
          <p:nvPr/>
        </p:nvSpPr>
        <p:spPr>
          <a:xfrm>
            <a:off x="3566160" y="3200400"/>
            <a:ext cx="2377440" cy="292608"/>
          </a:xfrm>
          <a:prstGeom prst="rect">
            <a:avLst/>
          </a:prstGeom>
          <a:noFill/>
          <a:ln/>
        </p:spPr>
        <p:txBody>
          <a:bodyPr wrap="square" lIns="0" tIns="0" rIns="0" bIns="0" rtlCol="0" anchor="ctr"/>
          <a:lstStyle/>
          <a:p>
            <a:pPr algn="ctr" indent="0" marL="0">
              <a:buNone/>
            </a:pPr>
            <a:r>
              <a:rPr lang="en-US" sz="1000" b="1" dirty="0">
                <a:solidFill>
                  <a:srgbClr val="F97316"/>
                </a:solidFill>
              </a:rPr>
              <a:t>Platform</a:t>
            </a:r>
            <a:endParaRPr lang="en-US" sz="1000" dirty="0"/>
          </a:p>
        </p:txBody>
      </p:sp>
      <p:sp>
        <p:nvSpPr>
          <p:cNvPr id="31" name="Text 29"/>
          <p:cNvSpPr/>
          <p:nvPr/>
        </p:nvSpPr>
        <p:spPr>
          <a:xfrm>
            <a:off x="3611880" y="3584448"/>
            <a:ext cx="2286000" cy="274320"/>
          </a:xfrm>
          <a:prstGeom prst="rect">
            <a:avLst/>
          </a:prstGeom>
          <a:noFill/>
          <a:ln/>
        </p:spPr>
        <p:txBody>
          <a:bodyPr wrap="square" lIns="0" tIns="0" rIns="0" bIns="0" rtlCol="0" anchor="ctr"/>
          <a:lstStyle/>
          <a:p>
            <a:pPr indent="0" marL="0">
              <a:buNone/>
            </a:pPr>
            <a:r>
              <a:rPr lang="en-US" sz="1100" dirty="0">
                <a:solidFill>
                  <a:srgbClr val="FFFFFF"/>
                </a:solidFill>
              </a:rPr>
              <a:t>▸  Kaggle Notebooks</a:t>
            </a:r>
            <a:endParaRPr lang="en-US" sz="1100" dirty="0"/>
          </a:p>
        </p:txBody>
      </p:sp>
      <p:sp>
        <p:nvSpPr>
          <p:cNvPr id="32" name="Text 30"/>
          <p:cNvSpPr/>
          <p:nvPr/>
        </p:nvSpPr>
        <p:spPr>
          <a:xfrm>
            <a:off x="3611880" y="3886200"/>
            <a:ext cx="2286000" cy="274320"/>
          </a:xfrm>
          <a:prstGeom prst="rect">
            <a:avLst/>
          </a:prstGeom>
          <a:noFill/>
          <a:ln/>
        </p:spPr>
        <p:txBody>
          <a:bodyPr wrap="square" lIns="0" tIns="0" rIns="0" bIns="0" rtlCol="0" anchor="ctr"/>
          <a:lstStyle/>
          <a:p>
            <a:pPr indent="0" marL="0">
              <a:buNone/>
            </a:pPr>
            <a:r>
              <a:rPr lang="en-US" sz="1100" dirty="0">
                <a:solidFill>
                  <a:srgbClr val="FFFFFF"/>
                </a:solidFill>
              </a:rPr>
              <a:t>▸  19.5 GB GPU</a:t>
            </a:r>
            <a:endParaRPr lang="en-US" sz="1100" dirty="0"/>
          </a:p>
        </p:txBody>
      </p:sp>
      <p:sp>
        <p:nvSpPr>
          <p:cNvPr id="33" name="Text 31"/>
          <p:cNvSpPr/>
          <p:nvPr/>
        </p:nvSpPr>
        <p:spPr>
          <a:xfrm>
            <a:off x="3611880" y="4187952"/>
            <a:ext cx="2286000" cy="274320"/>
          </a:xfrm>
          <a:prstGeom prst="rect">
            <a:avLst/>
          </a:prstGeom>
          <a:noFill/>
          <a:ln/>
        </p:spPr>
        <p:txBody>
          <a:bodyPr wrap="square" lIns="0" tIns="0" rIns="0" bIns="0" rtlCol="0" anchor="ctr"/>
          <a:lstStyle/>
          <a:p>
            <a:pPr indent="0" marL="0">
              <a:buNone/>
            </a:pPr>
            <a:r>
              <a:rPr lang="en-US" sz="1100" dirty="0">
                <a:solidFill>
                  <a:srgbClr val="FFFFFF"/>
                </a:solidFill>
              </a:rPr>
              <a:t>▸  Python 3.12</a:t>
            </a:r>
            <a:endParaRPr lang="en-US" sz="1100" dirty="0"/>
          </a:p>
        </p:txBody>
      </p:sp>
      <p:sp>
        <p:nvSpPr>
          <p:cNvPr id="34" name="Shape 32"/>
          <p:cNvSpPr/>
          <p:nvPr/>
        </p:nvSpPr>
        <p:spPr>
          <a:xfrm>
            <a:off x="6400800" y="3063240"/>
            <a:ext cx="2651760" cy="1508760"/>
          </a:xfrm>
          <a:prstGeom prst="roundRect">
            <a:avLst>
              <a:gd name="adj" fmla="val 7273"/>
            </a:avLst>
          </a:prstGeom>
          <a:solidFill>
            <a:srgbClr val="112240"/>
          </a:solidFill>
          <a:ln/>
          <a:effectLst>
            <a:outerShdw sx="100000" sy="100000" kx="0" ky="0" algn="bl" rotWithShape="0" blurRad="101600" dist="38100" dir="2700000">
              <a:srgbClr val="000000">
                <a:alpha val="12000"/>
              </a:srgbClr>
            </a:outerShdw>
          </a:effectLst>
        </p:spPr>
      </p:sp>
      <p:sp>
        <p:nvSpPr>
          <p:cNvPr id="35" name="Shape 33"/>
          <p:cNvSpPr/>
          <p:nvPr/>
        </p:nvSpPr>
        <p:spPr>
          <a:xfrm>
            <a:off x="6537960" y="3200400"/>
            <a:ext cx="2377440" cy="292608"/>
          </a:xfrm>
          <a:prstGeom prst="roundRect">
            <a:avLst>
              <a:gd name="adj" fmla="val 15625"/>
            </a:avLst>
          </a:prstGeom>
          <a:solidFill>
            <a:srgbClr val="EAB308">
              <a:alpha val="22000"/>
            </a:srgbClr>
          </a:solidFill>
          <a:ln/>
        </p:spPr>
      </p:sp>
      <p:sp>
        <p:nvSpPr>
          <p:cNvPr id="36" name="Text 34"/>
          <p:cNvSpPr/>
          <p:nvPr/>
        </p:nvSpPr>
        <p:spPr>
          <a:xfrm>
            <a:off x="6537960" y="3200400"/>
            <a:ext cx="2377440" cy="292608"/>
          </a:xfrm>
          <a:prstGeom prst="rect">
            <a:avLst/>
          </a:prstGeom>
          <a:noFill/>
          <a:ln/>
        </p:spPr>
        <p:txBody>
          <a:bodyPr wrap="square" lIns="0" tIns="0" rIns="0" bIns="0" rtlCol="0" anchor="ctr"/>
          <a:lstStyle/>
          <a:p>
            <a:pPr algn="ctr" indent="0" marL="0">
              <a:buNone/>
            </a:pPr>
            <a:r>
              <a:rPr lang="en-US" sz="1000" b="1" dirty="0">
                <a:solidFill>
                  <a:srgbClr val="EAB308"/>
                </a:solidFill>
              </a:rPr>
              <a:t>Output Formats</a:t>
            </a:r>
            <a:endParaRPr lang="en-US" sz="1000" dirty="0"/>
          </a:p>
        </p:txBody>
      </p:sp>
      <p:sp>
        <p:nvSpPr>
          <p:cNvPr id="37" name="Text 35"/>
          <p:cNvSpPr/>
          <p:nvPr/>
        </p:nvSpPr>
        <p:spPr>
          <a:xfrm>
            <a:off x="6583680" y="3584448"/>
            <a:ext cx="2286000" cy="274320"/>
          </a:xfrm>
          <a:prstGeom prst="rect">
            <a:avLst/>
          </a:prstGeom>
          <a:noFill/>
          <a:ln/>
        </p:spPr>
        <p:txBody>
          <a:bodyPr wrap="square" lIns="0" tIns="0" rIns="0" bIns="0" rtlCol="0" anchor="ctr"/>
          <a:lstStyle/>
          <a:p>
            <a:pPr indent="0" marL="0">
              <a:buNone/>
            </a:pPr>
            <a:r>
              <a:rPr lang="en-US" sz="1100" dirty="0">
                <a:solidFill>
                  <a:srgbClr val="FFFFFF"/>
                </a:solidFill>
              </a:rPr>
              <a:t>▸  HTML Heatmap</a:t>
            </a:r>
            <a:endParaRPr lang="en-US" sz="1100" dirty="0"/>
          </a:p>
        </p:txBody>
      </p:sp>
      <p:sp>
        <p:nvSpPr>
          <p:cNvPr id="38" name="Text 36"/>
          <p:cNvSpPr/>
          <p:nvPr/>
        </p:nvSpPr>
        <p:spPr>
          <a:xfrm>
            <a:off x="6583680" y="3886200"/>
            <a:ext cx="2286000" cy="274320"/>
          </a:xfrm>
          <a:prstGeom prst="rect">
            <a:avLst/>
          </a:prstGeom>
          <a:noFill/>
          <a:ln/>
        </p:spPr>
        <p:txBody>
          <a:bodyPr wrap="square" lIns="0" tIns="0" rIns="0" bIns="0" rtlCol="0" anchor="ctr"/>
          <a:lstStyle/>
          <a:p>
            <a:pPr indent="0" marL="0">
              <a:buNone/>
            </a:pPr>
            <a:r>
              <a:rPr lang="en-US" sz="1100" dirty="0">
                <a:solidFill>
                  <a:srgbClr val="FFFFFF"/>
                </a:solidFill>
              </a:rPr>
              <a:t>▸  CSV Priority Table</a:t>
            </a:r>
            <a:endParaRPr lang="en-US" sz="1100" dirty="0"/>
          </a:p>
        </p:txBody>
      </p:sp>
      <p:sp>
        <p:nvSpPr>
          <p:cNvPr id="39" name="Text 37"/>
          <p:cNvSpPr/>
          <p:nvPr/>
        </p:nvSpPr>
        <p:spPr>
          <a:xfrm>
            <a:off x="6583680" y="4187952"/>
            <a:ext cx="2286000" cy="274320"/>
          </a:xfrm>
          <a:prstGeom prst="rect">
            <a:avLst/>
          </a:prstGeom>
          <a:noFill/>
          <a:ln/>
        </p:spPr>
        <p:txBody>
          <a:bodyPr wrap="square" lIns="0" tIns="0" rIns="0" bIns="0" rtlCol="0" anchor="ctr"/>
          <a:lstStyle/>
          <a:p>
            <a:pPr indent="0" marL="0">
              <a:buNone/>
            </a:pPr>
            <a:r>
              <a:rPr lang="en-US" sz="1100" dirty="0">
                <a:solidFill>
                  <a:srgbClr val="FFFFFF"/>
                </a:solidFill>
              </a:rPr>
              <a:t>▸  PNG Charts</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7132320" y="3200400"/>
            <a:ext cx="3200400" cy="3200400"/>
          </a:xfrm>
          <a:prstGeom prst="ellipse">
            <a:avLst/>
          </a:prstGeom>
          <a:solidFill>
            <a:srgbClr val="00B4D8">
              <a:alpha val="12000"/>
            </a:srgbClr>
          </a:solidFill>
          <a:ln w="12700">
            <a:solidFill>
              <a:srgbClr val="00B4D8">
                <a:alpha val="12000"/>
              </a:srgbClr>
            </a:solidFill>
            <a:prstDash val="solid"/>
          </a:ln>
        </p:spPr>
      </p:sp>
      <p:sp>
        <p:nvSpPr>
          <p:cNvPr id="3" name="Text 1"/>
          <p:cNvSpPr/>
          <p:nvPr/>
        </p:nvSpPr>
        <p:spPr>
          <a:xfrm>
            <a:off x="457200" y="731520"/>
            <a:ext cx="8229600" cy="914400"/>
          </a:xfrm>
          <a:prstGeom prst="rect">
            <a:avLst/>
          </a:prstGeom>
          <a:noFill/>
          <a:ln/>
        </p:spPr>
        <p:txBody>
          <a:bodyPr wrap="square" lIns="0" tIns="0" rIns="0" bIns="0" rtlCol="0" anchor="ctr"/>
          <a:lstStyle/>
          <a:p>
            <a:pPr indent="0" marL="0">
              <a:buNone/>
            </a:pPr>
            <a:r>
              <a:rPr lang="en-US" sz="4800" b="1" dirty="0">
                <a:solidFill>
                  <a:srgbClr val="FFFFFF"/>
                </a:solidFill>
              </a:rPr>
              <a:t>Ready to Deploy.</a:t>
            </a:r>
            <a:endParaRPr lang="en-US" sz="4800" dirty="0"/>
          </a:p>
        </p:txBody>
      </p:sp>
      <p:sp>
        <p:nvSpPr>
          <p:cNvPr id="4" name="Text 2"/>
          <p:cNvSpPr/>
          <p:nvPr/>
        </p:nvSpPr>
        <p:spPr>
          <a:xfrm>
            <a:off x="457200" y="1691640"/>
            <a:ext cx="6858000" cy="822960"/>
          </a:xfrm>
          <a:prstGeom prst="rect">
            <a:avLst/>
          </a:prstGeom>
          <a:noFill/>
          <a:ln/>
        </p:spPr>
        <p:txBody>
          <a:bodyPr wrap="square" lIns="0" tIns="0" rIns="0" bIns="0" rtlCol="0" anchor="ctr"/>
          <a:lstStyle/>
          <a:p>
            <a:pPr indent="0" marL="0">
              <a:buNone/>
            </a:pPr>
            <a:r>
              <a:rPr lang="en-US" sz="1800" dirty="0">
                <a:solidFill>
                  <a:srgbClr val="90E0EF"/>
                </a:solidFill>
              </a:rPr>
              <a:t>This isn't a research paper — it's a deployable tool</a:t>
            </a:r>
            <a:endParaRPr lang="en-US" sz="1800" dirty="0"/>
          </a:p>
          <a:p>
            <a:pPr indent="0" marL="0">
              <a:buNone/>
            </a:pPr>
            <a:r>
              <a:rPr lang="en-US" sz="1800" dirty="0">
                <a:solidFill>
                  <a:srgbClr val="90E0EF"/>
                </a:solidFill>
              </a:rPr>
              <a:t>built on BTP's own data, ready to use today.</a:t>
            </a:r>
            <a:endParaRPr lang="en-US" sz="1800" dirty="0"/>
          </a:p>
        </p:txBody>
      </p:sp>
      <p:sp>
        <p:nvSpPr>
          <p:cNvPr id="5" name="Text 3"/>
          <p:cNvSpPr/>
          <p:nvPr/>
        </p:nvSpPr>
        <p:spPr>
          <a:xfrm>
            <a:off x="457200" y="2606040"/>
            <a:ext cx="7772400" cy="329184"/>
          </a:xfrm>
          <a:prstGeom prst="rect">
            <a:avLst/>
          </a:prstGeom>
          <a:noFill/>
          <a:ln/>
        </p:spPr>
        <p:txBody>
          <a:bodyPr wrap="square" lIns="0" tIns="0" rIns="0" bIns="0" rtlCol="0" anchor="ctr"/>
          <a:lstStyle/>
          <a:p>
            <a:pPr indent="0" marL="0">
              <a:buNone/>
            </a:pPr>
            <a:r>
              <a:rPr lang="en-US" sz="1300" dirty="0">
                <a:solidFill>
                  <a:srgbClr val="FFFFFF"/>
                </a:solidFill>
              </a:rPr>
              <a:t>✅  298,445 real violations analysed from Bengaluru Traffic Police</a:t>
            </a:r>
            <a:endParaRPr lang="en-US" sz="1300" dirty="0"/>
          </a:p>
        </p:txBody>
      </p:sp>
      <p:sp>
        <p:nvSpPr>
          <p:cNvPr id="6" name="Text 4"/>
          <p:cNvSpPr/>
          <p:nvPr/>
        </p:nvSpPr>
        <p:spPr>
          <a:xfrm>
            <a:off x="457200" y="2971800"/>
            <a:ext cx="7772400" cy="329184"/>
          </a:xfrm>
          <a:prstGeom prst="rect">
            <a:avLst/>
          </a:prstGeom>
          <a:noFill/>
          <a:ln/>
        </p:spPr>
        <p:txBody>
          <a:bodyPr wrap="square" lIns="0" tIns="0" rIns="0" bIns="0" rtlCol="0" anchor="ctr"/>
          <a:lstStyle/>
          <a:p>
            <a:pPr indent="0" marL="0">
              <a:buNone/>
            </a:pPr>
            <a:r>
              <a:rPr lang="en-US" sz="1300" dirty="0">
                <a:solidFill>
                  <a:srgbClr val="FFFFFF"/>
                </a:solidFill>
              </a:rPr>
              <a:t>✅  157 hotspot zones detected covering 99.7% of all violations</a:t>
            </a:r>
            <a:endParaRPr lang="en-US" sz="1300" dirty="0"/>
          </a:p>
        </p:txBody>
      </p:sp>
      <p:sp>
        <p:nvSpPr>
          <p:cNvPr id="7" name="Text 5"/>
          <p:cNvSpPr/>
          <p:nvPr/>
        </p:nvSpPr>
        <p:spPr>
          <a:xfrm>
            <a:off x="457200" y="3337560"/>
            <a:ext cx="7772400" cy="329184"/>
          </a:xfrm>
          <a:prstGeom prst="rect">
            <a:avLst/>
          </a:prstGeom>
          <a:noFill/>
          <a:ln/>
        </p:spPr>
        <p:txBody>
          <a:bodyPr wrap="square" lIns="0" tIns="0" rIns="0" bIns="0" rtlCol="0" anchor="ctr"/>
          <a:lstStyle/>
          <a:p>
            <a:pPr indent="0" marL="0">
              <a:buNone/>
            </a:pPr>
            <a:r>
              <a:rPr lang="en-US" sz="1300" dirty="0">
                <a:solidFill>
                  <a:srgbClr val="FFFFFF"/>
                </a:solidFill>
              </a:rPr>
              <a:t>✅  R² = 0.862 — model explains 86% of congestion risk variance</a:t>
            </a:r>
            <a:endParaRPr lang="en-US" sz="1300" dirty="0"/>
          </a:p>
        </p:txBody>
      </p:sp>
      <p:sp>
        <p:nvSpPr>
          <p:cNvPr id="8" name="Text 6"/>
          <p:cNvSpPr/>
          <p:nvPr/>
        </p:nvSpPr>
        <p:spPr>
          <a:xfrm>
            <a:off x="457200" y="3703320"/>
            <a:ext cx="7772400" cy="329184"/>
          </a:xfrm>
          <a:prstGeom prst="rect">
            <a:avLst/>
          </a:prstGeom>
          <a:noFill/>
          <a:ln/>
        </p:spPr>
        <p:txBody>
          <a:bodyPr wrap="square" lIns="0" tIns="0" rIns="0" bIns="0" rtlCol="0" anchor="ctr"/>
          <a:lstStyle/>
          <a:p>
            <a:pPr indent="0" marL="0">
              <a:buNone/>
            </a:pPr>
            <a:r>
              <a:rPr lang="en-US" sz="1300" dirty="0">
                <a:solidFill>
                  <a:srgbClr val="FFFFFF"/>
                </a:solidFill>
              </a:rPr>
              <a:t>✅  3 HIGH priority zones identified for immediate patrol deployment</a:t>
            </a:r>
            <a:endParaRPr lang="en-US" sz="1300" dirty="0"/>
          </a:p>
        </p:txBody>
      </p:sp>
      <p:sp>
        <p:nvSpPr>
          <p:cNvPr id="9" name="Text 7"/>
          <p:cNvSpPr/>
          <p:nvPr/>
        </p:nvSpPr>
        <p:spPr>
          <a:xfrm>
            <a:off x="457200" y="4069080"/>
            <a:ext cx="7772400" cy="329184"/>
          </a:xfrm>
          <a:prstGeom prst="rect">
            <a:avLst/>
          </a:prstGeom>
          <a:noFill/>
          <a:ln/>
        </p:spPr>
        <p:txBody>
          <a:bodyPr wrap="square" lIns="0" tIns="0" rIns="0" bIns="0" rtlCol="0" anchor="ctr"/>
          <a:lstStyle/>
          <a:p>
            <a:pPr indent="0" marL="0">
              <a:buNone/>
            </a:pPr>
            <a:r>
              <a:rPr lang="en-US" sz="1300" dirty="0">
                <a:solidFill>
                  <a:srgbClr val="FFFFFF"/>
                </a:solidFill>
              </a:rPr>
              <a:t>✅  Interactive heatmap + ranked CSV ready for field use today</a:t>
            </a:r>
            <a:endParaRPr lang="en-US" sz="1300" dirty="0"/>
          </a:p>
        </p:txBody>
      </p:sp>
      <p:sp>
        <p:nvSpPr>
          <p:cNvPr id="10" name="Shape 8"/>
          <p:cNvSpPr/>
          <p:nvPr/>
        </p:nvSpPr>
        <p:spPr>
          <a:xfrm>
            <a:off x="457200" y="4617720"/>
            <a:ext cx="3931920" cy="384048"/>
          </a:xfrm>
          <a:prstGeom prst="roundRect">
            <a:avLst>
              <a:gd name="adj" fmla="val 16667"/>
            </a:avLst>
          </a:prstGeom>
          <a:solidFill>
            <a:srgbClr val="00B4D8"/>
          </a:solidFill>
          <a:ln/>
        </p:spPr>
      </p:sp>
      <p:sp>
        <p:nvSpPr>
          <p:cNvPr id="11" name="Text 9"/>
          <p:cNvSpPr/>
          <p:nvPr/>
        </p:nvSpPr>
        <p:spPr>
          <a:xfrm>
            <a:off x="457200" y="4617720"/>
            <a:ext cx="3931920" cy="384048"/>
          </a:xfrm>
          <a:prstGeom prst="rect">
            <a:avLst/>
          </a:prstGeom>
          <a:noFill/>
          <a:ln/>
        </p:spPr>
        <p:txBody>
          <a:bodyPr wrap="square" lIns="0" tIns="0" rIns="0" bIns="0" rtlCol="0" anchor="ctr"/>
          <a:lstStyle/>
          <a:p>
            <a:pPr algn="ctr" indent="0" marL="0">
              <a:buNone/>
            </a:pPr>
            <a:r>
              <a:rPr lang="en-US" sz="1100" b="1" dirty="0">
                <a:solidFill>
                  <a:srgbClr val="0A1628"/>
                </a:solidFill>
              </a:rPr>
              <a:t>🔗  Demo: kaggle.com/code/swapnomonmurari/grid2</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AI-Driven Parking Intelligence</dc:title>
  <dc:subject>PptxGenJS Presentation</dc:subject>
  <dc:creator>swapnomonmurari</dc:creator>
  <cp:lastModifiedBy>swapnomonmurari</cp:lastModifiedBy>
  <cp:revision>1</cp:revision>
  <dcterms:created xsi:type="dcterms:W3CDTF">2026-06-17T04:08:29Z</dcterms:created>
  <dcterms:modified xsi:type="dcterms:W3CDTF">2026-06-17T04:08:29Z</dcterms:modified>
</cp:coreProperties>
</file>